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32"/>
  </p:notesMasterIdLst>
  <p:sldIdLst>
    <p:sldId id="256" r:id="rId2"/>
    <p:sldId id="269" r:id="rId3"/>
    <p:sldId id="270" r:id="rId4"/>
    <p:sldId id="271" r:id="rId5"/>
    <p:sldId id="272" r:id="rId6"/>
    <p:sldId id="273" r:id="rId7"/>
    <p:sldId id="274" r:id="rId8"/>
    <p:sldId id="275" r:id="rId9"/>
    <p:sldId id="276" r:id="rId10"/>
    <p:sldId id="277" r:id="rId11"/>
    <p:sldId id="278" r:id="rId12"/>
    <p:sldId id="279" r:id="rId13"/>
    <p:sldId id="280" r:id="rId14"/>
    <p:sldId id="281" r:id="rId15"/>
    <p:sldId id="282" r:id="rId16"/>
    <p:sldId id="283" r:id="rId17"/>
    <p:sldId id="284" r:id="rId18"/>
    <p:sldId id="285" r:id="rId19"/>
    <p:sldId id="300" r:id="rId20"/>
    <p:sldId id="301" r:id="rId21"/>
    <p:sldId id="287" r:id="rId22"/>
    <p:sldId id="288" r:id="rId23"/>
    <p:sldId id="289" r:id="rId24"/>
    <p:sldId id="290" r:id="rId25"/>
    <p:sldId id="292" r:id="rId26"/>
    <p:sldId id="294" r:id="rId27"/>
    <p:sldId id="297" r:id="rId28"/>
    <p:sldId id="296" r:id="rId29"/>
    <p:sldId id="295" r:id="rId30"/>
    <p:sldId id="298" r:id="rId31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  <p:ext uri="GoogleSlidesCustomDataVersion2">
      <go:slidesCustomData xmlns=""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r:id="rId54" roundtripDataSignature="AMtx7mhdc4E0cPTS7duFNu+IHheNcqVNp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9F8FF"/>
    <a:srgbClr val="D2FADD"/>
    <a:srgbClr val="FCE3B1"/>
    <a:srgbClr val="FFD9E6"/>
    <a:srgbClr val="D9FFF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834C7CE-6BB0-4782-8768-4AF0EA6B4A5D}" v="18" dt="2026-02-22T12:14:52.033"/>
    <p1510:client id="{151A5A06-A8CF-449D-BCF2-B4436E67C8E4}" v="377" dt="2026-02-23T18:11:45.432"/>
    <p1510:client id="{3395046A-3393-46D7-BCD2-67C24167741F}" v="71" dt="2026-02-24T09:23:16.223"/>
    <p1510:client id="{DA2D908E-C0E8-438A-BE31-C90A423CF6DB}" v="351" dt="2026-02-23T19:47:52.967"/>
    <p1510:client id="{DFBA2A9B-777A-447B-BEE9-FA63AB96F61A}" v="50" dt="2026-02-22T12:25:51.031"/>
  </p1510:revLst>
</p1510:revInfo>
</file>

<file path=ppt/tableStyles.xml><?xml version="1.0" encoding="utf-8"?>
<a:tblStyleLst xmlns:a="http://schemas.openxmlformats.org/drawingml/2006/main" def="{08A1B857-8DE8-4F13-9AAE-FEED5DC71FBA}">
  <a:tblStyle styleId="{08A1B857-8DE8-4F13-9AAE-FEED5DC71FBA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6" d="100"/>
          <a:sy n="106" d="100"/>
        </p:scale>
        <p:origin x="778" y="7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55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59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54" Type="http://customschemas.google.com/relationships/presentationmetadata" Target="meta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58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57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56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0" name="Google Shape;40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b="1"/>
              <a:t>Time span for presentation: 1 Hour and 45 Mins.</a:t>
            </a:r>
            <a:endParaRPr b="1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>
          <a:extLst>
            <a:ext uri="{FF2B5EF4-FFF2-40B4-BE49-F238E27FC236}">
              <a16:creationId xmlns:a16="http://schemas.microsoft.com/office/drawing/2014/main" id="{8F497EB7-3466-B181-7244-9B383DF28E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6:notes">
            <a:extLst>
              <a:ext uri="{FF2B5EF4-FFF2-40B4-BE49-F238E27FC236}">
                <a16:creationId xmlns:a16="http://schemas.microsoft.com/office/drawing/2014/main" id="{CD23D2BB-AF86-D042-F4EA-45B54F1CF15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6" name="Google Shape;86;p6:notes">
            <a:extLst>
              <a:ext uri="{FF2B5EF4-FFF2-40B4-BE49-F238E27FC236}">
                <a16:creationId xmlns:a16="http://schemas.microsoft.com/office/drawing/2014/main" id="{249883CC-3465-D03F-6626-31E332D00CB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9071988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>
          <a:extLst>
            <a:ext uri="{FF2B5EF4-FFF2-40B4-BE49-F238E27FC236}">
              <a16:creationId xmlns:a16="http://schemas.microsoft.com/office/drawing/2014/main" id="{EFDF94EE-F09B-AC28-FD50-DCC0E0DB47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6:notes">
            <a:extLst>
              <a:ext uri="{FF2B5EF4-FFF2-40B4-BE49-F238E27FC236}">
                <a16:creationId xmlns:a16="http://schemas.microsoft.com/office/drawing/2014/main" id="{56D260F6-96BE-B183-F79E-EC3E660503A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6" name="Google Shape;86;p6:notes">
            <a:extLst>
              <a:ext uri="{FF2B5EF4-FFF2-40B4-BE49-F238E27FC236}">
                <a16:creationId xmlns:a16="http://schemas.microsoft.com/office/drawing/2014/main" id="{CAE792FC-24F2-9781-C5E8-4B9F6DF387C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7246575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>
          <a:extLst>
            <a:ext uri="{FF2B5EF4-FFF2-40B4-BE49-F238E27FC236}">
              <a16:creationId xmlns:a16="http://schemas.microsoft.com/office/drawing/2014/main" id="{370522E7-0909-7685-1258-45E52BC11E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6:notes">
            <a:extLst>
              <a:ext uri="{FF2B5EF4-FFF2-40B4-BE49-F238E27FC236}">
                <a16:creationId xmlns:a16="http://schemas.microsoft.com/office/drawing/2014/main" id="{70C403FB-FB9D-E965-A1CF-3A281A02659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6" name="Google Shape;86;p6:notes">
            <a:extLst>
              <a:ext uri="{FF2B5EF4-FFF2-40B4-BE49-F238E27FC236}">
                <a16:creationId xmlns:a16="http://schemas.microsoft.com/office/drawing/2014/main" id="{A3BD970B-F2A8-B469-BC1C-4FB073057DB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8157165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>
          <a:extLst>
            <a:ext uri="{FF2B5EF4-FFF2-40B4-BE49-F238E27FC236}">
              <a16:creationId xmlns:a16="http://schemas.microsoft.com/office/drawing/2014/main" id="{BE95F1E4-51CD-C637-EF20-FC4EE76950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6:notes">
            <a:extLst>
              <a:ext uri="{FF2B5EF4-FFF2-40B4-BE49-F238E27FC236}">
                <a16:creationId xmlns:a16="http://schemas.microsoft.com/office/drawing/2014/main" id="{6D4966AA-1D7D-2700-9F6E-3DFC83A8811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6" name="Google Shape;86;p6:notes">
            <a:extLst>
              <a:ext uri="{FF2B5EF4-FFF2-40B4-BE49-F238E27FC236}">
                <a16:creationId xmlns:a16="http://schemas.microsoft.com/office/drawing/2014/main" id="{3DD3025B-97EA-CFB3-A8AE-33C1E7B3BFE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7863034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>
          <a:extLst>
            <a:ext uri="{FF2B5EF4-FFF2-40B4-BE49-F238E27FC236}">
              <a16:creationId xmlns:a16="http://schemas.microsoft.com/office/drawing/2014/main" id="{9217B5E1-8E32-E848-80DD-D8AAB99D32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6:notes">
            <a:extLst>
              <a:ext uri="{FF2B5EF4-FFF2-40B4-BE49-F238E27FC236}">
                <a16:creationId xmlns:a16="http://schemas.microsoft.com/office/drawing/2014/main" id="{28BEC216-940A-B388-162A-5CE3D66BD72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6" name="Google Shape;86;p6:notes">
            <a:extLst>
              <a:ext uri="{FF2B5EF4-FFF2-40B4-BE49-F238E27FC236}">
                <a16:creationId xmlns:a16="http://schemas.microsoft.com/office/drawing/2014/main" id="{361AAD12-B3D9-104D-2097-E946AC1395C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6197135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>
          <a:extLst>
            <a:ext uri="{FF2B5EF4-FFF2-40B4-BE49-F238E27FC236}">
              <a16:creationId xmlns:a16="http://schemas.microsoft.com/office/drawing/2014/main" id="{270B9F6A-96A3-33B1-8AD5-EF20136177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6:notes">
            <a:extLst>
              <a:ext uri="{FF2B5EF4-FFF2-40B4-BE49-F238E27FC236}">
                <a16:creationId xmlns:a16="http://schemas.microsoft.com/office/drawing/2014/main" id="{D830BCBF-70CB-ADF9-8D64-C7050E5495A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6" name="Google Shape;86;p6:notes">
            <a:extLst>
              <a:ext uri="{FF2B5EF4-FFF2-40B4-BE49-F238E27FC236}">
                <a16:creationId xmlns:a16="http://schemas.microsoft.com/office/drawing/2014/main" id="{45CCDD5B-1A65-4E69-F6DC-332EC1702DB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2250225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>
          <a:extLst>
            <a:ext uri="{FF2B5EF4-FFF2-40B4-BE49-F238E27FC236}">
              <a16:creationId xmlns:a16="http://schemas.microsoft.com/office/drawing/2014/main" id="{8E1F00E7-A0A6-0EE5-F13F-B12F3D4879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6:notes">
            <a:extLst>
              <a:ext uri="{FF2B5EF4-FFF2-40B4-BE49-F238E27FC236}">
                <a16:creationId xmlns:a16="http://schemas.microsoft.com/office/drawing/2014/main" id="{7236BAB6-1321-DF87-D419-87B3D38F8B0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6" name="Google Shape;86;p6:notes">
            <a:extLst>
              <a:ext uri="{FF2B5EF4-FFF2-40B4-BE49-F238E27FC236}">
                <a16:creationId xmlns:a16="http://schemas.microsoft.com/office/drawing/2014/main" id="{8BAF67EB-8D7F-B570-0969-CF5E5ECCF9B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0375672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>
          <a:extLst>
            <a:ext uri="{FF2B5EF4-FFF2-40B4-BE49-F238E27FC236}">
              <a16:creationId xmlns:a16="http://schemas.microsoft.com/office/drawing/2014/main" id="{D516E67B-C820-8F68-EB2B-8E97F9C898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6:notes">
            <a:extLst>
              <a:ext uri="{FF2B5EF4-FFF2-40B4-BE49-F238E27FC236}">
                <a16:creationId xmlns:a16="http://schemas.microsoft.com/office/drawing/2014/main" id="{9A040AAC-6624-C03C-69FC-F5F4296DEA2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6" name="Google Shape;86;p6:notes">
            <a:extLst>
              <a:ext uri="{FF2B5EF4-FFF2-40B4-BE49-F238E27FC236}">
                <a16:creationId xmlns:a16="http://schemas.microsoft.com/office/drawing/2014/main" id="{2C266ABD-100E-DB71-2C7B-8CC329700DE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8493190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>
          <a:extLst>
            <a:ext uri="{FF2B5EF4-FFF2-40B4-BE49-F238E27FC236}">
              <a16:creationId xmlns:a16="http://schemas.microsoft.com/office/drawing/2014/main" id="{6ECCEFB9-5850-61A5-4C4C-60412D925A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6:notes">
            <a:extLst>
              <a:ext uri="{FF2B5EF4-FFF2-40B4-BE49-F238E27FC236}">
                <a16:creationId xmlns:a16="http://schemas.microsoft.com/office/drawing/2014/main" id="{811E6B2A-9AFB-F21E-DE54-B64F9846B42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6" name="Google Shape;86;p6:notes">
            <a:extLst>
              <a:ext uri="{FF2B5EF4-FFF2-40B4-BE49-F238E27FC236}">
                <a16:creationId xmlns:a16="http://schemas.microsoft.com/office/drawing/2014/main" id="{6A37F7E0-A9C2-8F38-C5BC-E86ACF23BDC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4633693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>
          <a:extLst>
            <a:ext uri="{FF2B5EF4-FFF2-40B4-BE49-F238E27FC236}">
              <a16:creationId xmlns:a16="http://schemas.microsoft.com/office/drawing/2014/main" id="{33358C2B-149D-1CD3-6155-824D26BF5F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6:notes">
            <a:extLst>
              <a:ext uri="{FF2B5EF4-FFF2-40B4-BE49-F238E27FC236}">
                <a16:creationId xmlns:a16="http://schemas.microsoft.com/office/drawing/2014/main" id="{155EE40D-F371-7B47-BF98-2CC96A4090F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6" name="Google Shape;86;p6:notes">
            <a:extLst>
              <a:ext uri="{FF2B5EF4-FFF2-40B4-BE49-F238E27FC236}">
                <a16:creationId xmlns:a16="http://schemas.microsoft.com/office/drawing/2014/main" id="{E8CB062F-7537-6684-BA73-E51560303C7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23643432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>
          <a:extLst>
            <a:ext uri="{FF2B5EF4-FFF2-40B4-BE49-F238E27FC236}">
              <a16:creationId xmlns:a16="http://schemas.microsoft.com/office/drawing/2014/main" id="{DFC2F9C5-FE9A-78C2-9871-4B1C29EC07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6:notes">
            <a:extLst>
              <a:ext uri="{FF2B5EF4-FFF2-40B4-BE49-F238E27FC236}">
                <a16:creationId xmlns:a16="http://schemas.microsoft.com/office/drawing/2014/main" id="{C221CE33-6899-64DB-26E2-8ABA67D4752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6" name="Google Shape;86;p6:notes">
            <a:extLst>
              <a:ext uri="{FF2B5EF4-FFF2-40B4-BE49-F238E27FC236}">
                <a16:creationId xmlns:a16="http://schemas.microsoft.com/office/drawing/2014/main" id="{EE33FA92-E250-411A-956F-6125106C5AE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2687246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>
          <a:extLst>
            <a:ext uri="{FF2B5EF4-FFF2-40B4-BE49-F238E27FC236}">
              <a16:creationId xmlns:a16="http://schemas.microsoft.com/office/drawing/2014/main" id="{C82FDDD4-749C-24F7-47BE-29BF729636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6:notes">
            <a:extLst>
              <a:ext uri="{FF2B5EF4-FFF2-40B4-BE49-F238E27FC236}">
                <a16:creationId xmlns:a16="http://schemas.microsoft.com/office/drawing/2014/main" id="{053305CE-B700-58FE-A692-E31F82C008E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6" name="Google Shape;86;p6:notes">
            <a:extLst>
              <a:ext uri="{FF2B5EF4-FFF2-40B4-BE49-F238E27FC236}">
                <a16:creationId xmlns:a16="http://schemas.microsoft.com/office/drawing/2014/main" id="{76BEE386-F20A-0FC8-5EDC-1021886A8C3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7812153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>
          <a:extLst>
            <a:ext uri="{FF2B5EF4-FFF2-40B4-BE49-F238E27FC236}">
              <a16:creationId xmlns:a16="http://schemas.microsoft.com/office/drawing/2014/main" id="{22BA16C7-E801-8B19-130C-7C6F2BFF43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6:notes">
            <a:extLst>
              <a:ext uri="{FF2B5EF4-FFF2-40B4-BE49-F238E27FC236}">
                <a16:creationId xmlns:a16="http://schemas.microsoft.com/office/drawing/2014/main" id="{0A063F35-88F9-5A7C-47BB-6F303FF29EC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6" name="Google Shape;86;p6:notes">
            <a:extLst>
              <a:ext uri="{FF2B5EF4-FFF2-40B4-BE49-F238E27FC236}">
                <a16:creationId xmlns:a16="http://schemas.microsoft.com/office/drawing/2014/main" id="{57229065-2CDA-04C5-FD57-91AEC0852AC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9629816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>
          <a:extLst>
            <a:ext uri="{FF2B5EF4-FFF2-40B4-BE49-F238E27FC236}">
              <a16:creationId xmlns:a16="http://schemas.microsoft.com/office/drawing/2014/main" id="{6A71A2AB-5F53-3723-6972-A657FB2312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6:notes">
            <a:extLst>
              <a:ext uri="{FF2B5EF4-FFF2-40B4-BE49-F238E27FC236}">
                <a16:creationId xmlns:a16="http://schemas.microsoft.com/office/drawing/2014/main" id="{78DE8621-92ED-3569-7DD8-D1307608C62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6" name="Google Shape;86;p6:notes">
            <a:extLst>
              <a:ext uri="{FF2B5EF4-FFF2-40B4-BE49-F238E27FC236}">
                <a16:creationId xmlns:a16="http://schemas.microsoft.com/office/drawing/2014/main" id="{D469F4EC-E967-06AD-4089-788EB0989DC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6946724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>
          <a:extLst>
            <a:ext uri="{FF2B5EF4-FFF2-40B4-BE49-F238E27FC236}">
              <a16:creationId xmlns:a16="http://schemas.microsoft.com/office/drawing/2014/main" id="{A8723662-0D4E-05F4-FF19-6B7530CB98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6:notes">
            <a:extLst>
              <a:ext uri="{FF2B5EF4-FFF2-40B4-BE49-F238E27FC236}">
                <a16:creationId xmlns:a16="http://schemas.microsoft.com/office/drawing/2014/main" id="{6B76F914-A119-FDC1-0273-1CD2F9B3350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6" name="Google Shape;86;p6:notes">
            <a:extLst>
              <a:ext uri="{FF2B5EF4-FFF2-40B4-BE49-F238E27FC236}">
                <a16:creationId xmlns:a16="http://schemas.microsoft.com/office/drawing/2014/main" id="{78CA9E7E-384D-D0A0-E6F2-F78CFE1F42A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76979301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>
          <a:extLst>
            <a:ext uri="{FF2B5EF4-FFF2-40B4-BE49-F238E27FC236}">
              <a16:creationId xmlns:a16="http://schemas.microsoft.com/office/drawing/2014/main" id="{787BF203-08D4-8064-A22B-31F059314F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6:notes">
            <a:extLst>
              <a:ext uri="{FF2B5EF4-FFF2-40B4-BE49-F238E27FC236}">
                <a16:creationId xmlns:a16="http://schemas.microsoft.com/office/drawing/2014/main" id="{6FF536AF-EB0F-3A2A-8EBD-9737DC9B524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6" name="Google Shape;86;p6:notes">
            <a:extLst>
              <a:ext uri="{FF2B5EF4-FFF2-40B4-BE49-F238E27FC236}">
                <a16:creationId xmlns:a16="http://schemas.microsoft.com/office/drawing/2014/main" id="{B3717298-4821-5360-9A07-F0A29C58CF5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0718814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>
          <a:extLst>
            <a:ext uri="{FF2B5EF4-FFF2-40B4-BE49-F238E27FC236}">
              <a16:creationId xmlns:a16="http://schemas.microsoft.com/office/drawing/2014/main" id="{6D2B8CEB-D9AB-E999-6207-38FB7ADB1E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6:notes">
            <a:extLst>
              <a:ext uri="{FF2B5EF4-FFF2-40B4-BE49-F238E27FC236}">
                <a16:creationId xmlns:a16="http://schemas.microsoft.com/office/drawing/2014/main" id="{C4A6CF6C-F269-617E-1A78-7C1E8FD1827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6" name="Google Shape;86;p6:notes">
            <a:extLst>
              <a:ext uri="{FF2B5EF4-FFF2-40B4-BE49-F238E27FC236}">
                <a16:creationId xmlns:a16="http://schemas.microsoft.com/office/drawing/2014/main" id="{5603FF7A-27F4-19A0-5F25-08DDFF91278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0002742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>
          <a:extLst>
            <a:ext uri="{FF2B5EF4-FFF2-40B4-BE49-F238E27FC236}">
              <a16:creationId xmlns:a16="http://schemas.microsoft.com/office/drawing/2014/main" id="{ABDD6644-5073-BD35-1824-D98B359060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6:notes">
            <a:extLst>
              <a:ext uri="{FF2B5EF4-FFF2-40B4-BE49-F238E27FC236}">
                <a16:creationId xmlns:a16="http://schemas.microsoft.com/office/drawing/2014/main" id="{ADDECF71-CE7B-7089-96D3-5A3425036ED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6" name="Google Shape;86;p6:notes">
            <a:extLst>
              <a:ext uri="{FF2B5EF4-FFF2-40B4-BE49-F238E27FC236}">
                <a16:creationId xmlns:a16="http://schemas.microsoft.com/office/drawing/2014/main" id="{DD79AF5C-1E6D-3E31-2D23-99C1BDCAAFD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270422544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>
          <a:extLst>
            <a:ext uri="{FF2B5EF4-FFF2-40B4-BE49-F238E27FC236}">
              <a16:creationId xmlns:a16="http://schemas.microsoft.com/office/drawing/2014/main" id="{E4D6DE21-981C-B0F7-D10F-B6F73AD412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6:notes">
            <a:extLst>
              <a:ext uri="{FF2B5EF4-FFF2-40B4-BE49-F238E27FC236}">
                <a16:creationId xmlns:a16="http://schemas.microsoft.com/office/drawing/2014/main" id="{1386C1A2-6A04-8593-D203-2FB28760D5A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6" name="Google Shape;86;p6:notes">
            <a:extLst>
              <a:ext uri="{FF2B5EF4-FFF2-40B4-BE49-F238E27FC236}">
                <a16:creationId xmlns:a16="http://schemas.microsoft.com/office/drawing/2014/main" id="{826EB76D-DE0A-D4CC-3576-8573862BBAC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6261985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>
          <a:extLst>
            <a:ext uri="{FF2B5EF4-FFF2-40B4-BE49-F238E27FC236}">
              <a16:creationId xmlns:a16="http://schemas.microsoft.com/office/drawing/2014/main" id="{A661EE14-21D4-E951-E202-64287194CC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6:notes">
            <a:extLst>
              <a:ext uri="{FF2B5EF4-FFF2-40B4-BE49-F238E27FC236}">
                <a16:creationId xmlns:a16="http://schemas.microsoft.com/office/drawing/2014/main" id="{181BBB88-797A-620C-0DA6-1868E45614B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6" name="Google Shape;86;p6:notes">
            <a:extLst>
              <a:ext uri="{FF2B5EF4-FFF2-40B4-BE49-F238E27FC236}">
                <a16:creationId xmlns:a16="http://schemas.microsoft.com/office/drawing/2014/main" id="{CADD2892-0FAB-055A-10C2-A9FF1E590F4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1577243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>
          <a:extLst>
            <a:ext uri="{FF2B5EF4-FFF2-40B4-BE49-F238E27FC236}">
              <a16:creationId xmlns:a16="http://schemas.microsoft.com/office/drawing/2014/main" id="{ED633FF0-D3E9-61F6-5882-B1FA169066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6:notes">
            <a:extLst>
              <a:ext uri="{FF2B5EF4-FFF2-40B4-BE49-F238E27FC236}">
                <a16:creationId xmlns:a16="http://schemas.microsoft.com/office/drawing/2014/main" id="{BFD499BA-C89B-85A8-7953-96C6295A2B3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6" name="Google Shape;86;p6:notes">
            <a:extLst>
              <a:ext uri="{FF2B5EF4-FFF2-40B4-BE49-F238E27FC236}">
                <a16:creationId xmlns:a16="http://schemas.microsoft.com/office/drawing/2014/main" id="{5B015B42-4C45-1E0E-D989-9AEFBBE515D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53251754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>
          <a:extLst>
            <a:ext uri="{FF2B5EF4-FFF2-40B4-BE49-F238E27FC236}">
              <a16:creationId xmlns:a16="http://schemas.microsoft.com/office/drawing/2014/main" id="{342D2B86-40E5-D193-43B5-9876AC3451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6:notes">
            <a:extLst>
              <a:ext uri="{FF2B5EF4-FFF2-40B4-BE49-F238E27FC236}">
                <a16:creationId xmlns:a16="http://schemas.microsoft.com/office/drawing/2014/main" id="{12ACA719-DDEA-215B-810F-02E51C0F286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6" name="Google Shape;86;p6:notes">
            <a:extLst>
              <a:ext uri="{FF2B5EF4-FFF2-40B4-BE49-F238E27FC236}">
                <a16:creationId xmlns:a16="http://schemas.microsoft.com/office/drawing/2014/main" id="{68FAE552-BB54-FB66-2C0F-F3FC361DC11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6502497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>
          <a:extLst>
            <a:ext uri="{FF2B5EF4-FFF2-40B4-BE49-F238E27FC236}">
              <a16:creationId xmlns:a16="http://schemas.microsoft.com/office/drawing/2014/main" id="{D1D97629-9D46-2E3C-432E-0E6AD36834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6:notes">
            <a:extLst>
              <a:ext uri="{FF2B5EF4-FFF2-40B4-BE49-F238E27FC236}">
                <a16:creationId xmlns:a16="http://schemas.microsoft.com/office/drawing/2014/main" id="{99EE3CCD-8FA0-D8F9-3F0E-C67E15D1E7B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6" name="Google Shape;86;p6:notes">
            <a:extLst>
              <a:ext uri="{FF2B5EF4-FFF2-40B4-BE49-F238E27FC236}">
                <a16:creationId xmlns:a16="http://schemas.microsoft.com/office/drawing/2014/main" id="{040A29C1-4C35-D9CC-5F97-442EFE5308B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782401584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>
          <a:extLst>
            <a:ext uri="{FF2B5EF4-FFF2-40B4-BE49-F238E27FC236}">
              <a16:creationId xmlns:a16="http://schemas.microsoft.com/office/drawing/2014/main" id="{8C34C4B2-AEF7-8B50-245A-15A1DFED4E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6:notes">
            <a:extLst>
              <a:ext uri="{FF2B5EF4-FFF2-40B4-BE49-F238E27FC236}">
                <a16:creationId xmlns:a16="http://schemas.microsoft.com/office/drawing/2014/main" id="{98654440-FF85-2D5E-0E5E-7FB6F93F8A1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6" name="Google Shape;86;p6:notes">
            <a:extLst>
              <a:ext uri="{FF2B5EF4-FFF2-40B4-BE49-F238E27FC236}">
                <a16:creationId xmlns:a16="http://schemas.microsoft.com/office/drawing/2014/main" id="{A716DE73-B49B-A0BF-30EF-0ECBEB7CF96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82311035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>
          <a:extLst>
            <a:ext uri="{FF2B5EF4-FFF2-40B4-BE49-F238E27FC236}">
              <a16:creationId xmlns:a16="http://schemas.microsoft.com/office/drawing/2014/main" id="{852C7423-91DE-D168-CD6D-C8C76084F1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6:notes">
            <a:extLst>
              <a:ext uri="{FF2B5EF4-FFF2-40B4-BE49-F238E27FC236}">
                <a16:creationId xmlns:a16="http://schemas.microsoft.com/office/drawing/2014/main" id="{8631F279-232E-7B3D-2F23-92B3240F31A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6" name="Google Shape;86;p6:notes">
            <a:extLst>
              <a:ext uri="{FF2B5EF4-FFF2-40B4-BE49-F238E27FC236}">
                <a16:creationId xmlns:a16="http://schemas.microsoft.com/office/drawing/2014/main" id="{3AE60B72-D8E8-414C-1E90-4CB5CEF8F40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66166324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>
          <a:extLst>
            <a:ext uri="{FF2B5EF4-FFF2-40B4-BE49-F238E27FC236}">
              <a16:creationId xmlns:a16="http://schemas.microsoft.com/office/drawing/2014/main" id="{25CC4EA9-89E6-5BE2-F5ED-63A6DCD759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6:notes">
            <a:extLst>
              <a:ext uri="{FF2B5EF4-FFF2-40B4-BE49-F238E27FC236}">
                <a16:creationId xmlns:a16="http://schemas.microsoft.com/office/drawing/2014/main" id="{ED3C8813-1D99-EA1B-2597-6A1DBAB1103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6" name="Google Shape;86;p6:notes">
            <a:extLst>
              <a:ext uri="{FF2B5EF4-FFF2-40B4-BE49-F238E27FC236}">
                <a16:creationId xmlns:a16="http://schemas.microsoft.com/office/drawing/2014/main" id="{91515A72-9402-A512-4742-61A288FA6DF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7309015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>
          <a:extLst>
            <a:ext uri="{FF2B5EF4-FFF2-40B4-BE49-F238E27FC236}">
              <a16:creationId xmlns:a16="http://schemas.microsoft.com/office/drawing/2014/main" id="{9DE3EF73-BE10-A4E9-2AD7-12DD7E8062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6:notes">
            <a:extLst>
              <a:ext uri="{FF2B5EF4-FFF2-40B4-BE49-F238E27FC236}">
                <a16:creationId xmlns:a16="http://schemas.microsoft.com/office/drawing/2014/main" id="{6ABF3E95-9DB1-2E51-C9CC-66714A244C4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6" name="Google Shape;86;p6:notes">
            <a:extLst>
              <a:ext uri="{FF2B5EF4-FFF2-40B4-BE49-F238E27FC236}">
                <a16:creationId xmlns:a16="http://schemas.microsoft.com/office/drawing/2014/main" id="{64D0F5BD-C903-2211-B92D-C8A5F1E41D9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15451087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49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49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4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5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5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51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18" name="Google Shape;18;p5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52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21" name="Google Shape;21;p52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2" name="Google Shape;22;p5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53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" name="Google Shape;25;p53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26" name="Google Shape;26;p53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27" name="Google Shape;27;p53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8" name="Google Shape;28;p5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54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31" name="Google Shape;31;p5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55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34" name="Google Shape;34;p55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35" name="Google Shape;35;p5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5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4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48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p4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17.png"/><Relationship Id="rId4" Type="http://schemas.openxmlformats.org/officeDocument/2006/relationships/image" Target="../media/image9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3.pn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5.png"/><Relationship Id="rId4" Type="http://schemas.openxmlformats.org/officeDocument/2006/relationships/image" Target="../media/image18.png"/><Relationship Id="rId9" Type="http://schemas.openxmlformats.org/officeDocument/2006/relationships/image" Target="../media/image21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"/>
          <p:cNvSpPr txBox="1"/>
          <p:nvPr/>
        </p:nvSpPr>
        <p:spPr>
          <a:xfrm>
            <a:off x="805343" y="3148562"/>
            <a:ext cx="7533313" cy="14018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sp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" name="Google Shape;43;p1"/>
          <p:cNvSpPr txBox="1"/>
          <p:nvPr/>
        </p:nvSpPr>
        <p:spPr>
          <a:xfrm>
            <a:off x="570900" y="1865773"/>
            <a:ext cx="8002800" cy="10833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sp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" name="Google Shape;44;p1"/>
          <p:cNvSpPr txBox="1">
            <a:spLocks noGrp="1"/>
          </p:cNvSpPr>
          <p:nvPr>
            <p:ph type="sldNum" idx="12"/>
          </p:nvPr>
        </p:nvSpPr>
        <p:spPr>
          <a:xfrm>
            <a:off x="2080126" y="2546550"/>
            <a:ext cx="4983115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US" sz="4800" dirty="0"/>
              <a:t>Macros in Excel</a:t>
            </a:r>
          </a:p>
        </p:txBody>
      </p:sp>
      <p:sp>
        <p:nvSpPr>
          <p:cNvPr id="45" name="Google Shape;45;p1"/>
          <p:cNvSpPr txBox="1"/>
          <p:nvPr/>
        </p:nvSpPr>
        <p:spPr>
          <a:xfrm>
            <a:off x="0" y="4749900"/>
            <a:ext cx="1141801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6" name="Google Shape;46;p1" descr="Hindustan Petroleum - Wikipedia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562103" y="85658"/>
            <a:ext cx="1242574" cy="1580659"/>
          </a:xfrm>
          <a:prstGeom prst="rect">
            <a:avLst/>
          </a:prstGeom>
          <a:noFill/>
          <a:ln>
            <a:noFill/>
          </a:ln>
        </p:spPr>
      </p:pic>
      <p:pic>
        <p:nvPicPr>
          <p:cNvPr id="47" name="Google Shape;47;p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234424" y="407787"/>
            <a:ext cx="2411909" cy="100963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>
          <a:extLst>
            <a:ext uri="{FF2B5EF4-FFF2-40B4-BE49-F238E27FC236}">
              <a16:creationId xmlns:a16="http://schemas.microsoft.com/office/drawing/2014/main" id="{0866EF1E-A628-B76D-0684-04BE7E0BEF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6">
            <a:extLst>
              <a:ext uri="{FF2B5EF4-FFF2-40B4-BE49-F238E27FC236}">
                <a16:creationId xmlns:a16="http://schemas.microsoft.com/office/drawing/2014/main" id="{6CB1A1E9-19D5-A2FE-4EC8-0C050F4BBFA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644847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 fontScale="90000"/>
          </a:bodyPr>
          <a:lstStyle/>
          <a:p>
            <a:r>
              <a:rPr lang="en-US" sz="4000" b="1" dirty="0">
                <a:solidFill>
                  <a:srgbClr val="1E2761"/>
                </a:solidFill>
                <a:latin typeface="Arial Black"/>
              </a:rPr>
              <a:t>What Are Excel Macros?</a:t>
            </a:r>
            <a:endParaRPr lang="en-US" sz="4000" dirty="0">
              <a:latin typeface="Arial Black"/>
            </a:endParaRPr>
          </a:p>
          <a:p>
            <a:pPr marL="0" lv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endParaRPr b="1" dirty="0"/>
          </a:p>
        </p:txBody>
      </p:sp>
      <p:sp>
        <p:nvSpPr>
          <p:cNvPr id="89" name="Google Shape;89;p6">
            <a:extLst>
              <a:ext uri="{FF2B5EF4-FFF2-40B4-BE49-F238E27FC236}">
                <a16:creationId xmlns:a16="http://schemas.microsoft.com/office/drawing/2014/main" id="{5AEB7542-E7AD-6B0D-1D98-B9EE457C91FE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SzPts val="900"/>
              <a:buNone/>
            </a:pPr>
            <a:endParaRPr sz="900"/>
          </a:p>
        </p:txBody>
      </p:sp>
      <p:sp>
        <p:nvSpPr>
          <p:cNvPr id="91" name="Google Shape;91;p6">
            <a:extLst>
              <a:ext uri="{FF2B5EF4-FFF2-40B4-BE49-F238E27FC236}">
                <a16:creationId xmlns:a16="http://schemas.microsoft.com/office/drawing/2014/main" id="{01D10E94-340D-B647-8E1C-D39EDC8F3296}"/>
              </a:ext>
            </a:extLst>
          </p:cNvPr>
          <p:cNvSpPr/>
          <p:nvPr/>
        </p:nvSpPr>
        <p:spPr>
          <a:xfrm>
            <a:off x="311700" y="116515"/>
            <a:ext cx="4601662" cy="219808"/>
          </a:xfrm>
          <a:prstGeom prst="roundRect">
            <a:avLst>
              <a:gd name="adj" fmla="val 16667"/>
            </a:avLst>
          </a:prstGeom>
          <a:solidFill>
            <a:srgbClr val="00B05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" name="Google Shape;92;p6">
            <a:extLst>
              <a:ext uri="{FF2B5EF4-FFF2-40B4-BE49-F238E27FC236}">
                <a16:creationId xmlns:a16="http://schemas.microsoft.com/office/drawing/2014/main" id="{B572EE36-5EC6-30B2-9661-246C9AC15F7F}"/>
              </a:ext>
            </a:extLst>
          </p:cNvPr>
          <p:cNvSpPr/>
          <p:nvPr/>
        </p:nvSpPr>
        <p:spPr>
          <a:xfrm>
            <a:off x="4230638" y="4812031"/>
            <a:ext cx="4601662" cy="219808"/>
          </a:xfrm>
          <a:prstGeom prst="roundRect">
            <a:avLst>
              <a:gd name="adj" fmla="val 16667"/>
            </a:avLst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" name="Picture 1" descr="A logo with blue and green text&#10;&#10;AI-generated content may be incorrect.">
            <a:extLst>
              <a:ext uri="{FF2B5EF4-FFF2-40B4-BE49-F238E27FC236}">
                <a16:creationId xmlns:a16="http://schemas.microsoft.com/office/drawing/2014/main" id="{F60D6978-D132-857B-7ED6-113DDEE46F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53880" y="15346"/>
            <a:ext cx="1266825" cy="46672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5E2792A-6D36-D2D0-2650-0B60FD866983}"/>
              </a:ext>
            </a:extLst>
          </p:cNvPr>
          <p:cNvSpPr txBox="1"/>
          <p:nvPr/>
        </p:nvSpPr>
        <p:spPr>
          <a:xfrm>
            <a:off x="179917" y="4804833"/>
            <a:ext cx="4572000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000" i="1">
                <a:solidFill>
                  <a:srgbClr val="595959"/>
                </a:solidFill>
                <a:latin typeface="Arial"/>
                <a:ea typeface="Arial"/>
                <a:cs typeface="Arial"/>
              </a:rPr>
              <a:t>© insanalytics</a:t>
            </a:r>
            <a:endParaRPr lang="en-US"/>
          </a:p>
          <a:p>
            <a:pPr algn="ctr"/>
            <a:endParaRPr lang="en-US"/>
          </a:p>
        </p:txBody>
      </p:sp>
      <p:pic>
        <p:nvPicPr>
          <p:cNvPr id="5" name="Image 0">
            <a:extLst>
              <a:ext uri="{FF2B5EF4-FFF2-40B4-BE49-F238E27FC236}">
                <a16:creationId xmlns:a16="http://schemas.microsoft.com/office/drawing/2014/main" id="{29FB2CEF-6D8A-9779-C337-F12A65A8025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1600200"/>
            <a:ext cx="457200" cy="457200"/>
          </a:xfrm>
          <a:prstGeom prst="rect">
            <a:avLst/>
          </a:prstGeom>
        </p:spPr>
      </p:pic>
      <p:sp>
        <p:nvSpPr>
          <p:cNvPr id="6" name="Text 2">
            <a:extLst>
              <a:ext uri="{FF2B5EF4-FFF2-40B4-BE49-F238E27FC236}">
                <a16:creationId xmlns:a16="http://schemas.microsoft.com/office/drawing/2014/main" id="{50B86703-F7DD-A6A3-3D35-782AAC84DD89}"/>
              </a:ext>
            </a:extLst>
          </p:cNvPr>
          <p:cNvSpPr/>
          <p:nvPr/>
        </p:nvSpPr>
        <p:spPr>
          <a:xfrm>
            <a:off x="1280160" y="1463040"/>
            <a:ext cx="7132320" cy="32004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0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Definition</a:t>
            </a:r>
            <a:endParaRPr lang="en-US" sz="2000" dirty="0"/>
          </a:p>
        </p:txBody>
      </p:sp>
      <p:sp>
        <p:nvSpPr>
          <p:cNvPr id="7" name="Text 3">
            <a:extLst>
              <a:ext uri="{FF2B5EF4-FFF2-40B4-BE49-F238E27FC236}">
                <a16:creationId xmlns:a16="http://schemas.microsoft.com/office/drawing/2014/main" id="{336D41FE-58AE-7171-F5A5-27ADBE398196}"/>
              </a:ext>
            </a:extLst>
          </p:cNvPr>
          <p:cNvSpPr/>
          <p:nvPr/>
        </p:nvSpPr>
        <p:spPr>
          <a:xfrm>
            <a:off x="1280160" y="1828800"/>
            <a:ext cx="7132320" cy="36576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Macros are recorded sequences of actions that can be played back to automate repetitive tasks in Excel</a:t>
            </a:r>
            <a:endParaRPr lang="en-US" sz="1400" dirty="0"/>
          </a:p>
        </p:txBody>
      </p:sp>
      <p:pic>
        <p:nvPicPr>
          <p:cNvPr id="8" name="Image 1">
            <a:extLst>
              <a:ext uri="{FF2B5EF4-FFF2-40B4-BE49-F238E27FC236}">
                <a16:creationId xmlns:a16="http://schemas.microsoft.com/office/drawing/2014/main" id="{05BB57D6-7CBC-F610-7307-A70DEFE1A48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" y="2697480"/>
            <a:ext cx="457200" cy="457200"/>
          </a:xfrm>
          <a:prstGeom prst="rect">
            <a:avLst/>
          </a:prstGeom>
        </p:spPr>
      </p:pic>
      <p:sp>
        <p:nvSpPr>
          <p:cNvPr id="9" name="Text 5">
            <a:extLst>
              <a:ext uri="{FF2B5EF4-FFF2-40B4-BE49-F238E27FC236}">
                <a16:creationId xmlns:a16="http://schemas.microsoft.com/office/drawing/2014/main" id="{B09196F5-8DE7-99DE-93AF-BCCD1BFABEEA}"/>
              </a:ext>
            </a:extLst>
          </p:cNvPr>
          <p:cNvSpPr/>
          <p:nvPr/>
        </p:nvSpPr>
        <p:spPr>
          <a:xfrm>
            <a:off x="1280160" y="2560320"/>
            <a:ext cx="7132320" cy="32004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0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VBA Code</a:t>
            </a:r>
            <a:endParaRPr lang="en-US" sz="2000" dirty="0"/>
          </a:p>
        </p:txBody>
      </p:sp>
      <p:sp>
        <p:nvSpPr>
          <p:cNvPr id="10" name="Text 6">
            <a:extLst>
              <a:ext uri="{FF2B5EF4-FFF2-40B4-BE49-F238E27FC236}">
                <a16:creationId xmlns:a16="http://schemas.microsoft.com/office/drawing/2014/main" id="{A14B1D50-9813-0408-FC9C-E422D064C138}"/>
              </a:ext>
            </a:extLst>
          </p:cNvPr>
          <p:cNvSpPr/>
          <p:nvPr/>
        </p:nvSpPr>
        <p:spPr>
          <a:xfrm>
            <a:off x="1280160" y="2926080"/>
            <a:ext cx="7132320" cy="36576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Written in Visual Basic for Applications (VBA), a programming language built into Microsoft Office</a:t>
            </a:r>
            <a:endParaRPr lang="en-US" sz="1400" dirty="0"/>
          </a:p>
        </p:txBody>
      </p:sp>
      <p:pic>
        <p:nvPicPr>
          <p:cNvPr id="11" name="Image 2">
            <a:extLst>
              <a:ext uri="{FF2B5EF4-FFF2-40B4-BE49-F238E27FC236}">
                <a16:creationId xmlns:a16="http://schemas.microsoft.com/office/drawing/2014/main" id="{37677378-9BCD-62D6-5D7B-B6B0BB6BEE2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0080" y="3794760"/>
            <a:ext cx="457200" cy="457200"/>
          </a:xfrm>
          <a:prstGeom prst="rect">
            <a:avLst/>
          </a:prstGeom>
        </p:spPr>
      </p:pic>
      <p:sp>
        <p:nvSpPr>
          <p:cNvPr id="12" name="Text 8">
            <a:extLst>
              <a:ext uri="{FF2B5EF4-FFF2-40B4-BE49-F238E27FC236}">
                <a16:creationId xmlns:a16="http://schemas.microsoft.com/office/drawing/2014/main" id="{A557DB85-F924-5A8F-AD83-8B14F3D975EE}"/>
              </a:ext>
            </a:extLst>
          </p:cNvPr>
          <p:cNvSpPr/>
          <p:nvPr/>
        </p:nvSpPr>
        <p:spPr>
          <a:xfrm>
            <a:off x="1280160" y="3657600"/>
            <a:ext cx="7132320" cy="32004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0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Benefits</a:t>
            </a:r>
            <a:endParaRPr lang="en-US" sz="2000" dirty="0"/>
          </a:p>
        </p:txBody>
      </p:sp>
      <p:sp>
        <p:nvSpPr>
          <p:cNvPr id="13" name="Text 9">
            <a:extLst>
              <a:ext uri="{FF2B5EF4-FFF2-40B4-BE49-F238E27FC236}">
                <a16:creationId xmlns:a16="http://schemas.microsoft.com/office/drawing/2014/main" id="{31779C00-5E5B-1B02-37C4-A62A52F989D0}"/>
              </a:ext>
            </a:extLst>
          </p:cNvPr>
          <p:cNvSpPr/>
          <p:nvPr/>
        </p:nvSpPr>
        <p:spPr>
          <a:xfrm>
            <a:off x="1280160" y="4023360"/>
            <a:ext cx="7132320" cy="36576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Save time, reduce errors, standardize processes, and perform complex operations with a single click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40412985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>
          <a:extLst>
            <a:ext uri="{FF2B5EF4-FFF2-40B4-BE49-F238E27FC236}">
              <a16:creationId xmlns:a16="http://schemas.microsoft.com/office/drawing/2014/main" id="{72759CC7-A466-5021-BA54-12E156225D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6">
            <a:extLst>
              <a:ext uri="{FF2B5EF4-FFF2-40B4-BE49-F238E27FC236}">
                <a16:creationId xmlns:a16="http://schemas.microsoft.com/office/drawing/2014/main" id="{68197D5E-4B7E-14CB-E32A-DCE81944B0C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6992" y="644847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US" sz="3200" b="1" dirty="0">
                <a:solidFill>
                  <a:srgbClr val="1E2761"/>
                </a:solidFill>
                <a:latin typeface="Arial Black"/>
              </a:rPr>
              <a:t>How to Enable the Developer Tab</a:t>
            </a:r>
            <a:endParaRPr lang="en-US" sz="3200" dirty="0" err="1">
              <a:latin typeface="Arial Black"/>
            </a:endParaRPr>
          </a:p>
          <a:p>
            <a:pPr marL="0" lv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endParaRPr b="1" dirty="0"/>
          </a:p>
        </p:txBody>
      </p:sp>
      <p:sp>
        <p:nvSpPr>
          <p:cNvPr id="89" name="Google Shape;89;p6">
            <a:extLst>
              <a:ext uri="{FF2B5EF4-FFF2-40B4-BE49-F238E27FC236}">
                <a16:creationId xmlns:a16="http://schemas.microsoft.com/office/drawing/2014/main" id="{B67E9F47-141F-A202-CEA9-92A24DC4EE4B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SzPts val="900"/>
              <a:buNone/>
            </a:pPr>
            <a:endParaRPr sz="900"/>
          </a:p>
        </p:txBody>
      </p:sp>
      <p:sp>
        <p:nvSpPr>
          <p:cNvPr id="90" name="Google Shape;90;p6">
            <a:extLst>
              <a:ext uri="{FF2B5EF4-FFF2-40B4-BE49-F238E27FC236}">
                <a16:creationId xmlns:a16="http://schemas.microsoft.com/office/drawing/2014/main" id="{3EC82E0A-0AD1-B723-BC06-3FEBC0C52D25}"/>
              </a:ext>
            </a:extLst>
          </p:cNvPr>
          <p:cNvSpPr txBox="1"/>
          <p:nvPr/>
        </p:nvSpPr>
        <p:spPr>
          <a:xfrm>
            <a:off x="311699" y="1218211"/>
            <a:ext cx="8520600" cy="34200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</a:pPr>
            <a:endParaRPr/>
          </a:p>
        </p:txBody>
      </p:sp>
      <p:sp>
        <p:nvSpPr>
          <p:cNvPr id="91" name="Google Shape;91;p6">
            <a:extLst>
              <a:ext uri="{FF2B5EF4-FFF2-40B4-BE49-F238E27FC236}">
                <a16:creationId xmlns:a16="http://schemas.microsoft.com/office/drawing/2014/main" id="{27D2B8B6-60C7-3FED-14C8-A8129F008C86}"/>
              </a:ext>
            </a:extLst>
          </p:cNvPr>
          <p:cNvSpPr/>
          <p:nvPr/>
        </p:nvSpPr>
        <p:spPr>
          <a:xfrm>
            <a:off x="311700" y="116515"/>
            <a:ext cx="4601662" cy="219808"/>
          </a:xfrm>
          <a:prstGeom prst="roundRect">
            <a:avLst>
              <a:gd name="adj" fmla="val 16667"/>
            </a:avLst>
          </a:prstGeom>
          <a:solidFill>
            <a:srgbClr val="00B05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" name="Google Shape;92;p6">
            <a:extLst>
              <a:ext uri="{FF2B5EF4-FFF2-40B4-BE49-F238E27FC236}">
                <a16:creationId xmlns:a16="http://schemas.microsoft.com/office/drawing/2014/main" id="{17A74588-92AC-DEE1-5845-033E68B84591}"/>
              </a:ext>
            </a:extLst>
          </p:cNvPr>
          <p:cNvSpPr/>
          <p:nvPr/>
        </p:nvSpPr>
        <p:spPr>
          <a:xfrm>
            <a:off x="4230638" y="4812031"/>
            <a:ext cx="4601662" cy="219808"/>
          </a:xfrm>
          <a:prstGeom prst="roundRect">
            <a:avLst>
              <a:gd name="adj" fmla="val 16667"/>
            </a:avLst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" name="Picture 1" descr="A logo with blue and green text&#10;&#10;AI-generated content may be incorrect.">
            <a:extLst>
              <a:ext uri="{FF2B5EF4-FFF2-40B4-BE49-F238E27FC236}">
                <a16:creationId xmlns:a16="http://schemas.microsoft.com/office/drawing/2014/main" id="{6198DCB6-772E-9C85-6961-A41FC85460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53880" y="15346"/>
            <a:ext cx="1266825" cy="46672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517CB247-30A8-8E9A-84F0-BE2456452FC7}"/>
              </a:ext>
            </a:extLst>
          </p:cNvPr>
          <p:cNvSpPr txBox="1"/>
          <p:nvPr/>
        </p:nvSpPr>
        <p:spPr>
          <a:xfrm>
            <a:off x="179917" y="4804833"/>
            <a:ext cx="4572000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000" i="1">
                <a:solidFill>
                  <a:srgbClr val="595959"/>
                </a:solidFill>
                <a:latin typeface="Arial"/>
                <a:ea typeface="Arial"/>
                <a:cs typeface="Arial"/>
              </a:rPr>
              <a:t>© insanalytics</a:t>
            </a:r>
            <a:endParaRPr lang="en-US"/>
          </a:p>
          <a:p>
            <a:pPr algn="ctr"/>
            <a:endParaRPr lang="en-US"/>
          </a:p>
        </p:txBody>
      </p:sp>
      <p:sp>
        <p:nvSpPr>
          <p:cNvPr id="3" name="Text 2">
            <a:extLst>
              <a:ext uri="{FF2B5EF4-FFF2-40B4-BE49-F238E27FC236}">
                <a16:creationId xmlns:a16="http://schemas.microsoft.com/office/drawing/2014/main" id="{836B028D-0008-708D-37CA-DF6663F5035A}"/>
              </a:ext>
            </a:extLst>
          </p:cNvPr>
          <p:cNvSpPr/>
          <p:nvPr/>
        </p:nvSpPr>
        <p:spPr>
          <a:xfrm>
            <a:off x="640080" y="12801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1</a:t>
            </a:r>
            <a:endParaRPr lang="en-US" sz="18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C1A5386E-D986-4E21-1FD6-9A68951E9E2C}"/>
              </a:ext>
            </a:extLst>
          </p:cNvPr>
          <p:cNvSpPr/>
          <p:nvPr/>
        </p:nvSpPr>
        <p:spPr>
          <a:xfrm>
            <a:off x="1188720" y="12801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6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Excel and click on File → Options</a:t>
            </a:r>
            <a:endParaRPr lang="en-US" sz="1600" dirty="0"/>
          </a:p>
        </p:txBody>
      </p:sp>
      <p:sp>
        <p:nvSpPr>
          <p:cNvPr id="6" name="Text 5">
            <a:extLst>
              <a:ext uri="{FF2B5EF4-FFF2-40B4-BE49-F238E27FC236}">
                <a16:creationId xmlns:a16="http://schemas.microsoft.com/office/drawing/2014/main" id="{7645CCF9-E093-55C6-BDA3-D5980AFD537E}"/>
              </a:ext>
            </a:extLst>
          </p:cNvPr>
          <p:cNvSpPr/>
          <p:nvPr/>
        </p:nvSpPr>
        <p:spPr>
          <a:xfrm>
            <a:off x="640080" y="18745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2</a:t>
            </a:r>
            <a:endParaRPr lang="en-US" sz="1800" dirty="0"/>
          </a:p>
        </p:txBody>
      </p:sp>
      <p:sp>
        <p:nvSpPr>
          <p:cNvPr id="7" name="Text 6">
            <a:extLst>
              <a:ext uri="{FF2B5EF4-FFF2-40B4-BE49-F238E27FC236}">
                <a16:creationId xmlns:a16="http://schemas.microsoft.com/office/drawing/2014/main" id="{5E1BFE74-9F80-48E4-3912-59B9228B1036}"/>
              </a:ext>
            </a:extLst>
          </p:cNvPr>
          <p:cNvSpPr/>
          <p:nvPr/>
        </p:nvSpPr>
        <p:spPr>
          <a:xfrm>
            <a:off x="1188720" y="18745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6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 Customize Ribbon from the left menu</a:t>
            </a:r>
            <a:endParaRPr lang="en-US" sz="1600" dirty="0"/>
          </a:p>
        </p:txBody>
      </p:sp>
      <p:sp>
        <p:nvSpPr>
          <p:cNvPr id="8" name="Text 8">
            <a:extLst>
              <a:ext uri="{FF2B5EF4-FFF2-40B4-BE49-F238E27FC236}">
                <a16:creationId xmlns:a16="http://schemas.microsoft.com/office/drawing/2014/main" id="{D2D2A268-E129-E7D9-7F7F-1E3844A26953}"/>
              </a:ext>
            </a:extLst>
          </p:cNvPr>
          <p:cNvSpPr/>
          <p:nvPr/>
        </p:nvSpPr>
        <p:spPr>
          <a:xfrm>
            <a:off x="640080" y="24688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3</a:t>
            </a:r>
            <a:endParaRPr lang="en-US" sz="1800" dirty="0"/>
          </a:p>
        </p:txBody>
      </p:sp>
      <p:sp>
        <p:nvSpPr>
          <p:cNvPr id="9" name="Text 9">
            <a:extLst>
              <a:ext uri="{FF2B5EF4-FFF2-40B4-BE49-F238E27FC236}">
                <a16:creationId xmlns:a16="http://schemas.microsoft.com/office/drawing/2014/main" id="{D4F5803A-2107-F3FD-ECFF-DFDB193CE943}"/>
              </a:ext>
            </a:extLst>
          </p:cNvPr>
          <p:cNvSpPr/>
          <p:nvPr/>
        </p:nvSpPr>
        <p:spPr>
          <a:xfrm>
            <a:off x="1188720" y="24688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6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 the Developer checkbox in the right panel</a:t>
            </a:r>
            <a:endParaRPr lang="en-US" sz="1600" dirty="0"/>
          </a:p>
        </p:txBody>
      </p:sp>
      <p:sp>
        <p:nvSpPr>
          <p:cNvPr id="10" name="Text 11">
            <a:extLst>
              <a:ext uri="{FF2B5EF4-FFF2-40B4-BE49-F238E27FC236}">
                <a16:creationId xmlns:a16="http://schemas.microsoft.com/office/drawing/2014/main" id="{CC4C0C76-8830-9771-C45E-0ADB0B954976}"/>
              </a:ext>
            </a:extLst>
          </p:cNvPr>
          <p:cNvSpPr/>
          <p:nvPr/>
        </p:nvSpPr>
        <p:spPr>
          <a:xfrm>
            <a:off x="640080" y="30632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4</a:t>
            </a:r>
            <a:endParaRPr lang="en-US" sz="1800" dirty="0"/>
          </a:p>
        </p:txBody>
      </p:sp>
      <p:sp>
        <p:nvSpPr>
          <p:cNvPr id="11" name="Text 12">
            <a:extLst>
              <a:ext uri="{FF2B5EF4-FFF2-40B4-BE49-F238E27FC236}">
                <a16:creationId xmlns:a16="http://schemas.microsoft.com/office/drawing/2014/main" id="{FA92BCDD-3B0B-64DF-F84D-ADFA77087CF8}"/>
              </a:ext>
            </a:extLst>
          </p:cNvPr>
          <p:cNvSpPr/>
          <p:nvPr/>
        </p:nvSpPr>
        <p:spPr>
          <a:xfrm>
            <a:off x="1188720" y="30632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6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Click OK to save the changes</a:t>
            </a:r>
            <a:endParaRPr lang="en-US" sz="1600" dirty="0"/>
          </a:p>
        </p:txBody>
      </p:sp>
      <p:sp>
        <p:nvSpPr>
          <p:cNvPr id="12" name="Text 14">
            <a:extLst>
              <a:ext uri="{FF2B5EF4-FFF2-40B4-BE49-F238E27FC236}">
                <a16:creationId xmlns:a16="http://schemas.microsoft.com/office/drawing/2014/main" id="{0CC6AB2C-8DC4-8D6B-0688-2A123B9B301B}"/>
              </a:ext>
            </a:extLst>
          </p:cNvPr>
          <p:cNvSpPr/>
          <p:nvPr/>
        </p:nvSpPr>
        <p:spPr>
          <a:xfrm>
            <a:off x="640080" y="36576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5</a:t>
            </a:r>
            <a:endParaRPr lang="en-US" sz="1800" dirty="0"/>
          </a:p>
        </p:txBody>
      </p:sp>
      <p:sp>
        <p:nvSpPr>
          <p:cNvPr id="13" name="Text 15">
            <a:extLst>
              <a:ext uri="{FF2B5EF4-FFF2-40B4-BE49-F238E27FC236}">
                <a16:creationId xmlns:a16="http://schemas.microsoft.com/office/drawing/2014/main" id="{BE023EB2-FE3A-847D-DA94-9C304322BB95}"/>
              </a:ext>
            </a:extLst>
          </p:cNvPr>
          <p:cNvSpPr/>
          <p:nvPr/>
        </p:nvSpPr>
        <p:spPr>
          <a:xfrm>
            <a:off x="1188720" y="36576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6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Developer tab will now appear in your ribbon</a:t>
            </a:r>
            <a:endParaRPr lang="en-US" sz="1600" dirty="0"/>
          </a:p>
        </p:txBody>
      </p:sp>
      <p:pic>
        <p:nvPicPr>
          <p:cNvPr id="14" name="Image 0">
            <a:extLst>
              <a:ext uri="{FF2B5EF4-FFF2-40B4-BE49-F238E27FC236}">
                <a16:creationId xmlns:a16="http://schemas.microsoft.com/office/drawing/2014/main" id="{2C26CFC9-5524-5DBF-E695-C2A6AAD6B74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0" y="4114800"/>
            <a:ext cx="640080" cy="6400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98919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>
          <a:extLst>
            <a:ext uri="{FF2B5EF4-FFF2-40B4-BE49-F238E27FC236}">
              <a16:creationId xmlns:a16="http://schemas.microsoft.com/office/drawing/2014/main" id="{C00264AE-CB86-A890-E82F-D4591272A5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6">
            <a:extLst>
              <a:ext uri="{FF2B5EF4-FFF2-40B4-BE49-F238E27FC236}">
                <a16:creationId xmlns:a16="http://schemas.microsoft.com/office/drawing/2014/main" id="{9910E4D0-89C3-37D3-AB04-FBB8BAC3E04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644847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 fontScale="90000"/>
          </a:bodyPr>
          <a:lstStyle/>
          <a:p>
            <a:r>
              <a:rPr lang="en-US" sz="4000" b="1" dirty="0">
                <a:solidFill>
                  <a:srgbClr val="1E2761"/>
                </a:solidFill>
                <a:latin typeface="Arial Black"/>
              </a:rPr>
              <a:t>Macro Security Settings</a:t>
            </a:r>
            <a:endParaRPr lang="en-US" sz="4000" dirty="0">
              <a:latin typeface="Arial Black"/>
            </a:endParaRPr>
          </a:p>
          <a:p>
            <a:pPr marL="0" lv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endParaRPr b="1" dirty="0"/>
          </a:p>
        </p:txBody>
      </p:sp>
      <p:sp>
        <p:nvSpPr>
          <p:cNvPr id="89" name="Google Shape;89;p6">
            <a:extLst>
              <a:ext uri="{FF2B5EF4-FFF2-40B4-BE49-F238E27FC236}">
                <a16:creationId xmlns:a16="http://schemas.microsoft.com/office/drawing/2014/main" id="{ECCB7992-4E8E-BD27-A742-7701D11255D3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SzPts val="900"/>
              <a:buNone/>
            </a:pPr>
            <a:endParaRPr sz="900"/>
          </a:p>
        </p:txBody>
      </p:sp>
      <p:sp>
        <p:nvSpPr>
          <p:cNvPr id="90" name="Google Shape;90;p6">
            <a:extLst>
              <a:ext uri="{FF2B5EF4-FFF2-40B4-BE49-F238E27FC236}">
                <a16:creationId xmlns:a16="http://schemas.microsoft.com/office/drawing/2014/main" id="{6905F37C-7E94-2E0F-E707-7EF29D33BACC}"/>
              </a:ext>
            </a:extLst>
          </p:cNvPr>
          <p:cNvSpPr txBox="1"/>
          <p:nvPr/>
        </p:nvSpPr>
        <p:spPr>
          <a:xfrm>
            <a:off x="311699" y="1218211"/>
            <a:ext cx="8520600" cy="34200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</a:pPr>
            <a:endParaRPr/>
          </a:p>
        </p:txBody>
      </p:sp>
      <p:sp>
        <p:nvSpPr>
          <p:cNvPr id="91" name="Google Shape;91;p6">
            <a:extLst>
              <a:ext uri="{FF2B5EF4-FFF2-40B4-BE49-F238E27FC236}">
                <a16:creationId xmlns:a16="http://schemas.microsoft.com/office/drawing/2014/main" id="{299EB63F-5CD0-5577-1975-D5AD59133A26}"/>
              </a:ext>
            </a:extLst>
          </p:cNvPr>
          <p:cNvSpPr/>
          <p:nvPr/>
        </p:nvSpPr>
        <p:spPr>
          <a:xfrm>
            <a:off x="311700" y="116515"/>
            <a:ext cx="4601662" cy="219808"/>
          </a:xfrm>
          <a:prstGeom prst="roundRect">
            <a:avLst>
              <a:gd name="adj" fmla="val 16667"/>
            </a:avLst>
          </a:prstGeom>
          <a:solidFill>
            <a:srgbClr val="00B05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" name="Google Shape;92;p6">
            <a:extLst>
              <a:ext uri="{FF2B5EF4-FFF2-40B4-BE49-F238E27FC236}">
                <a16:creationId xmlns:a16="http://schemas.microsoft.com/office/drawing/2014/main" id="{05303B3F-DD95-82F2-0A3C-864F9A7AC5D6}"/>
              </a:ext>
            </a:extLst>
          </p:cNvPr>
          <p:cNvSpPr/>
          <p:nvPr/>
        </p:nvSpPr>
        <p:spPr>
          <a:xfrm>
            <a:off x="4230638" y="4812031"/>
            <a:ext cx="4601662" cy="219808"/>
          </a:xfrm>
          <a:prstGeom prst="roundRect">
            <a:avLst>
              <a:gd name="adj" fmla="val 16667"/>
            </a:avLst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" name="Picture 1" descr="A logo with blue and green text&#10;&#10;AI-generated content may be incorrect.">
            <a:extLst>
              <a:ext uri="{FF2B5EF4-FFF2-40B4-BE49-F238E27FC236}">
                <a16:creationId xmlns:a16="http://schemas.microsoft.com/office/drawing/2014/main" id="{45BFC07D-E146-AA2C-425B-407364D361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53880" y="15346"/>
            <a:ext cx="1266825" cy="46672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9FD4326C-63FA-1F39-12E4-A0EDF09D0553}"/>
              </a:ext>
            </a:extLst>
          </p:cNvPr>
          <p:cNvSpPr txBox="1"/>
          <p:nvPr/>
        </p:nvSpPr>
        <p:spPr>
          <a:xfrm>
            <a:off x="179917" y="4804833"/>
            <a:ext cx="4572000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000" i="1">
                <a:solidFill>
                  <a:srgbClr val="595959"/>
                </a:solidFill>
                <a:latin typeface="Arial"/>
                <a:ea typeface="Arial"/>
                <a:cs typeface="Arial"/>
              </a:rPr>
              <a:t>© insanalytics</a:t>
            </a:r>
            <a:endParaRPr lang="en-US"/>
          </a:p>
          <a:p>
            <a:pPr algn="ctr"/>
            <a:endParaRPr lang="en-US"/>
          </a:p>
        </p:txBody>
      </p:sp>
      <p:pic>
        <p:nvPicPr>
          <p:cNvPr id="3" name="Image 0">
            <a:extLst>
              <a:ext uri="{FF2B5EF4-FFF2-40B4-BE49-F238E27FC236}">
                <a16:creationId xmlns:a16="http://schemas.microsoft.com/office/drawing/2014/main" id="{DCBE6E63-9D74-E293-0D9E-9A8D7E4D026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1188720"/>
            <a:ext cx="548640" cy="548640"/>
          </a:xfrm>
          <a:prstGeom prst="rect">
            <a:avLst/>
          </a:prstGeom>
        </p:spPr>
      </p:pic>
      <p:sp>
        <p:nvSpPr>
          <p:cNvPr id="5" name="Text 1">
            <a:extLst>
              <a:ext uri="{FF2B5EF4-FFF2-40B4-BE49-F238E27FC236}">
                <a16:creationId xmlns:a16="http://schemas.microsoft.com/office/drawing/2014/main" id="{2C5A46EA-54AE-EB58-F4E8-69929451AD0E}"/>
              </a:ext>
            </a:extLst>
          </p:cNvPr>
          <p:cNvSpPr/>
          <p:nvPr/>
        </p:nvSpPr>
        <p:spPr>
          <a:xfrm>
            <a:off x="1280160" y="1280160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8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Developer Tab → Macro Security</a:t>
            </a:r>
            <a:endParaRPr lang="en-US" sz="1800" dirty="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8E559594-50CE-51D2-8F26-62AB9A0A94FC}"/>
              </a:ext>
            </a:extLst>
          </p:cNvPr>
          <p:cNvSpPr/>
          <p:nvPr/>
        </p:nvSpPr>
        <p:spPr>
          <a:xfrm>
            <a:off x="822960" y="201168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Disable all macros without notification</a:t>
            </a:r>
            <a:endParaRPr lang="en-US" sz="1400" dirty="0"/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FA08D176-FDBC-62E7-D69D-C9D3F2D44DA9}"/>
              </a:ext>
            </a:extLst>
          </p:cNvPr>
          <p:cNvSpPr/>
          <p:nvPr/>
        </p:nvSpPr>
        <p:spPr>
          <a:xfrm>
            <a:off x="822960" y="2240280"/>
            <a:ext cx="5486400" cy="18288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Most secure</a:t>
            </a:r>
            <a:endParaRPr lang="en-US" sz="1100" dirty="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1DC71947-1C2A-8624-A53B-D59106EA082E}"/>
              </a:ext>
            </a:extLst>
          </p:cNvPr>
          <p:cNvSpPr/>
          <p:nvPr/>
        </p:nvSpPr>
        <p:spPr>
          <a:xfrm>
            <a:off x="822960" y="260604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Disable all macros with notification</a:t>
            </a:r>
            <a:endParaRPr lang="en-US" sz="1400" dirty="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B134969C-69B2-F4DE-8A18-9CD41C11B202}"/>
              </a:ext>
            </a:extLst>
          </p:cNvPr>
          <p:cNvSpPr/>
          <p:nvPr/>
        </p:nvSpPr>
        <p:spPr>
          <a:xfrm>
            <a:off x="822960" y="2834640"/>
            <a:ext cx="5486400" cy="18288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Recommended</a:t>
            </a:r>
            <a:endParaRPr lang="en-US" sz="1100" dirty="0"/>
          </a:p>
        </p:txBody>
      </p:sp>
      <p:sp>
        <p:nvSpPr>
          <p:cNvPr id="10" name="Text 9">
            <a:extLst>
              <a:ext uri="{FF2B5EF4-FFF2-40B4-BE49-F238E27FC236}">
                <a16:creationId xmlns:a16="http://schemas.microsoft.com/office/drawing/2014/main" id="{3B2917BA-1528-98E5-E86A-EF843E9B6650}"/>
              </a:ext>
            </a:extLst>
          </p:cNvPr>
          <p:cNvSpPr/>
          <p:nvPr/>
        </p:nvSpPr>
        <p:spPr>
          <a:xfrm>
            <a:off x="822960" y="320040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Disable all except digitally signed macros</a:t>
            </a:r>
            <a:endParaRPr lang="en-US" sz="1400" dirty="0"/>
          </a:p>
        </p:txBody>
      </p:sp>
      <p:sp>
        <p:nvSpPr>
          <p:cNvPr id="11" name="Text 10">
            <a:extLst>
              <a:ext uri="{FF2B5EF4-FFF2-40B4-BE49-F238E27FC236}">
                <a16:creationId xmlns:a16="http://schemas.microsoft.com/office/drawing/2014/main" id="{92EB716D-9D9E-030E-245D-27BACACEEB3B}"/>
              </a:ext>
            </a:extLst>
          </p:cNvPr>
          <p:cNvSpPr/>
          <p:nvPr/>
        </p:nvSpPr>
        <p:spPr>
          <a:xfrm>
            <a:off x="822960" y="3429000"/>
            <a:ext cx="5486400" cy="18288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Moderate</a:t>
            </a:r>
            <a:endParaRPr lang="en-US" sz="1100" dirty="0"/>
          </a:p>
        </p:txBody>
      </p:sp>
      <p:sp>
        <p:nvSpPr>
          <p:cNvPr id="12" name="Text 12">
            <a:extLst>
              <a:ext uri="{FF2B5EF4-FFF2-40B4-BE49-F238E27FC236}">
                <a16:creationId xmlns:a16="http://schemas.microsoft.com/office/drawing/2014/main" id="{C87EAD22-2168-4E8E-0576-77BB0FFA1E0E}"/>
              </a:ext>
            </a:extLst>
          </p:cNvPr>
          <p:cNvSpPr/>
          <p:nvPr/>
        </p:nvSpPr>
        <p:spPr>
          <a:xfrm>
            <a:off x="822960" y="379476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Enable all macros (not recommended)</a:t>
            </a:r>
            <a:endParaRPr lang="en-US" sz="1400" dirty="0"/>
          </a:p>
        </p:txBody>
      </p:sp>
      <p:sp>
        <p:nvSpPr>
          <p:cNvPr id="13" name="Text 13">
            <a:extLst>
              <a:ext uri="{FF2B5EF4-FFF2-40B4-BE49-F238E27FC236}">
                <a16:creationId xmlns:a16="http://schemas.microsoft.com/office/drawing/2014/main" id="{3F341C35-7F81-1678-EB68-001C776B82C7}"/>
              </a:ext>
            </a:extLst>
          </p:cNvPr>
          <p:cNvSpPr/>
          <p:nvPr/>
        </p:nvSpPr>
        <p:spPr>
          <a:xfrm>
            <a:off x="822960" y="4023360"/>
            <a:ext cx="5486400" cy="18288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 risk</a:t>
            </a:r>
            <a:endParaRPr lang="en-US" sz="1100" dirty="0"/>
          </a:p>
        </p:txBody>
      </p:sp>
      <p:pic>
        <p:nvPicPr>
          <p:cNvPr id="14" name="Image 1">
            <a:extLst>
              <a:ext uri="{FF2B5EF4-FFF2-40B4-BE49-F238E27FC236}">
                <a16:creationId xmlns:a16="http://schemas.microsoft.com/office/drawing/2014/main" id="{DB823365-77C9-2FA7-F587-4095684C899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5200" y="2194560"/>
            <a:ext cx="640080" cy="640080"/>
          </a:xfrm>
          <a:prstGeom prst="rect">
            <a:avLst/>
          </a:prstGeom>
        </p:spPr>
      </p:pic>
      <p:sp>
        <p:nvSpPr>
          <p:cNvPr id="15" name="Text 15">
            <a:extLst>
              <a:ext uri="{FF2B5EF4-FFF2-40B4-BE49-F238E27FC236}">
                <a16:creationId xmlns:a16="http://schemas.microsoft.com/office/drawing/2014/main" id="{CC934762-7801-4F53-0244-9C8939C5D807}"/>
              </a:ext>
            </a:extLst>
          </p:cNvPr>
          <p:cNvSpPr/>
          <p:nvPr/>
        </p:nvSpPr>
        <p:spPr>
          <a:xfrm>
            <a:off x="6675120" y="2926080"/>
            <a:ext cx="1920240" cy="137160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Always scan macros from unknown sources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Only enable macros from trusted files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40745408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>
          <a:extLst>
            <a:ext uri="{FF2B5EF4-FFF2-40B4-BE49-F238E27FC236}">
              <a16:creationId xmlns:a16="http://schemas.microsoft.com/office/drawing/2014/main" id="{9FB96E9B-E6B3-05C9-6F98-BEFFAE1A45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6">
            <a:extLst>
              <a:ext uri="{FF2B5EF4-FFF2-40B4-BE49-F238E27FC236}">
                <a16:creationId xmlns:a16="http://schemas.microsoft.com/office/drawing/2014/main" id="{294BD9F1-4B40-A399-2582-5003AC61798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71893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 fontScale="90000"/>
          </a:bodyPr>
          <a:lstStyle/>
          <a:p>
            <a:r>
              <a:rPr lang="en-US" sz="4000" b="1" dirty="0">
                <a:solidFill>
                  <a:srgbClr val="1E2761"/>
                </a:solidFill>
                <a:latin typeface="Arial Black"/>
              </a:rPr>
              <a:t>Recording Your First Macro</a:t>
            </a:r>
            <a:endParaRPr lang="en-US" sz="4000" dirty="0">
              <a:latin typeface="Arial Black"/>
            </a:endParaRPr>
          </a:p>
          <a:p>
            <a:pPr marL="0" lv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endParaRPr b="1" dirty="0"/>
          </a:p>
        </p:txBody>
      </p:sp>
      <p:sp>
        <p:nvSpPr>
          <p:cNvPr id="89" name="Google Shape;89;p6">
            <a:extLst>
              <a:ext uri="{FF2B5EF4-FFF2-40B4-BE49-F238E27FC236}">
                <a16:creationId xmlns:a16="http://schemas.microsoft.com/office/drawing/2014/main" id="{4F6944A9-02BB-5A93-8888-F4E8B46E85BC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SzPts val="900"/>
              <a:buNone/>
            </a:pPr>
            <a:endParaRPr sz="900"/>
          </a:p>
        </p:txBody>
      </p:sp>
      <p:sp>
        <p:nvSpPr>
          <p:cNvPr id="91" name="Google Shape;91;p6">
            <a:extLst>
              <a:ext uri="{FF2B5EF4-FFF2-40B4-BE49-F238E27FC236}">
                <a16:creationId xmlns:a16="http://schemas.microsoft.com/office/drawing/2014/main" id="{E03D3DD7-083E-5572-6157-4E8A04AB3E10}"/>
              </a:ext>
            </a:extLst>
          </p:cNvPr>
          <p:cNvSpPr/>
          <p:nvPr/>
        </p:nvSpPr>
        <p:spPr>
          <a:xfrm>
            <a:off x="311700" y="116515"/>
            <a:ext cx="4601662" cy="219808"/>
          </a:xfrm>
          <a:prstGeom prst="roundRect">
            <a:avLst>
              <a:gd name="adj" fmla="val 16667"/>
            </a:avLst>
          </a:prstGeom>
          <a:solidFill>
            <a:srgbClr val="00B05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" name="Google Shape;92;p6">
            <a:extLst>
              <a:ext uri="{FF2B5EF4-FFF2-40B4-BE49-F238E27FC236}">
                <a16:creationId xmlns:a16="http://schemas.microsoft.com/office/drawing/2014/main" id="{B98AB8CF-95F5-6E70-79BF-8234158A186C}"/>
              </a:ext>
            </a:extLst>
          </p:cNvPr>
          <p:cNvSpPr/>
          <p:nvPr/>
        </p:nvSpPr>
        <p:spPr>
          <a:xfrm>
            <a:off x="4230638" y="4812031"/>
            <a:ext cx="4601662" cy="219808"/>
          </a:xfrm>
          <a:prstGeom prst="roundRect">
            <a:avLst>
              <a:gd name="adj" fmla="val 16667"/>
            </a:avLst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" name="Picture 1" descr="A logo with blue and green text&#10;&#10;AI-generated content may be incorrect.">
            <a:extLst>
              <a:ext uri="{FF2B5EF4-FFF2-40B4-BE49-F238E27FC236}">
                <a16:creationId xmlns:a16="http://schemas.microsoft.com/office/drawing/2014/main" id="{3D83B11D-9AE8-541C-6407-956C74661A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53880" y="15346"/>
            <a:ext cx="1266825" cy="46672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F771B629-C12A-8BD8-3AC2-51D2B080A6FB}"/>
              </a:ext>
            </a:extLst>
          </p:cNvPr>
          <p:cNvSpPr txBox="1"/>
          <p:nvPr/>
        </p:nvSpPr>
        <p:spPr>
          <a:xfrm>
            <a:off x="179917" y="4804833"/>
            <a:ext cx="4572000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000" i="1">
                <a:solidFill>
                  <a:srgbClr val="595959"/>
                </a:solidFill>
                <a:latin typeface="Arial"/>
                <a:ea typeface="Arial"/>
                <a:cs typeface="Arial"/>
              </a:rPr>
              <a:t>© insanalytics</a:t>
            </a:r>
            <a:endParaRPr lang="en-US"/>
          </a:p>
          <a:p>
            <a:pPr algn="ctr"/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752BC27E-9D8D-5AC9-87D7-DF9B852C0E2A}"/>
              </a:ext>
            </a:extLst>
          </p:cNvPr>
          <p:cNvSpPr/>
          <p:nvPr/>
        </p:nvSpPr>
        <p:spPr>
          <a:xfrm>
            <a:off x="457200" y="1148715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4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Macro Recorder captures your actions and converts them to VBA code</a:t>
            </a:r>
            <a:endParaRPr lang="en-US" sz="1400" dirty="0"/>
          </a:p>
        </p:txBody>
      </p:sp>
      <p:sp>
        <p:nvSpPr>
          <p:cNvPr id="5" name="Text 5">
            <a:extLst>
              <a:ext uri="{FF2B5EF4-FFF2-40B4-BE49-F238E27FC236}">
                <a16:creationId xmlns:a16="http://schemas.microsoft.com/office/drawing/2014/main" id="{A5456F02-48F2-E3AB-2C08-4990BBF1526F}"/>
              </a:ext>
            </a:extLst>
          </p:cNvPr>
          <p:cNvSpPr/>
          <p:nvPr/>
        </p:nvSpPr>
        <p:spPr>
          <a:xfrm>
            <a:off x="1543897" y="153775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1</a:t>
            </a:r>
            <a:endParaRPr lang="en-US" sz="2000" dirty="0"/>
          </a:p>
        </p:txBody>
      </p:sp>
      <p:sp>
        <p:nvSpPr>
          <p:cNvPr id="6" name="Text 6">
            <a:extLst>
              <a:ext uri="{FF2B5EF4-FFF2-40B4-BE49-F238E27FC236}">
                <a16:creationId xmlns:a16="http://schemas.microsoft.com/office/drawing/2014/main" id="{70897C58-98F1-A89D-2228-73664B0F6E31}"/>
              </a:ext>
            </a:extLst>
          </p:cNvPr>
          <p:cNvSpPr/>
          <p:nvPr/>
        </p:nvSpPr>
        <p:spPr>
          <a:xfrm>
            <a:off x="629497" y="2132118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6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 Recording</a:t>
            </a:r>
            <a:endParaRPr lang="en-US" sz="1600" dirty="0"/>
          </a:p>
        </p:txBody>
      </p:sp>
      <p:sp>
        <p:nvSpPr>
          <p:cNvPr id="7" name="Text 7">
            <a:extLst>
              <a:ext uri="{FF2B5EF4-FFF2-40B4-BE49-F238E27FC236}">
                <a16:creationId xmlns:a16="http://schemas.microsoft.com/office/drawing/2014/main" id="{B5682726-B3E6-52E4-17AA-989A08F361FA}"/>
              </a:ext>
            </a:extLst>
          </p:cNvPr>
          <p:cNvSpPr/>
          <p:nvPr/>
        </p:nvSpPr>
        <p:spPr>
          <a:xfrm>
            <a:off x="629497" y="245215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200" i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Developer → Record Macro</a:t>
            </a:r>
            <a:endParaRPr lang="en-US" sz="1200" dirty="0"/>
          </a:p>
        </p:txBody>
      </p:sp>
      <p:sp>
        <p:nvSpPr>
          <p:cNvPr id="8" name="Text 8">
            <a:extLst>
              <a:ext uri="{FF2B5EF4-FFF2-40B4-BE49-F238E27FC236}">
                <a16:creationId xmlns:a16="http://schemas.microsoft.com/office/drawing/2014/main" id="{DF3C9231-5E76-FB99-8416-ADAF5606CABC}"/>
              </a:ext>
            </a:extLst>
          </p:cNvPr>
          <p:cNvSpPr/>
          <p:nvPr/>
        </p:nvSpPr>
        <p:spPr>
          <a:xfrm>
            <a:off x="629497" y="2817918"/>
            <a:ext cx="2286000" cy="82296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Give your macro a name (no spaces) and optionally assign a shortcut key</a:t>
            </a:r>
            <a:endParaRPr lang="en-US" sz="1100" dirty="0"/>
          </a:p>
        </p:txBody>
      </p:sp>
      <p:sp>
        <p:nvSpPr>
          <p:cNvPr id="9" name="Text 12">
            <a:extLst>
              <a:ext uri="{FF2B5EF4-FFF2-40B4-BE49-F238E27FC236}">
                <a16:creationId xmlns:a16="http://schemas.microsoft.com/office/drawing/2014/main" id="{91C0C729-D11C-A479-9CCF-04FC8BD1E710}"/>
              </a:ext>
            </a:extLst>
          </p:cNvPr>
          <p:cNvSpPr/>
          <p:nvPr/>
        </p:nvSpPr>
        <p:spPr>
          <a:xfrm>
            <a:off x="4424257" y="153775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2</a:t>
            </a:r>
            <a:endParaRPr lang="en-US" sz="2000" dirty="0"/>
          </a:p>
        </p:txBody>
      </p:sp>
      <p:sp>
        <p:nvSpPr>
          <p:cNvPr id="10" name="Text 13">
            <a:extLst>
              <a:ext uri="{FF2B5EF4-FFF2-40B4-BE49-F238E27FC236}">
                <a16:creationId xmlns:a16="http://schemas.microsoft.com/office/drawing/2014/main" id="{7E729461-93D5-E911-B795-59F7FB72860B}"/>
              </a:ext>
            </a:extLst>
          </p:cNvPr>
          <p:cNvSpPr/>
          <p:nvPr/>
        </p:nvSpPr>
        <p:spPr>
          <a:xfrm>
            <a:off x="3509857" y="2132118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6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Perform Actions</a:t>
            </a:r>
            <a:endParaRPr lang="en-US" sz="1600" dirty="0"/>
          </a:p>
        </p:txBody>
      </p:sp>
      <p:sp>
        <p:nvSpPr>
          <p:cNvPr id="11" name="Text 14">
            <a:extLst>
              <a:ext uri="{FF2B5EF4-FFF2-40B4-BE49-F238E27FC236}">
                <a16:creationId xmlns:a16="http://schemas.microsoft.com/office/drawing/2014/main" id="{3FA0E7EF-C609-8A00-E727-BA4BDC03841B}"/>
              </a:ext>
            </a:extLst>
          </p:cNvPr>
          <p:cNvSpPr/>
          <p:nvPr/>
        </p:nvSpPr>
        <p:spPr>
          <a:xfrm>
            <a:off x="3509857" y="245215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200" i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 what you want to automate</a:t>
            </a:r>
            <a:endParaRPr lang="en-US" sz="1200" dirty="0"/>
          </a:p>
        </p:txBody>
      </p:sp>
      <p:sp>
        <p:nvSpPr>
          <p:cNvPr id="12" name="Text 15">
            <a:extLst>
              <a:ext uri="{FF2B5EF4-FFF2-40B4-BE49-F238E27FC236}">
                <a16:creationId xmlns:a16="http://schemas.microsoft.com/office/drawing/2014/main" id="{38F5C61D-2820-2DB7-ACD5-F096D41E831D}"/>
              </a:ext>
            </a:extLst>
          </p:cNvPr>
          <p:cNvSpPr/>
          <p:nvPr/>
        </p:nvSpPr>
        <p:spPr>
          <a:xfrm>
            <a:off x="3509857" y="2817918"/>
            <a:ext cx="2286000" cy="82296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Excel records every click, keystroke, and command you execute</a:t>
            </a:r>
            <a:endParaRPr lang="en-US" sz="1100" dirty="0"/>
          </a:p>
        </p:txBody>
      </p:sp>
      <p:sp>
        <p:nvSpPr>
          <p:cNvPr id="13" name="Text 19">
            <a:extLst>
              <a:ext uri="{FF2B5EF4-FFF2-40B4-BE49-F238E27FC236}">
                <a16:creationId xmlns:a16="http://schemas.microsoft.com/office/drawing/2014/main" id="{CB125843-667C-DA5A-F3B9-FF42B5031DF7}"/>
              </a:ext>
            </a:extLst>
          </p:cNvPr>
          <p:cNvSpPr/>
          <p:nvPr/>
        </p:nvSpPr>
        <p:spPr>
          <a:xfrm>
            <a:off x="7304617" y="153775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3</a:t>
            </a:r>
            <a:endParaRPr lang="en-US" sz="2000" dirty="0"/>
          </a:p>
        </p:txBody>
      </p:sp>
      <p:sp>
        <p:nvSpPr>
          <p:cNvPr id="14" name="Text 20">
            <a:extLst>
              <a:ext uri="{FF2B5EF4-FFF2-40B4-BE49-F238E27FC236}">
                <a16:creationId xmlns:a16="http://schemas.microsoft.com/office/drawing/2014/main" id="{D09D1C7B-5FA0-A1A5-66ED-14DD606D2201}"/>
              </a:ext>
            </a:extLst>
          </p:cNvPr>
          <p:cNvSpPr/>
          <p:nvPr/>
        </p:nvSpPr>
        <p:spPr>
          <a:xfrm>
            <a:off x="6390217" y="2132118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6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Stop Recording</a:t>
            </a:r>
            <a:endParaRPr lang="en-US" sz="1600" dirty="0"/>
          </a:p>
        </p:txBody>
      </p:sp>
      <p:sp>
        <p:nvSpPr>
          <p:cNvPr id="15" name="Text 21">
            <a:extLst>
              <a:ext uri="{FF2B5EF4-FFF2-40B4-BE49-F238E27FC236}">
                <a16:creationId xmlns:a16="http://schemas.microsoft.com/office/drawing/2014/main" id="{F2F06D3A-5D82-8B78-2E17-ECB1CBA43DC1}"/>
              </a:ext>
            </a:extLst>
          </p:cNvPr>
          <p:cNvSpPr/>
          <p:nvPr/>
        </p:nvSpPr>
        <p:spPr>
          <a:xfrm>
            <a:off x="6390217" y="245215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200" i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Developer → Stop Recording</a:t>
            </a:r>
            <a:endParaRPr lang="en-US" sz="1200" dirty="0"/>
          </a:p>
        </p:txBody>
      </p:sp>
      <p:sp>
        <p:nvSpPr>
          <p:cNvPr id="16" name="Text 22">
            <a:extLst>
              <a:ext uri="{FF2B5EF4-FFF2-40B4-BE49-F238E27FC236}">
                <a16:creationId xmlns:a16="http://schemas.microsoft.com/office/drawing/2014/main" id="{AC9D417F-E7FD-B7CE-05F0-A991DF72E25E}"/>
              </a:ext>
            </a:extLst>
          </p:cNvPr>
          <p:cNvSpPr/>
          <p:nvPr/>
        </p:nvSpPr>
        <p:spPr>
          <a:xfrm>
            <a:off x="6390217" y="2817918"/>
            <a:ext cx="2286000" cy="82296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macro is now saved and ready to use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6594210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>
          <a:extLst>
            <a:ext uri="{FF2B5EF4-FFF2-40B4-BE49-F238E27FC236}">
              <a16:creationId xmlns:a16="http://schemas.microsoft.com/office/drawing/2014/main" id="{E3C7B140-E838-2509-2FD0-2DC1D5BDA0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6">
            <a:extLst>
              <a:ext uri="{FF2B5EF4-FFF2-40B4-BE49-F238E27FC236}">
                <a16:creationId xmlns:a16="http://schemas.microsoft.com/office/drawing/2014/main" id="{CBF7F214-22D4-6C58-2D3D-91B279614F7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713639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US" sz="3200" b="1" dirty="0">
                <a:solidFill>
                  <a:srgbClr val="1E2761"/>
                </a:solidFill>
                <a:latin typeface="Arial Black"/>
              </a:rPr>
              <a:t>Example: Simple Formatting Macro</a:t>
            </a:r>
            <a:endParaRPr lang="en-US" sz="3200" dirty="0">
              <a:latin typeface="Arial Black"/>
            </a:endParaRPr>
          </a:p>
          <a:p>
            <a:pPr marL="0" lv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endParaRPr b="1" dirty="0"/>
          </a:p>
        </p:txBody>
      </p:sp>
      <p:sp>
        <p:nvSpPr>
          <p:cNvPr id="89" name="Google Shape;89;p6">
            <a:extLst>
              <a:ext uri="{FF2B5EF4-FFF2-40B4-BE49-F238E27FC236}">
                <a16:creationId xmlns:a16="http://schemas.microsoft.com/office/drawing/2014/main" id="{9E6DF569-1B1B-B0DF-87A0-6265A3C6D7C0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SzPts val="900"/>
              <a:buNone/>
            </a:pPr>
            <a:endParaRPr sz="900"/>
          </a:p>
        </p:txBody>
      </p:sp>
      <p:sp>
        <p:nvSpPr>
          <p:cNvPr id="90" name="Google Shape;90;p6">
            <a:extLst>
              <a:ext uri="{FF2B5EF4-FFF2-40B4-BE49-F238E27FC236}">
                <a16:creationId xmlns:a16="http://schemas.microsoft.com/office/drawing/2014/main" id="{2FFB72CA-EF10-8299-BB85-1E654FE77A7C}"/>
              </a:ext>
            </a:extLst>
          </p:cNvPr>
          <p:cNvSpPr txBox="1"/>
          <p:nvPr/>
        </p:nvSpPr>
        <p:spPr>
          <a:xfrm>
            <a:off x="311699" y="1218211"/>
            <a:ext cx="8520600" cy="34200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</a:pPr>
            <a:endParaRPr/>
          </a:p>
        </p:txBody>
      </p:sp>
      <p:sp>
        <p:nvSpPr>
          <p:cNvPr id="91" name="Google Shape;91;p6">
            <a:extLst>
              <a:ext uri="{FF2B5EF4-FFF2-40B4-BE49-F238E27FC236}">
                <a16:creationId xmlns:a16="http://schemas.microsoft.com/office/drawing/2014/main" id="{9DBF3CA5-8CC0-A2E9-8DBB-26A79F47F6F4}"/>
              </a:ext>
            </a:extLst>
          </p:cNvPr>
          <p:cNvSpPr/>
          <p:nvPr/>
        </p:nvSpPr>
        <p:spPr>
          <a:xfrm>
            <a:off x="311700" y="116515"/>
            <a:ext cx="4601662" cy="219808"/>
          </a:xfrm>
          <a:prstGeom prst="roundRect">
            <a:avLst>
              <a:gd name="adj" fmla="val 16667"/>
            </a:avLst>
          </a:prstGeom>
          <a:solidFill>
            <a:srgbClr val="00B05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" name="Google Shape;92;p6">
            <a:extLst>
              <a:ext uri="{FF2B5EF4-FFF2-40B4-BE49-F238E27FC236}">
                <a16:creationId xmlns:a16="http://schemas.microsoft.com/office/drawing/2014/main" id="{523DD78A-963D-A7AA-FCB6-40494BC28A9F}"/>
              </a:ext>
            </a:extLst>
          </p:cNvPr>
          <p:cNvSpPr/>
          <p:nvPr/>
        </p:nvSpPr>
        <p:spPr>
          <a:xfrm>
            <a:off x="4230638" y="4812031"/>
            <a:ext cx="4601662" cy="219808"/>
          </a:xfrm>
          <a:prstGeom prst="roundRect">
            <a:avLst>
              <a:gd name="adj" fmla="val 16667"/>
            </a:avLst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" name="Picture 1" descr="A logo with blue and green text&#10;&#10;AI-generated content may be incorrect.">
            <a:extLst>
              <a:ext uri="{FF2B5EF4-FFF2-40B4-BE49-F238E27FC236}">
                <a16:creationId xmlns:a16="http://schemas.microsoft.com/office/drawing/2014/main" id="{8238C254-3BAC-5F95-947F-F86E5ED609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53880" y="15346"/>
            <a:ext cx="1266825" cy="46672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AA786DE1-8547-7141-8EA1-6CFD61F415F6}"/>
              </a:ext>
            </a:extLst>
          </p:cNvPr>
          <p:cNvSpPr txBox="1"/>
          <p:nvPr/>
        </p:nvSpPr>
        <p:spPr>
          <a:xfrm>
            <a:off x="179917" y="4804833"/>
            <a:ext cx="4572000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000" i="1">
                <a:solidFill>
                  <a:srgbClr val="595959"/>
                </a:solidFill>
                <a:latin typeface="Arial"/>
                <a:ea typeface="Arial"/>
                <a:cs typeface="Arial"/>
              </a:rPr>
              <a:t>© insanalytics</a:t>
            </a:r>
            <a:endParaRPr lang="en-US"/>
          </a:p>
          <a:p>
            <a:pPr algn="ctr"/>
            <a:endParaRPr lang="en-US"/>
          </a:p>
        </p:txBody>
      </p:sp>
      <p:pic>
        <p:nvPicPr>
          <p:cNvPr id="3" name="Image 0">
            <a:extLst>
              <a:ext uri="{FF2B5EF4-FFF2-40B4-BE49-F238E27FC236}">
                <a16:creationId xmlns:a16="http://schemas.microsoft.com/office/drawing/2014/main" id="{5C41E602-E48D-ABFC-7166-822873F6841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1371600"/>
            <a:ext cx="457200" cy="457200"/>
          </a:xfrm>
          <a:prstGeom prst="rect">
            <a:avLst/>
          </a:prstGeom>
        </p:spPr>
      </p:pic>
      <p:sp>
        <p:nvSpPr>
          <p:cNvPr id="5" name="Text 2">
            <a:extLst>
              <a:ext uri="{FF2B5EF4-FFF2-40B4-BE49-F238E27FC236}">
                <a16:creationId xmlns:a16="http://schemas.microsoft.com/office/drawing/2014/main" id="{A081E299-3441-6511-D75D-ACF3CB2B64A2}"/>
              </a:ext>
            </a:extLst>
          </p:cNvPr>
          <p:cNvSpPr/>
          <p:nvPr/>
        </p:nvSpPr>
        <p:spPr>
          <a:xfrm>
            <a:off x="1280160" y="132588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Task: Format selected cells</a:t>
            </a:r>
            <a:endParaRPr lang="en-US" sz="1600" dirty="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DD3A30A9-EFF3-9E32-2180-91A46C87D422}"/>
              </a:ext>
            </a:extLst>
          </p:cNvPr>
          <p:cNvSpPr/>
          <p:nvPr/>
        </p:nvSpPr>
        <p:spPr>
          <a:xfrm>
            <a:off x="1280160" y="1691640"/>
            <a:ext cx="2926080" cy="54864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SzPct val="100000"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Bold text</a:t>
            </a:r>
            <a:endParaRPr lang="en-US" sz="1200" dirty="0">
              <a:ea typeface="Calibri" panose="020F0502020204030204"/>
              <a:cs typeface="Calibri" panose="020F0502020204030204"/>
            </a:endParaRPr>
          </a:p>
          <a:p>
            <a:pPr>
              <a:buSzPct val="100000"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Yellow background</a:t>
            </a:r>
            <a:endParaRPr lang="en-US" sz="1200" dirty="0">
              <a:ea typeface="Calibri" panose="020F0502020204030204"/>
              <a:cs typeface="Calibri" panose="020F0502020204030204"/>
            </a:endParaRPr>
          </a:p>
          <a:p>
            <a:pPr>
              <a:buSzPct val="100000"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Border around cells</a:t>
            </a:r>
            <a:endParaRPr lang="en-US" sz="1200" dirty="0">
              <a:ea typeface="Calibri" panose="020F0502020204030204"/>
              <a:cs typeface="Calibri" panose="020F0502020204030204"/>
            </a:endParaRPr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C07918B7-6487-FB48-958E-6C73B75F0515}"/>
              </a:ext>
            </a:extLst>
          </p:cNvPr>
          <p:cNvSpPr/>
          <p:nvPr/>
        </p:nvSpPr>
        <p:spPr>
          <a:xfrm>
            <a:off x="4572000" y="1326303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Recorded VBA Code:</a:t>
            </a:r>
            <a:endParaRPr lang="en-US" sz="1400" dirty="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843A49BD-6213-2940-A463-54416A0F1CEA}"/>
              </a:ext>
            </a:extLst>
          </p:cNvPr>
          <p:cNvSpPr/>
          <p:nvPr/>
        </p:nvSpPr>
        <p:spPr>
          <a:xfrm>
            <a:off x="4643755" y="998432"/>
            <a:ext cx="3749040" cy="274320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Sub FormatCells()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Selection.Font.Bold = True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Selection.Interior.Color = RGB(255, 255, 0)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Selection.Borders.LineStyle = xlContinuous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End Sub</a:t>
            </a:r>
            <a:endParaRPr lang="en-US" sz="1100" dirty="0"/>
          </a:p>
        </p:txBody>
      </p:sp>
      <p:pic>
        <p:nvPicPr>
          <p:cNvPr id="9" name="Image 1">
            <a:extLst>
              <a:ext uri="{FF2B5EF4-FFF2-40B4-BE49-F238E27FC236}">
                <a16:creationId xmlns:a16="http://schemas.microsoft.com/office/drawing/2014/main" id="{792367BF-4338-6D5D-DE1A-939F9A89AE1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" y="2697480"/>
            <a:ext cx="365760" cy="365760"/>
          </a:xfrm>
          <a:prstGeom prst="rect">
            <a:avLst/>
          </a:prstGeom>
        </p:spPr>
      </p:pic>
      <p:sp>
        <p:nvSpPr>
          <p:cNvPr id="10" name="Text 8">
            <a:extLst>
              <a:ext uri="{FF2B5EF4-FFF2-40B4-BE49-F238E27FC236}">
                <a16:creationId xmlns:a16="http://schemas.microsoft.com/office/drawing/2014/main" id="{9145E232-7B85-EC80-F6E9-F5C57CBDC8B7}"/>
              </a:ext>
            </a:extLst>
          </p:cNvPr>
          <p:cNvSpPr/>
          <p:nvPr/>
        </p:nvSpPr>
        <p:spPr>
          <a:xfrm>
            <a:off x="1188720" y="2651760"/>
            <a:ext cx="3017520" cy="22860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3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 Run:</a:t>
            </a:r>
            <a:endParaRPr lang="en-US" sz="1300" dirty="0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A0252677-A2E2-BDD7-FA44-4DF175BFB9A4}"/>
              </a:ext>
            </a:extLst>
          </p:cNvPr>
          <p:cNvSpPr/>
          <p:nvPr/>
        </p:nvSpPr>
        <p:spPr>
          <a:xfrm>
            <a:off x="1188720" y="292608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Developer → Macros → Select 'FormatCells' → Run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375933768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>
          <a:extLst>
            <a:ext uri="{FF2B5EF4-FFF2-40B4-BE49-F238E27FC236}">
              <a16:creationId xmlns:a16="http://schemas.microsoft.com/office/drawing/2014/main" id="{3FB5BD79-7863-B9B4-0103-FCE6877181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6">
            <a:extLst>
              <a:ext uri="{FF2B5EF4-FFF2-40B4-BE49-F238E27FC236}">
                <a16:creationId xmlns:a16="http://schemas.microsoft.com/office/drawing/2014/main" id="{752284D5-564A-16DA-6280-4B52BA6B91D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644847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 fontScale="90000"/>
          </a:bodyPr>
          <a:lstStyle/>
          <a:p>
            <a:r>
              <a:rPr lang="en-US" sz="4000" b="1" dirty="0">
                <a:solidFill>
                  <a:srgbClr val="1E2761"/>
                </a:solidFill>
                <a:latin typeface="Arial Black"/>
              </a:rPr>
              <a:t>Understanding VBA Basics</a:t>
            </a:r>
            <a:endParaRPr lang="en-US" sz="4000" dirty="0">
              <a:latin typeface="Arial Black"/>
            </a:endParaRPr>
          </a:p>
          <a:p>
            <a:pPr marL="0" lv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endParaRPr b="1" dirty="0"/>
          </a:p>
        </p:txBody>
      </p:sp>
      <p:sp>
        <p:nvSpPr>
          <p:cNvPr id="89" name="Google Shape;89;p6">
            <a:extLst>
              <a:ext uri="{FF2B5EF4-FFF2-40B4-BE49-F238E27FC236}">
                <a16:creationId xmlns:a16="http://schemas.microsoft.com/office/drawing/2014/main" id="{AEE543A8-1A6C-FB38-9873-DA0699597D58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SzPts val="900"/>
              <a:buNone/>
            </a:pPr>
            <a:endParaRPr sz="900"/>
          </a:p>
        </p:txBody>
      </p:sp>
      <p:sp>
        <p:nvSpPr>
          <p:cNvPr id="91" name="Google Shape;91;p6">
            <a:extLst>
              <a:ext uri="{FF2B5EF4-FFF2-40B4-BE49-F238E27FC236}">
                <a16:creationId xmlns:a16="http://schemas.microsoft.com/office/drawing/2014/main" id="{24B44AEA-5026-4685-65C9-49BF0D009328}"/>
              </a:ext>
            </a:extLst>
          </p:cNvPr>
          <p:cNvSpPr/>
          <p:nvPr/>
        </p:nvSpPr>
        <p:spPr>
          <a:xfrm>
            <a:off x="311700" y="116515"/>
            <a:ext cx="4601662" cy="219808"/>
          </a:xfrm>
          <a:prstGeom prst="roundRect">
            <a:avLst>
              <a:gd name="adj" fmla="val 16667"/>
            </a:avLst>
          </a:prstGeom>
          <a:solidFill>
            <a:srgbClr val="00B05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" name="Google Shape;92;p6">
            <a:extLst>
              <a:ext uri="{FF2B5EF4-FFF2-40B4-BE49-F238E27FC236}">
                <a16:creationId xmlns:a16="http://schemas.microsoft.com/office/drawing/2014/main" id="{DB48384F-05DA-B1EC-F540-D7C09388B610}"/>
              </a:ext>
            </a:extLst>
          </p:cNvPr>
          <p:cNvSpPr/>
          <p:nvPr/>
        </p:nvSpPr>
        <p:spPr>
          <a:xfrm>
            <a:off x="4230638" y="4812031"/>
            <a:ext cx="4601662" cy="219808"/>
          </a:xfrm>
          <a:prstGeom prst="roundRect">
            <a:avLst>
              <a:gd name="adj" fmla="val 16667"/>
            </a:avLst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" name="Picture 1" descr="A logo with blue and green text&#10;&#10;AI-generated content may be incorrect.">
            <a:extLst>
              <a:ext uri="{FF2B5EF4-FFF2-40B4-BE49-F238E27FC236}">
                <a16:creationId xmlns:a16="http://schemas.microsoft.com/office/drawing/2014/main" id="{E82F243C-4227-BE41-D7FE-012A0B3432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53880" y="15346"/>
            <a:ext cx="1266825" cy="46672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465620C8-6E54-B18E-AA7D-0AEC3F1D3128}"/>
              </a:ext>
            </a:extLst>
          </p:cNvPr>
          <p:cNvSpPr txBox="1"/>
          <p:nvPr/>
        </p:nvSpPr>
        <p:spPr>
          <a:xfrm>
            <a:off x="179917" y="4804833"/>
            <a:ext cx="4572000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000" i="1">
                <a:solidFill>
                  <a:srgbClr val="595959"/>
                </a:solidFill>
                <a:latin typeface="Arial"/>
                <a:ea typeface="Arial"/>
                <a:cs typeface="Arial"/>
              </a:rPr>
              <a:t>© insanalytics</a:t>
            </a:r>
            <a:endParaRPr lang="en-US"/>
          </a:p>
          <a:p>
            <a:pPr algn="ctr"/>
            <a:endParaRPr lang="en-US"/>
          </a:p>
        </p:txBody>
      </p:sp>
      <p:sp>
        <p:nvSpPr>
          <p:cNvPr id="16" name="Text 2">
            <a:extLst>
              <a:ext uri="{FF2B5EF4-FFF2-40B4-BE49-F238E27FC236}">
                <a16:creationId xmlns:a16="http://schemas.microsoft.com/office/drawing/2014/main" id="{560D23E2-18F4-6594-553F-E7F588ABEE73}"/>
              </a:ext>
            </a:extLst>
          </p:cNvPr>
          <p:cNvSpPr/>
          <p:nvPr/>
        </p:nvSpPr>
        <p:spPr>
          <a:xfrm>
            <a:off x="548640" y="1339850"/>
            <a:ext cx="1828800" cy="52451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accent1">
                <a:lumMod val="40000"/>
                <a:lumOff val="60000"/>
              </a:schemeClr>
            </a:solidFill>
          </a:ln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 Procedures</a:t>
            </a:r>
            <a:endParaRPr lang="en-US" sz="1400" dirty="0"/>
          </a:p>
        </p:txBody>
      </p:sp>
      <p:sp>
        <p:nvSpPr>
          <p:cNvPr id="17" name="Text 4">
            <a:extLst>
              <a:ext uri="{FF2B5EF4-FFF2-40B4-BE49-F238E27FC236}">
                <a16:creationId xmlns:a16="http://schemas.microsoft.com/office/drawing/2014/main" id="{B460B1AA-53AB-C739-44A8-873C1B5F4021}"/>
              </a:ext>
            </a:extLst>
          </p:cNvPr>
          <p:cNvSpPr/>
          <p:nvPr/>
        </p:nvSpPr>
        <p:spPr>
          <a:xfrm>
            <a:off x="2697480" y="1304714"/>
            <a:ext cx="3200400" cy="56303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Sub MyMacro()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' Code here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End Sub</a:t>
            </a:r>
            <a:endParaRPr lang="en-US" sz="1000" dirty="0"/>
          </a:p>
        </p:txBody>
      </p:sp>
      <p:sp>
        <p:nvSpPr>
          <p:cNvPr id="18" name="Text 5">
            <a:extLst>
              <a:ext uri="{FF2B5EF4-FFF2-40B4-BE49-F238E27FC236}">
                <a16:creationId xmlns:a16="http://schemas.microsoft.com/office/drawing/2014/main" id="{83FB721E-51DE-91A1-FAE6-5E9D9278D7DA}"/>
              </a:ext>
            </a:extLst>
          </p:cNvPr>
          <p:cNvSpPr/>
          <p:nvPr/>
        </p:nvSpPr>
        <p:spPr>
          <a:xfrm>
            <a:off x="6126480" y="137160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macro starts with Sub and ends with End Sub</a:t>
            </a:r>
            <a:endParaRPr lang="en-US" sz="1100" dirty="0"/>
          </a:p>
        </p:txBody>
      </p:sp>
      <p:sp>
        <p:nvSpPr>
          <p:cNvPr id="19" name="Text 7">
            <a:extLst>
              <a:ext uri="{FF2B5EF4-FFF2-40B4-BE49-F238E27FC236}">
                <a16:creationId xmlns:a16="http://schemas.microsoft.com/office/drawing/2014/main" id="{94C2AEBE-5F71-99DC-A5AB-B3E23197545D}"/>
              </a:ext>
            </a:extLst>
          </p:cNvPr>
          <p:cNvSpPr/>
          <p:nvPr/>
        </p:nvSpPr>
        <p:spPr>
          <a:xfrm>
            <a:off x="548640" y="2222500"/>
            <a:ext cx="1828800" cy="450426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Variables</a:t>
            </a:r>
            <a:endParaRPr lang="en-US" sz="1400" dirty="0"/>
          </a:p>
        </p:txBody>
      </p:sp>
      <p:sp>
        <p:nvSpPr>
          <p:cNvPr id="20" name="Text 9">
            <a:extLst>
              <a:ext uri="{FF2B5EF4-FFF2-40B4-BE49-F238E27FC236}">
                <a16:creationId xmlns:a16="http://schemas.microsoft.com/office/drawing/2014/main" id="{2A1C6DA3-948B-E1F6-4F29-A5BD2CD35242}"/>
              </a:ext>
            </a:extLst>
          </p:cNvPr>
          <p:cNvSpPr/>
          <p:nvPr/>
        </p:nvSpPr>
        <p:spPr>
          <a:xfrm>
            <a:off x="2697480" y="2240280"/>
            <a:ext cx="3200400" cy="4572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Dim myText As String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Dim myNumber As Integer</a:t>
            </a:r>
            <a:endParaRPr lang="en-US" sz="1000" dirty="0"/>
          </a:p>
        </p:txBody>
      </p:sp>
      <p:sp>
        <p:nvSpPr>
          <p:cNvPr id="21" name="Text 10">
            <a:extLst>
              <a:ext uri="{FF2B5EF4-FFF2-40B4-BE49-F238E27FC236}">
                <a16:creationId xmlns:a16="http://schemas.microsoft.com/office/drawing/2014/main" id="{16663977-1FCF-9A83-DEC9-E0876E2F0FA5}"/>
              </a:ext>
            </a:extLst>
          </p:cNvPr>
          <p:cNvSpPr/>
          <p:nvPr/>
        </p:nvSpPr>
        <p:spPr>
          <a:xfrm>
            <a:off x="6126480" y="228600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Store values using Dim to declare variables</a:t>
            </a:r>
            <a:endParaRPr lang="en-US" sz="1100" dirty="0"/>
          </a:p>
        </p:txBody>
      </p:sp>
      <p:sp>
        <p:nvSpPr>
          <p:cNvPr id="22" name="Text 12">
            <a:extLst>
              <a:ext uri="{FF2B5EF4-FFF2-40B4-BE49-F238E27FC236}">
                <a16:creationId xmlns:a16="http://schemas.microsoft.com/office/drawing/2014/main" id="{51BEABC4-3759-645B-E4F2-5CA1ED09ED3F}"/>
              </a:ext>
            </a:extLst>
          </p:cNvPr>
          <p:cNvSpPr/>
          <p:nvPr/>
        </p:nvSpPr>
        <p:spPr>
          <a:xfrm>
            <a:off x="548640" y="3142193"/>
            <a:ext cx="1828800" cy="476884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Comments</a:t>
            </a:r>
            <a:endParaRPr lang="en-US" sz="1400" dirty="0"/>
          </a:p>
        </p:txBody>
      </p:sp>
      <p:sp>
        <p:nvSpPr>
          <p:cNvPr id="23" name="Text 14">
            <a:extLst>
              <a:ext uri="{FF2B5EF4-FFF2-40B4-BE49-F238E27FC236}">
                <a16:creationId xmlns:a16="http://schemas.microsoft.com/office/drawing/2014/main" id="{A6602076-94CC-5B6F-7B44-829923BEAAD8}"/>
              </a:ext>
            </a:extLst>
          </p:cNvPr>
          <p:cNvSpPr/>
          <p:nvPr/>
        </p:nvSpPr>
        <p:spPr>
          <a:xfrm>
            <a:off x="2697480" y="3154680"/>
            <a:ext cx="3200400" cy="4572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 This is a comment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Rem This is also a comment</a:t>
            </a:r>
            <a:endParaRPr lang="en-US" sz="1000" dirty="0"/>
          </a:p>
        </p:txBody>
      </p:sp>
      <p:sp>
        <p:nvSpPr>
          <p:cNvPr id="24" name="Text 15">
            <a:extLst>
              <a:ext uri="{FF2B5EF4-FFF2-40B4-BE49-F238E27FC236}">
                <a16:creationId xmlns:a16="http://schemas.microsoft.com/office/drawing/2014/main" id="{6169A0F3-87E7-AB04-B8EA-725A7114A71E}"/>
              </a:ext>
            </a:extLst>
          </p:cNvPr>
          <p:cNvSpPr/>
          <p:nvPr/>
        </p:nvSpPr>
        <p:spPr>
          <a:xfrm>
            <a:off x="6126480" y="320040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apostrophe (') to add notes in your code</a:t>
            </a:r>
            <a:endParaRPr lang="en-US" sz="1100" dirty="0"/>
          </a:p>
        </p:txBody>
      </p:sp>
      <p:sp>
        <p:nvSpPr>
          <p:cNvPr id="25" name="Text 17">
            <a:extLst>
              <a:ext uri="{FF2B5EF4-FFF2-40B4-BE49-F238E27FC236}">
                <a16:creationId xmlns:a16="http://schemas.microsoft.com/office/drawing/2014/main" id="{10A10191-8E96-1D78-5CE3-2FCE44E48264}"/>
              </a:ext>
            </a:extLst>
          </p:cNvPr>
          <p:cNvSpPr/>
          <p:nvPr/>
        </p:nvSpPr>
        <p:spPr>
          <a:xfrm>
            <a:off x="548640" y="4051300"/>
            <a:ext cx="1828800" cy="450426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 References</a:t>
            </a:r>
            <a:endParaRPr lang="en-US" sz="1400" dirty="0"/>
          </a:p>
        </p:txBody>
      </p:sp>
      <p:sp>
        <p:nvSpPr>
          <p:cNvPr id="26" name="Text 19">
            <a:extLst>
              <a:ext uri="{FF2B5EF4-FFF2-40B4-BE49-F238E27FC236}">
                <a16:creationId xmlns:a16="http://schemas.microsoft.com/office/drawing/2014/main" id="{47DE9FE7-44A6-8BC5-0D25-A00955C195BD}"/>
              </a:ext>
            </a:extLst>
          </p:cNvPr>
          <p:cNvSpPr/>
          <p:nvPr/>
        </p:nvSpPr>
        <p:spPr>
          <a:xfrm>
            <a:off x="2697480" y="4069080"/>
            <a:ext cx="3200400" cy="4572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Worksheets("Sheet1").Range("A1")</a:t>
            </a:r>
            <a:endParaRPr lang="en-US" sz="1000" dirty="0"/>
          </a:p>
        </p:txBody>
      </p:sp>
      <p:sp>
        <p:nvSpPr>
          <p:cNvPr id="27" name="Text 20">
            <a:extLst>
              <a:ext uri="{FF2B5EF4-FFF2-40B4-BE49-F238E27FC236}">
                <a16:creationId xmlns:a16="http://schemas.microsoft.com/office/drawing/2014/main" id="{D60ED754-A7D3-BD69-A859-C76E9B097602}"/>
              </a:ext>
            </a:extLst>
          </p:cNvPr>
          <p:cNvSpPr/>
          <p:nvPr/>
        </p:nvSpPr>
        <p:spPr>
          <a:xfrm>
            <a:off x="6126480" y="411480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Access Excel objects like sheets, ranges, cells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54072630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>
          <a:extLst>
            <a:ext uri="{FF2B5EF4-FFF2-40B4-BE49-F238E27FC236}">
              <a16:creationId xmlns:a16="http://schemas.microsoft.com/office/drawing/2014/main" id="{9C17EDC4-5213-711B-EA53-BB2E9CDEE0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6">
            <a:extLst>
              <a:ext uri="{FF2B5EF4-FFF2-40B4-BE49-F238E27FC236}">
                <a16:creationId xmlns:a16="http://schemas.microsoft.com/office/drawing/2014/main" id="{DA69D2AE-CB98-B6CD-3333-DB4ACAB86C0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644847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 fontScale="90000"/>
          </a:bodyPr>
          <a:lstStyle/>
          <a:p>
            <a:r>
              <a:rPr lang="en-US" sz="4000" b="1" dirty="0">
                <a:solidFill>
                  <a:srgbClr val="1E2761"/>
                </a:solidFill>
                <a:latin typeface="Arial Black"/>
              </a:rPr>
              <a:t>Working with Ranges</a:t>
            </a:r>
            <a:endParaRPr lang="en-US" sz="4000" dirty="0">
              <a:latin typeface="Arial Black"/>
            </a:endParaRPr>
          </a:p>
          <a:p>
            <a:pPr marL="0" lv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endParaRPr b="1" dirty="0"/>
          </a:p>
        </p:txBody>
      </p:sp>
      <p:sp>
        <p:nvSpPr>
          <p:cNvPr id="89" name="Google Shape;89;p6">
            <a:extLst>
              <a:ext uri="{FF2B5EF4-FFF2-40B4-BE49-F238E27FC236}">
                <a16:creationId xmlns:a16="http://schemas.microsoft.com/office/drawing/2014/main" id="{7F2240BD-E0E7-254C-8D48-A417E15BCFA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SzPts val="900"/>
              <a:buNone/>
            </a:pPr>
            <a:endParaRPr sz="900"/>
          </a:p>
        </p:txBody>
      </p:sp>
      <p:sp>
        <p:nvSpPr>
          <p:cNvPr id="90" name="Google Shape;90;p6">
            <a:extLst>
              <a:ext uri="{FF2B5EF4-FFF2-40B4-BE49-F238E27FC236}">
                <a16:creationId xmlns:a16="http://schemas.microsoft.com/office/drawing/2014/main" id="{F396D4A0-9AE8-78B5-24C2-301E87095ACC}"/>
              </a:ext>
            </a:extLst>
          </p:cNvPr>
          <p:cNvSpPr txBox="1"/>
          <p:nvPr/>
        </p:nvSpPr>
        <p:spPr>
          <a:xfrm>
            <a:off x="311699" y="1218211"/>
            <a:ext cx="8520600" cy="34200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</a:pPr>
            <a:endParaRPr/>
          </a:p>
        </p:txBody>
      </p:sp>
      <p:sp>
        <p:nvSpPr>
          <p:cNvPr id="91" name="Google Shape;91;p6">
            <a:extLst>
              <a:ext uri="{FF2B5EF4-FFF2-40B4-BE49-F238E27FC236}">
                <a16:creationId xmlns:a16="http://schemas.microsoft.com/office/drawing/2014/main" id="{24E8530C-40A0-FE15-3743-91713B2568F7}"/>
              </a:ext>
            </a:extLst>
          </p:cNvPr>
          <p:cNvSpPr/>
          <p:nvPr/>
        </p:nvSpPr>
        <p:spPr>
          <a:xfrm>
            <a:off x="311700" y="116515"/>
            <a:ext cx="4601662" cy="219808"/>
          </a:xfrm>
          <a:prstGeom prst="roundRect">
            <a:avLst>
              <a:gd name="adj" fmla="val 16667"/>
            </a:avLst>
          </a:prstGeom>
          <a:solidFill>
            <a:srgbClr val="00B05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" name="Google Shape;92;p6">
            <a:extLst>
              <a:ext uri="{FF2B5EF4-FFF2-40B4-BE49-F238E27FC236}">
                <a16:creationId xmlns:a16="http://schemas.microsoft.com/office/drawing/2014/main" id="{66665A42-2C6C-1CE4-982E-495E04286487}"/>
              </a:ext>
            </a:extLst>
          </p:cNvPr>
          <p:cNvSpPr/>
          <p:nvPr/>
        </p:nvSpPr>
        <p:spPr>
          <a:xfrm>
            <a:off x="4230638" y="4812031"/>
            <a:ext cx="4601662" cy="219808"/>
          </a:xfrm>
          <a:prstGeom prst="roundRect">
            <a:avLst>
              <a:gd name="adj" fmla="val 16667"/>
            </a:avLst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" name="Picture 1" descr="A logo with blue and green text&#10;&#10;AI-generated content may be incorrect.">
            <a:extLst>
              <a:ext uri="{FF2B5EF4-FFF2-40B4-BE49-F238E27FC236}">
                <a16:creationId xmlns:a16="http://schemas.microsoft.com/office/drawing/2014/main" id="{C71DFA94-D782-3BE7-4563-11DE48618D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53880" y="15346"/>
            <a:ext cx="1266825" cy="46672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6501AFA4-D7BD-9410-4B53-6C1E15FD4BD7}"/>
              </a:ext>
            </a:extLst>
          </p:cNvPr>
          <p:cNvSpPr txBox="1"/>
          <p:nvPr/>
        </p:nvSpPr>
        <p:spPr>
          <a:xfrm>
            <a:off x="179917" y="4804833"/>
            <a:ext cx="4572000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000" i="1">
                <a:solidFill>
                  <a:srgbClr val="595959"/>
                </a:solidFill>
                <a:latin typeface="Arial"/>
                <a:ea typeface="Arial"/>
                <a:cs typeface="Arial"/>
              </a:rPr>
              <a:t>© insanalytics</a:t>
            </a:r>
            <a:endParaRPr lang="en-US"/>
          </a:p>
          <a:p>
            <a:pPr algn="ctr"/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F1628B36-725F-BC26-9DC5-09880CFE4814}"/>
              </a:ext>
            </a:extLst>
          </p:cNvPr>
          <p:cNvSpPr/>
          <p:nvPr/>
        </p:nvSpPr>
        <p:spPr>
          <a:xfrm>
            <a:off x="457200" y="105537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3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Ranges are the most important objects in Excel VBA</a:t>
            </a:r>
            <a:endParaRPr lang="en-US" sz="1300" dirty="0"/>
          </a:p>
        </p:txBody>
      </p:sp>
      <p:sp>
        <p:nvSpPr>
          <p:cNvPr id="5" name="Text 4">
            <a:extLst>
              <a:ext uri="{FF2B5EF4-FFF2-40B4-BE49-F238E27FC236}">
                <a16:creationId xmlns:a16="http://schemas.microsoft.com/office/drawing/2014/main" id="{D1CC82C7-BED6-F2AB-4445-CF47F1EAE90C}"/>
              </a:ext>
            </a:extLst>
          </p:cNvPr>
          <p:cNvSpPr/>
          <p:nvPr/>
        </p:nvSpPr>
        <p:spPr>
          <a:xfrm>
            <a:off x="594360" y="1444752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Single Cell</a:t>
            </a:r>
            <a:endParaRPr lang="en-US" sz="1300" dirty="0"/>
          </a:p>
        </p:txBody>
      </p:sp>
      <p:sp>
        <p:nvSpPr>
          <p:cNvPr id="6" name="Text 5">
            <a:extLst>
              <a:ext uri="{FF2B5EF4-FFF2-40B4-BE49-F238E27FC236}">
                <a16:creationId xmlns:a16="http://schemas.microsoft.com/office/drawing/2014/main" id="{E155E826-2714-8002-AC62-7CF54838C2DF}"/>
              </a:ext>
            </a:extLst>
          </p:cNvPr>
          <p:cNvSpPr/>
          <p:nvPr/>
        </p:nvSpPr>
        <p:spPr>
          <a:xfrm>
            <a:off x="594360" y="1719072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Range("A1").Value = "Hello"</a:t>
            </a:r>
            <a:endParaRPr lang="en-US" sz="1000" dirty="0"/>
          </a:p>
        </p:txBody>
      </p:sp>
      <p:sp>
        <p:nvSpPr>
          <p:cNvPr id="7" name="Text 6">
            <a:extLst>
              <a:ext uri="{FF2B5EF4-FFF2-40B4-BE49-F238E27FC236}">
                <a16:creationId xmlns:a16="http://schemas.microsoft.com/office/drawing/2014/main" id="{B60D0C99-5637-1DD8-5F13-0EF111A2057A}"/>
              </a:ext>
            </a:extLst>
          </p:cNvPr>
          <p:cNvSpPr/>
          <p:nvPr/>
        </p:nvSpPr>
        <p:spPr>
          <a:xfrm>
            <a:off x="594360" y="2084832"/>
            <a:ext cx="3840480" cy="18288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9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Sets A1 to 'Hello'</a:t>
            </a:r>
            <a:endParaRPr lang="en-US" sz="900" dirty="0"/>
          </a:p>
        </p:txBody>
      </p:sp>
      <p:sp>
        <p:nvSpPr>
          <p:cNvPr id="8" name="Text 9">
            <a:extLst>
              <a:ext uri="{FF2B5EF4-FFF2-40B4-BE49-F238E27FC236}">
                <a16:creationId xmlns:a16="http://schemas.microsoft.com/office/drawing/2014/main" id="{84025DBC-8006-9393-4FB5-B665EBC06EB0}"/>
              </a:ext>
            </a:extLst>
          </p:cNvPr>
          <p:cNvSpPr/>
          <p:nvPr/>
        </p:nvSpPr>
        <p:spPr>
          <a:xfrm>
            <a:off x="4937760" y="1444752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Range of Cells</a:t>
            </a:r>
            <a:endParaRPr lang="en-US" sz="1300" dirty="0"/>
          </a:p>
        </p:txBody>
      </p:sp>
      <p:sp>
        <p:nvSpPr>
          <p:cNvPr id="9" name="Text 10">
            <a:extLst>
              <a:ext uri="{FF2B5EF4-FFF2-40B4-BE49-F238E27FC236}">
                <a16:creationId xmlns:a16="http://schemas.microsoft.com/office/drawing/2014/main" id="{1BFD3444-F344-82DD-401B-DD8EC97E2612}"/>
              </a:ext>
            </a:extLst>
          </p:cNvPr>
          <p:cNvSpPr/>
          <p:nvPr/>
        </p:nvSpPr>
        <p:spPr>
          <a:xfrm>
            <a:off x="4937760" y="1719072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Range("A1:C5").Font.Bold = True</a:t>
            </a:r>
            <a:endParaRPr lang="en-US" sz="1000" dirty="0"/>
          </a:p>
        </p:txBody>
      </p:sp>
      <p:sp>
        <p:nvSpPr>
          <p:cNvPr id="10" name="Text 11">
            <a:extLst>
              <a:ext uri="{FF2B5EF4-FFF2-40B4-BE49-F238E27FC236}">
                <a16:creationId xmlns:a16="http://schemas.microsoft.com/office/drawing/2014/main" id="{DC81BF8D-D3CA-D9F1-EC1E-C0060906BAEC}"/>
              </a:ext>
            </a:extLst>
          </p:cNvPr>
          <p:cNvSpPr/>
          <p:nvPr/>
        </p:nvSpPr>
        <p:spPr>
          <a:xfrm>
            <a:off x="4937760" y="2084832"/>
            <a:ext cx="3840480" cy="18288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9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Makes A1 through C5 bold</a:t>
            </a:r>
            <a:endParaRPr lang="en-US" sz="900" dirty="0"/>
          </a:p>
        </p:txBody>
      </p:sp>
      <p:sp>
        <p:nvSpPr>
          <p:cNvPr id="11" name="Text 14">
            <a:extLst>
              <a:ext uri="{FF2B5EF4-FFF2-40B4-BE49-F238E27FC236}">
                <a16:creationId xmlns:a16="http://schemas.microsoft.com/office/drawing/2014/main" id="{A6201E07-E045-06CD-51FF-30C4649CDD18}"/>
              </a:ext>
            </a:extLst>
          </p:cNvPr>
          <p:cNvSpPr/>
          <p:nvPr/>
        </p:nvSpPr>
        <p:spPr>
          <a:xfrm>
            <a:off x="594360" y="2587752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Entire Column</a:t>
            </a:r>
            <a:endParaRPr lang="en-US" sz="1300" dirty="0"/>
          </a:p>
        </p:txBody>
      </p:sp>
      <p:sp>
        <p:nvSpPr>
          <p:cNvPr id="12" name="Text 15">
            <a:extLst>
              <a:ext uri="{FF2B5EF4-FFF2-40B4-BE49-F238E27FC236}">
                <a16:creationId xmlns:a16="http://schemas.microsoft.com/office/drawing/2014/main" id="{0A15B9DE-2259-5A1E-6B15-6350716FD337}"/>
              </a:ext>
            </a:extLst>
          </p:cNvPr>
          <p:cNvSpPr/>
          <p:nvPr/>
        </p:nvSpPr>
        <p:spPr>
          <a:xfrm>
            <a:off x="594360" y="2862072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Columns("A").ColumnWidth = 15</a:t>
            </a:r>
            <a:endParaRPr lang="en-US" sz="1000" dirty="0"/>
          </a:p>
        </p:txBody>
      </p:sp>
      <p:sp>
        <p:nvSpPr>
          <p:cNvPr id="13" name="Text 16">
            <a:extLst>
              <a:ext uri="{FF2B5EF4-FFF2-40B4-BE49-F238E27FC236}">
                <a16:creationId xmlns:a16="http://schemas.microsoft.com/office/drawing/2014/main" id="{71D32527-6009-690E-2934-2B1BC61C58FB}"/>
              </a:ext>
            </a:extLst>
          </p:cNvPr>
          <p:cNvSpPr/>
          <p:nvPr/>
        </p:nvSpPr>
        <p:spPr>
          <a:xfrm>
            <a:off x="594360" y="3227832"/>
            <a:ext cx="3840480" cy="18288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9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Sets column A width to 15</a:t>
            </a:r>
            <a:endParaRPr lang="en-US" sz="900" dirty="0"/>
          </a:p>
        </p:txBody>
      </p:sp>
      <p:sp>
        <p:nvSpPr>
          <p:cNvPr id="14" name="Text 19">
            <a:extLst>
              <a:ext uri="{FF2B5EF4-FFF2-40B4-BE49-F238E27FC236}">
                <a16:creationId xmlns:a16="http://schemas.microsoft.com/office/drawing/2014/main" id="{AA7F359A-77B6-6CEC-61FB-F29E3F852237}"/>
              </a:ext>
            </a:extLst>
          </p:cNvPr>
          <p:cNvSpPr/>
          <p:nvPr/>
        </p:nvSpPr>
        <p:spPr>
          <a:xfrm>
            <a:off x="4937760" y="2587752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Entire Row</a:t>
            </a:r>
            <a:endParaRPr lang="en-US" sz="1300" dirty="0"/>
          </a:p>
        </p:txBody>
      </p:sp>
      <p:sp>
        <p:nvSpPr>
          <p:cNvPr id="15" name="Text 20">
            <a:extLst>
              <a:ext uri="{FF2B5EF4-FFF2-40B4-BE49-F238E27FC236}">
                <a16:creationId xmlns:a16="http://schemas.microsoft.com/office/drawing/2014/main" id="{E66EE4BD-260F-6792-821A-48940C9D579E}"/>
              </a:ext>
            </a:extLst>
          </p:cNvPr>
          <p:cNvSpPr/>
          <p:nvPr/>
        </p:nvSpPr>
        <p:spPr>
          <a:xfrm>
            <a:off x="4937760" y="2862072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Rows("1").Font.Size = 14</a:t>
            </a:r>
            <a:endParaRPr lang="en-US" sz="1000" dirty="0"/>
          </a:p>
        </p:txBody>
      </p:sp>
      <p:sp>
        <p:nvSpPr>
          <p:cNvPr id="16" name="Text 21">
            <a:extLst>
              <a:ext uri="{FF2B5EF4-FFF2-40B4-BE49-F238E27FC236}">
                <a16:creationId xmlns:a16="http://schemas.microsoft.com/office/drawing/2014/main" id="{3D2244BB-90BD-493D-DFB4-2EABB187EC61}"/>
              </a:ext>
            </a:extLst>
          </p:cNvPr>
          <p:cNvSpPr/>
          <p:nvPr/>
        </p:nvSpPr>
        <p:spPr>
          <a:xfrm>
            <a:off x="4937760" y="3227832"/>
            <a:ext cx="3840480" cy="18288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9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Sets row 1 font size to 14</a:t>
            </a:r>
            <a:endParaRPr lang="en-US" sz="900" dirty="0"/>
          </a:p>
        </p:txBody>
      </p:sp>
      <p:sp>
        <p:nvSpPr>
          <p:cNvPr id="17" name="Text 24">
            <a:extLst>
              <a:ext uri="{FF2B5EF4-FFF2-40B4-BE49-F238E27FC236}">
                <a16:creationId xmlns:a16="http://schemas.microsoft.com/office/drawing/2014/main" id="{4FBF12EA-DDF4-4260-41F7-4E5B867A0F7C}"/>
              </a:ext>
            </a:extLst>
          </p:cNvPr>
          <p:cNvSpPr/>
          <p:nvPr/>
        </p:nvSpPr>
        <p:spPr>
          <a:xfrm>
            <a:off x="594360" y="3730752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 Selection</a:t>
            </a:r>
            <a:endParaRPr lang="en-US" sz="1300" dirty="0"/>
          </a:p>
        </p:txBody>
      </p:sp>
      <p:sp>
        <p:nvSpPr>
          <p:cNvPr id="18" name="Text 25">
            <a:extLst>
              <a:ext uri="{FF2B5EF4-FFF2-40B4-BE49-F238E27FC236}">
                <a16:creationId xmlns:a16="http://schemas.microsoft.com/office/drawing/2014/main" id="{ED68E7E7-DC14-A552-EA40-6625F88B525A}"/>
              </a:ext>
            </a:extLst>
          </p:cNvPr>
          <p:cNvSpPr/>
          <p:nvPr/>
        </p:nvSpPr>
        <p:spPr>
          <a:xfrm>
            <a:off x="594360" y="4005072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Selection.Interior.Color = vbYellow</a:t>
            </a:r>
            <a:endParaRPr lang="en-US" sz="1000" dirty="0"/>
          </a:p>
        </p:txBody>
      </p:sp>
      <p:sp>
        <p:nvSpPr>
          <p:cNvPr id="19" name="Text 26">
            <a:extLst>
              <a:ext uri="{FF2B5EF4-FFF2-40B4-BE49-F238E27FC236}">
                <a16:creationId xmlns:a16="http://schemas.microsoft.com/office/drawing/2014/main" id="{065C264B-4F72-6241-105D-429F38521E64}"/>
              </a:ext>
            </a:extLst>
          </p:cNvPr>
          <p:cNvSpPr/>
          <p:nvPr/>
        </p:nvSpPr>
        <p:spPr>
          <a:xfrm>
            <a:off x="594360" y="4370832"/>
            <a:ext cx="3840480" cy="18288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9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Colors selected cells yellow</a:t>
            </a:r>
            <a:endParaRPr lang="en-US" sz="900" dirty="0"/>
          </a:p>
        </p:txBody>
      </p:sp>
      <p:sp>
        <p:nvSpPr>
          <p:cNvPr id="20" name="Text 29">
            <a:extLst>
              <a:ext uri="{FF2B5EF4-FFF2-40B4-BE49-F238E27FC236}">
                <a16:creationId xmlns:a16="http://schemas.microsoft.com/office/drawing/2014/main" id="{25F4342D-831B-CCB5-AE52-5712799B38E1}"/>
              </a:ext>
            </a:extLst>
          </p:cNvPr>
          <p:cNvSpPr/>
          <p:nvPr/>
        </p:nvSpPr>
        <p:spPr>
          <a:xfrm>
            <a:off x="4937760" y="3730752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Active Cell</a:t>
            </a:r>
            <a:endParaRPr lang="en-US" sz="1300" dirty="0"/>
          </a:p>
        </p:txBody>
      </p:sp>
      <p:sp>
        <p:nvSpPr>
          <p:cNvPr id="21" name="Text 30">
            <a:extLst>
              <a:ext uri="{FF2B5EF4-FFF2-40B4-BE49-F238E27FC236}">
                <a16:creationId xmlns:a16="http://schemas.microsoft.com/office/drawing/2014/main" id="{0274E2D7-5488-5990-1933-098105101322}"/>
              </a:ext>
            </a:extLst>
          </p:cNvPr>
          <p:cNvSpPr/>
          <p:nvPr/>
        </p:nvSpPr>
        <p:spPr>
          <a:xfrm>
            <a:off x="4937760" y="4005072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ActiveCell.Value = 100</a:t>
            </a:r>
            <a:endParaRPr lang="en-US" sz="1000" dirty="0"/>
          </a:p>
        </p:txBody>
      </p:sp>
      <p:sp>
        <p:nvSpPr>
          <p:cNvPr id="22" name="Text 31">
            <a:extLst>
              <a:ext uri="{FF2B5EF4-FFF2-40B4-BE49-F238E27FC236}">
                <a16:creationId xmlns:a16="http://schemas.microsoft.com/office/drawing/2014/main" id="{3DC183CB-42D1-5CD7-A0C6-C09454690CAB}"/>
              </a:ext>
            </a:extLst>
          </p:cNvPr>
          <p:cNvSpPr/>
          <p:nvPr/>
        </p:nvSpPr>
        <p:spPr>
          <a:xfrm>
            <a:off x="4937760" y="4370832"/>
            <a:ext cx="3840480" cy="18288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9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Puts 100 in active cell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183090303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>
          <a:extLst>
            <a:ext uri="{FF2B5EF4-FFF2-40B4-BE49-F238E27FC236}">
              <a16:creationId xmlns:a16="http://schemas.microsoft.com/office/drawing/2014/main" id="{699E950A-F4F1-2C0F-9DFD-C3EAB4491F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6">
            <a:extLst>
              <a:ext uri="{FF2B5EF4-FFF2-40B4-BE49-F238E27FC236}">
                <a16:creationId xmlns:a16="http://schemas.microsoft.com/office/drawing/2014/main" id="{20469D12-F6EC-7ECF-AC81-BA1244F22C7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6992" y="523139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 fontScale="90000"/>
          </a:bodyPr>
          <a:lstStyle/>
          <a:p>
            <a:r>
              <a:rPr lang="en-US" sz="4000" b="1">
                <a:solidFill>
                  <a:srgbClr val="1E2761"/>
                </a:solidFill>
                <a:latin typeface="Arial Black"/>
              </a:rPr>
              <a:t>Loops and Conditionals</a:t>
            </a:r>
            <a:endParaRPr lang="en-US" sz="4000">
              <a:latin typeface="Arial Black"/>
            </a:endParaRPr>
          </a:p>
          <a:p>
            <a:pPr marL="0" lv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endParaRPr b="1" dirty="0"/>
          </a:p>
        </p:txBody>
      </p:sp>
      <p:sp>
        <p:nvSpPr>
          <p:cNvPr id="89" name="Google Shape;89;p6">
            <a:extLst>
              <a:ext uri="{FF2B5EF4-FFF2-40B4-BE49-F238E27FC236}">
                <a16:creationId xmlns:a16="http://schemas.microsoft.com/office/drawing/2014/main" id="{8822D5CE-F684-A0B9-28E5-B74C06C9ABFD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SzPts val="900"/>
              <a:buNone/>
            </a:pPr>
            <a:endParaRPr sz="900"/>
          </a:p>
        </p:txBody>
      </p:sp>
      <p:sp>
        <p:nvSpPr>
          <p:cNvPr id="90" name="Google Shape;90;p6">
            <a:extLst>
              <a:ext uri="{FF2B5EF4-FFF2-40B4-BE49-F238E27FC236}">
                <a16:creationId xmlns:a16="http://schemas.microsoft.com/office/drawing/2014/main" id="{DC661C8E-D4AE-DBA6-D27E-09E3B4E1F8E0}"/>
              </a:ext>
            </a:extLst>
          </p:cNvPr>
          <p:cNvSpPr txBox="1"/>
          <p:nvPr/>
        </p:nvSpPr>
        <p:spPr>
          <a:xfrm>
            <a:off x="311699" y="1218211"/>
            <a:ext cx="8520600" cy="34200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</a:pPr>
            <a:endParaRPr/>
          </a:p>
        </p:txBody>
      </p:sp>
      <p:sp>
        <p:nvSpPr>
          <p:cNvPr id="91" name="Google Shape;91;p6">
            <a:extLst>
              <a:ext uri="{FF2B5EF4-FFF2-40B4-BE49-F238E27FC236}">
                <a16:creationId xmlns:a16="http://schemas.microsoft.com/office/drawing/2014/main" id="{A294DB0F-056F-423A-1374-2ED971BC45D7}"/>
              </a:ext>
            </a:extLst>
          </p:cNvPr>
          <p:cNvSpPr/>
          <p:nvPr/>
        </p:nvSpPr>
        <p:spPr>
          <a:xfrm>
            <a:off x="311700" y="116515"/>
            <a:ext cx="4601662" cy="219808"/>
          </a:xfrm>
          <a:prstGeom prst="roundRect">
            <a:avLst>
              <a:gd name="adj" fmla="val 16667"/>
            </a:avLst>
          </a:prstGeom>
          <a:solidFill>
            <a:srgbClr val="00B05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" name="Google Shape;92;p6">
            <a:extLst>
              <a:ext uri="{FF2B5EF4-FFF2-40B4-BE49-F238E27FC236}">
                <a16:creationId xmlns:a16="http://schemas.microsoft.com/office/drawing/2014/main" id="{D746C707-F127-9B3E-BB30-BDB880F1F6A5}"/>
              </a:ext>
            </a:extLst>
          </p:cNvPr>
          <p:cNvSpPr/>
          <p:nvPr/>
        </p:nvSpPr>
        <p:spPr>
          <a:xfrm>
            <a:off x="4230638" y="4812031"/>
            <a:ext cx="4601662" cy="219808"/>
          </a:xfrm>
          <a:prstGeom prst="roundRect">
            <a:avLst>
              <a:gd name="adj" fmla="val 16667"/>
            </a:avLst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" name="Picture 1" descr="A logo with blue and green text&#10;&#10;AI-generated content may be incorrect.">
            <a:extLst>
              <a:ext uri="{FF2B5EF4-FFF2-40B4-BE49-F238E27FC236}">
                <a16:creationId xmlns:a16="http://schemas.microsoft.com/office/drawing/2014/main" id="{43F463EF-8AD6-24A1-07C9-3BD378317C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53880" y="15346"/>
            <a:ext cx="1266825" cy="46672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D2B2DE90-4DA9-E15C-C173-3A552FD6E505}"/>
              </a:ext>
            </a:extLst>
          </p:cNvPr>
          <p:cNvSpPr txBox="1"/>
          <p:nvPr/>
        </p:nvSpPr>
        <p:spPr>
          <a:xfrm>
            <a:off x="179917" y="4804833"/>
            <a:ext cx="4572000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000" i="1">
                <a:solidFill>
                  <a:srgbClr val="595959"/>
                </a:solidFill>
                <a:latin typeface="Arial"/>
                <a:ea typeface="Arial"/>
                <a:cs typeface="Arial"/>
              </a:rPr>
              <a:t>© insanalytics</a:t>
            </a:r>
            <a:endParaRPr lang="en-US"/>
          </a:p>
          <a:p>
            <a:pPr algn="ctr"/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A5FFFBE0-9D5C-FDE6-ED66-4593403B9605}"/>
              </a:ext>
            </a:extLst>
          </p:cNvPr>
          <p:cNvSpPr/>
          <p:nvPr/>
        </p:nvSpPr>
        <p:spPr>
          <a:xfrm>
            <a:off x="45720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Loop - Repeat Actions</a:t>
            </a:r>
            <a:endParaRPr lang="en-US" sz="16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A36BFB68-6517-FED7-C3E1-0C093C18DA3C}"/>
              </a:ext>
            </a:extLst>
          </p:cNvPr>
          <p:cNvSpPr/>
          <p:nvPr/>
        </p:nvSpPr>
        <p:spPr>
          <a:xfrm>
            <a:off x="594360" y="1472226"/>
            <a:ext cx="3840480" cy="109728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Sub FillNumbers()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Dim i As Integer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For i = 1 To 10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Range("A" &amp; i).Value = i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Next i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End Sub</a:t>
            </a:r>
            <a:endParaRPr lang="en-US" sz="110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98D055C5-08A7-AEBF-DE1F-93EC176AD878}"/>
              </a:ext>
            </a:extLst>
          </p:cNvPr>
          <p:cNvSpPr/>
          <p:nvPr/>
        </p:nvSpPr>
        <p:spPr>
          <a:xfrm>
            <a:off x="462492" y="2612390"/>
            <a:ext cx="4114800" cy="22860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Fills cells A1 to A10 with numbers 1 through 10</a:t>
            </a:r>
            <a:endParaRPr lang="en-US" sz="100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9D759EDE-71FE-8829-9F62-1C0DA3E32A0E}"/>
              </a:ext>
            </a:extLst>
          </p:cNvPr>
          <p:cNvSpPr/>
          <p:nvPr/>
        </p:nvSpPr>
        <p:spPr>
          <a:xfrm>
            <a:off x="4754880" y="109728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If-Then - Make Decisions</a:t>
            </a:r>
            <a:endParaRPr lang="en-US" sz="1600" dirty="0"/>
          </a:p>
        </p:txBody>
      </p:sp>
      <p:sp>
        <p:nvSpPr>
          <p:cNvPr id="8" name="Text 7">
            <a:extLst>
              <a:ext uri="{FF2B5EF4-FFF2-40B4-BE49-F238E27FC236}">
                <a16:creationId xmlns:a16="http://schemas.microsoft.com/office/drawing/2014/main" id="{BC7014BD-5A5F-DFEC-1E26-B4ECCD7F6E6A}"/>
              </a:ext>
            </a:extLst>
          </p:cNvPr>
          <p:cNvSpPr/>
          <p:nvPr/>
        </p:nvSpPr>
        <p:spPr>
          <a:xfrm>
            <a:off x="4892040" y="1472226"/>
            <a:ext cx="3657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Sub CheckValue()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If Range("A1").Value &gt; 100 Then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Range("B1").Value = "High"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Else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Range("B1").Value = "Low"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End If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End Sub</a:t>
            </a:r>
            <a:endParaRPr lang="en-US" sz="1100" dirty="0"/>
          </a:p>
        </p:txBody>
      </p:sp>
      <p:sp>
        <p:nvSpPr>
          <p:cNvPr id="9" name="Text 8">
            <a:extLst>
              <a:ext uri="{FF2B5EF4-FFF2-40B4-BE49-F238E27FC236}">
                <a16:creationId xmlns:a16="http://schemas.microsoft.com/office/drawing/2014/main" id="{5258E71F-3289-A2B5-EAB5-E709954EFAA3}"/>
              </a:ext>
            </a:extLst>
          </p:cNvPr>
          <p:cNvSpPr/>
          <p:nvPr/>
        </p:nvSpPr>
        <p:spPr>
          <a:xfrm>
            <a:off x="4754880" y="2612390"/>
            <a:ext cx="3931920" cy="22860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Checks if A1 is greater than 100 and labels accordingly</a:t>
            </a:r>
            <a:endParaRPr lang="en-US" sz="1000" dirty="0"/>
          </a:p>
        </p:txBody>
      </p:sp>
      <p:sp>
        <p:nvSpPr>
          <p:cNvPr id="10" name="Text 9">
            <a:extLst>
              <a:ext uri="{FF2B5EF4-FFF2-40B4-BE49-F238E27FC236}">
                <a16:creationId xmlns:a16="http://schemas.microsoft.com/office/drawing/2014/main" id="{CD6DDEDC-C33F-0A82-AD9A-0AB17537D6B5}"/>
              </a:ext>
            </a:extLst>
          </p:cNvPr>
          <p:cNvSpPr/>
          <p:nvPr/>
        </p:nvSpPr>
        <p:spPr>
          <a:xfrm>
            <a:off x="462492" y="3016674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 While Loop - Conditional Repeat</a:t>
            </a:r>
            <a:endParaRPr lang="en-US" sz="1600" dirty="0"/>
          </a:p>
        </p:txBody>
      </p:sp>
      <p:sp>
        <p:nvSpPr>
          <p:cNvPr id="11" name="Text 11">
            <a:extLst>
              <a:ext uri="{FF2B5EF4-FFF2-40B4-BE49-F238E27FC236}">
                <a16:creationId xmlns:a16="http://schemas.microsoft.com/office/drawing/2014/main" id="{D4EC6F09-00AC-AEC0-19C4-B27F0F1C927D}"/>
              </a:ext>
            </a:extLst>
          </p:cNvPr>
          <p:cNvSpPr/>
          <p:nvPr/>
        </p:nvSpPr>
        <p:spPr>
          <a:xfrm>
            <a:off x="599652" y="3465703"/>
            <a:ext cx="3840480" cy="91440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Sub FillUntilEmpty()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Dim i As Integer: i = 1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Do While Range("A" &amp; i) &lt;&gt; ""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 = i + 1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Loop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MsgBox "Found " &amp; (i-1) &amp; " entries"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End Sub</a:t>
            </a:r>
            <a:endParaRPr lang="en-US" sz="1000" dirty="0"/>
          </a:p>
        </p:txBody>
      </p:sp>
      <p:sp>
        <p:nvSpPr>
          <p:cNvPr id="12" name="Text 12">
            <a:extLst>
              <a:ext uri="{FF2B5EF4-FFF2-40B4-BE49-F238E27FC236}">
                <a16:creationId xmlns:a16="http://schemas.microsoft.com/office/drawing/2014/main" id="{476F73B6-91E0-A4C9-59A3-71C12C34AC64}"/>
              </a:ext>
            </a:extLst>
          </p:cNvPr>
          <p:cNvSpPr/>
          <p:nvPr/>
        </p:nvSpPr>
        <p:spPr>
          <a:xfrm>
            <a:off x="4749588" y="3016674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Each - Process Collections</a:t>
            </a:r>
            <a:endParaRPr lang="en-US" sz="1600" dirty="0"/>
          </a:p>
        </p:txBody>
      </p:sp>
      <p:sp>
        <p:nvSpPr>
          <p:cNvPr id="13" name="Text 14">
            <a:extLst>
              <a:ext uri="{FF2B5EF4-FFF2-40B4-BE49-F238E27FC236}">
                <a16:creationId xmlns:a16="http://schemas.microsoft.com/office/drawing/2014/main" id="{96D2763F-7C30-C990-084A-DAB3F0451DD3}"/>
              </a:ext>
            </a:extLst>
          </p:cNvPr>
          <p:cNvSpPr/>
          <p:nvPr/>
        </p:nvSpPr>
        <p:spPr>
          <a:xfrm>
            <a:off x="4892040" y="3555661"/>
            <a:ext cx="3657600" cy="91440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Sub HighlightNegatives()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Dim cell As Range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For Each cell In Range("A1:A10")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cell.Value &lt; 0 Then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cell.Interior.Color = vbRed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End If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Next cell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End Sub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131251980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>
          <a:extLst>
            <a:ext uri="{FF2B5EF4-FFF2-40B4-BE49-F238E27FC236}">
              <a16:creationId xmlns:a16="http://schemas.microsoft.com/office/drawing/2014/main" id="{CECCEFCD-4857-17F6-D51E-92AB02DC46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6">
            <a:extLst>
              <a:ext uri="{FF2B5EF4-FFF2-40B4-BE49-F238E27FC236}">
                <a16:creationId xmlns:a16="http://schemas.microsoft.com/office/drawing/2014/main" id="{F9F05A40-DEDE-50E8-5FB3-E504745DE83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51255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US" sz="3200" b="1" dirty="0">
                <a:solidFill>
                  <a:srgbClr val="1E2761"/>
                </a:solidFill>
                <a:latin typeface="Arial Black"/>
              </a:rPr>
              <a:t>Intermediate: Data Cleanup </a:t>
            </a:r>
            <a:endParaRPr lang="en-US" sz="3200" dirty="0">
              <a:latin typeface="Arial Black"/>
            </a:endParaRPr>
          </a:p>
          <a:p>
            <a:pPr marL="0" lv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endParaRPr b="1" dirty="0"/>
          </a:p>
        </p:txBody>
      </p:sp>
      <p:sp>
        <p:nvSpPr>
          <p:cNvPr id="89" name="Google Shape;89;p6">
            <a:extLst>
              <a:ext uri="{FF2B5EF4-FFF2-40B4-BE49-F238E27FC236}">
                <a16:creationId xmlns:a16="http://schemas.microsoft.com/office/drawing/2014/main" id="{B716F6DB-F0A3-EC09-71CD-60E7E37BBF3D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SzPts val="900"/>
              <a:buNone/>
            </a:pPr>
            <a:endParaRPr sz="900"/>
          </a:p>
        </p:txBody>
      </p:sp>
      <p:sp>
        <p:nvSpPr>
          <p:cNvPr id="91" name="Google Shape;91;p6">
            <a:extLst>
              <a:ext uri="{FF2B5EF4-FFF2-40B4-BE49-F238E27FC236}">
                <a16:creationId xmlns:a16="http://schemas.microsoft.com/office/drawing/2014/main" id="{0D03A843-C0F2-1B0C-ED76-0A24E08DC49C}"/>
              </a:ext>
            </a:extLst>
          </p:cNvPr>
          <p:cNvSpPr/>
          <p:nvPr/>
        </p:nvSpPr>
        <p:spPr>
          <a:xfrm>
            <a:off x="311700" y="116515"/>
            <a:ext cx="4601662" cy="219808"/>
          </a:xfrm>
          <a:prstGeom prst="roundRect">
            <a:avLst>
              <a:gd name="adj" fmla="val 16667"/>
            </a:avLst>
          </a:prstGeom>
          <a:solidFill>
            <a:srgbClr val="00B05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" name="Google Shape;92;p6">
            <a:extLst>
              <a:ext uri="{FF2B5EF4-FFF2-40B4-BE49-F238E27FC236}">
                <a16:creationId xmlns:a16="http://schemas.microsoft.com/office/drawing/2014/main" id="{B1A8561B-970C-1032-CE2D-47E5CFF7AE11}"/>
              </a:ext>
            </a:extLst>
          </p:cNvPr>
          <p:cNvSpPr/>
          <p:nvPr/>
        </p:nvSpPr>
        <p:spPr>
          <a:xfrm>
            <a:off x="4230638" y="4812031"/>
            <a:ext cx="4601662" cy="219808"/>
          </a:xfrm>
          <a:prstGeom prst="roundRect">
            <a:avLst>
              <a:gd name="adj" fmla="val 16667"/>
            </a:avLst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" name="Picture 1" descr="A logo with blue and green text&#10;&#10;AI-generated content may be incorrect.">
            <a:extLst>
              <a:ext uri="{FF2B5EF4-FFF2-40B4-BE49-F238E27FC236}">
                <a16:creationId xmlns:a16="http://schemas.microsoft.com/office/drawing/2014/main" id="{F1337A03-084B-0E54-1FFA-4D15E22FAA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53880" y="15346"/>
            <a:ext cx="1266825" cy="46672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38FC729-65EC-A276-5AD0-2CE5AA2C42C2}"/>
              </a:ext>
            </a:extLst>
          </p:cNvPr>
          <p:cNvSpPr txBox="1"/>
          <p:nvPr/>
        </p:nvSpPr>
        <p:spPr>
          <a:xfrm>
            <a:off x="179917" y="4804833"/>
            <a:ext cx="4572000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000" i="1">
                <a:solidFill>
                  <a:srgbClr val="595959"/>
                </a:solidFill>
                <a:latin typeface="Arial"/>
                <a:ea typeface="Arial"/>
                <a:cs typeface="Arial"/>
              </a:rPr>
              <a:t>© insanalytics</a:t>
            </a:r>
            <a:endParaRPr lang="en-US"/>
          </a:p>
          <a:p>
            <a:pPr algn="ctr"/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84C52D3B-76D5-8401-BA09-873DD088FC29}"/>
              </a:ext>
            </a:extLst>
          </p:cNvPr>
          <p:cNvSpPr/>
          <p:nvPr/>
        </p:nvSpPr>
        <p:spPr>
          <a:xfrm>
            <a:off x="315595" y="721148"/>
            <a:ext cx="6858000" cy="36576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000" b="1" dirty="0">
                <a:solidFill>
                  <a:srgbClr val="1E2761"/>
                </a:solidFill>
                <a:latin typeface="Arial"/>
                <a:ea typeface="Arial" pitchFamily="34" charset="-122"/>
                <a:cs typeface="Arial"/>
              </a:rPr>
              <a:t>Task: Clean and standardize a customer list</a:t>
            </a:r>
            <a:endParaRPr lang="en-US" sz="1000">
              <a:latin typeface="Arial"/>
              <a:cs typeface="Arial"/>
            </a:endParaRP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001F2DCC-48DC-2123-D52E-771D6929EF4A}"/>
              </a:ext>
            </a:extLst>
          </p:cNvPr>
          <p:cNvSpPr/>
          <p:nvPr/>
        </p:nvSpPr>
        <p:spPr>
          <a:xfrm>
            <a:off x="313901" y="986495"/>
            <a:ext cx="7907656" cy="340254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/>
        </p:spPr>
        <p:txBody>
          <a:bodyPr wrap="square" lIns="91440" tIns="45720" rIns="91440" bIns="4572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onsolas"/>
                <a:ea typeface="Consolas" pitchFamily="34" charset="-122"/>
                <a:cs typeface="Consolas" pitchFamily="34" charset="-120"/>
              </a:rPr>
              <a:t>Sub CleanCustomerData()</a:t>
            </a:r>
            <a:endParaRPr lang="en-US" sz="900">
              <a:latin typeface="Consolas"/>
              <a:cs typeface="Arial"/>
            </a:endParaRPr>
          </a:p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onsolas"/>
                <a:ea typeface="Consolas" pitchFamily="34" charset="-122"/>
                <a:cs typeface="Consolas" pitchFamily="34" charset="-120"/>
              </a:rPr>
              <a:t>  Dim lastRow As Long</a:t>
            </a:r>
            <a:endParaRPr lang="en-US" sz="900">
              <a:latin typeface="Consolas"/>
              <a:cs typeface="Arial"/>
            </a:endParaRPr>
          </a:p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onsolas"/>
                <a:ea typeface="Consolas" pitchFamily="34" charset="-122"/>
                <a:cs typeface="Consolas" pitchFamily="34" charset="-120"/>
              </a:rPr>
              <a:t>  Dim cell As Range</a:t>
            </a:r>
            <a:endParaRPr lang="en-US" sz="900">
              <a:latin typeface="Consolas"/>
              <a:cs typeface="Arial"/>
            </a:endParaRPr>
          </a:p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onsolas"/>
                <a:ea typeface="Consolas" pitchFamily="34" charset="-122"/>
                <a:cs typeface="Consolas" pitchFamily="34" charset="-120"/>
              </a:rPr>
              <a:t>  </a:t>
            </a:r>
            <a:endParaRPr lang="en-US" sz="900">
              <a:latin typeface="Consolas"/>
              <a:cs typeface="Arial"/>
            </a:endParaRPr>
          </a:p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onsolas"/>
                <a:ea typeface="Consolas" pitchFamily="34" charset="-122"/>
                <a:cs typeface="Consolas" pitchFamily="34" charset="-120"/>
              </a:rPr>
              <a:t>  ' Find last row with data</a:t>
            </a:r>
            <a:endParaRPr lang="en-US" sz="900">
              <a:latin typeface="Consolas"/>
              <a:cs typeface="Arial"/>
            </a:endParaRPr>
          </a:p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onsolas"/>
                <a:ea typeface="Consolas" pitchFamily="34" charset="-122"/>
                <a:cs typeface="Consolas" pitchFamily="34" charset="-120"/>
              </a:rPr>
              <a:t>  lastRow = Cells(Rows.Count, "A").End(xlUp).Row</a:t>
            </a:r>
            <a:endParaRPr lang="en-US" sz="900">
              <a:latin typeface="Consolas"/>
              <a:cs typeface="Arial"/>
            </a:endParaRPr>
          </a:p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onsolas"/>
                <a:ea typeface="Consolas" pitchFamily="34" charset="-122"/>
                <a:cs typeface="Consolas" pitchFamily="34" charset="-120"/>
              </a:rPr>
              <a:t>  </a:t>
            </a:r>
            <a:endParaRPr lang="en-US" sz="900">
              <a:latin typeface="Consolas"/>
              <a:cs typeface="Arial"/>
            </a:endParaRPr>
          </a:p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onsolas"/>
                <a:ea typeface="Consolas" pitchFamily="34" charset="-122"/>
                <a:cs typeface="Consolas" pitchFamily="34" charset="-120"/>
              </a:rPr>
              <a:t>  ' Loop through each row</a:t>
            </a:r>
            <a:endParaRPr lang="en-US" sz="900">
              <a:latin typeface="Consolas"/>
              <a:cs typeface="Arial"/>
            </a:endParaRPr>
          </a:p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onsolas"/>
                <a:ea typeface="Consolas" pitchFamily="34" charset="-122"/>
                <a:cs typeface="Consolas" pitchFamily="34" charset="-120"/>
              </a:rPr>
              <a:t>  For Each cell In Range("A2:A" &amp; lastRow)</a:t>
            </a:r>
            <a:endParaRPr lang="en-US" sz="900">
              <a:latin typeface="Consolas"/>
              <a:cs typeface="Arial"/>
            </a:endParaRPr>
          </a:p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onsolas"/>
                <a:ea typeface="Consolas" pitchFamily="34" charset="-122"/>
                <a:cs typeface="Consolas" pitchFamily="34" charset="-120"/>
              </a:rPr>
              <a:t>    ' Remove extra spaces</a:t>
            </a:r>
            <a:endParaRPr lang="en-US" sz="900">
              <a:latin typeface="Consolas"/>
              <a:cs typeface="Arial"/>
            </a:endParaRPr>
          </a:p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onsolas"/>
                <a:ea typeface="Consolas" pitchFamily="34" charset="-122"/>
                <a:cs typeface="Consolas" pitchFamily="34" charset="-120"/>
              </a:rPr>
              <a:t>    cell.Value = Trim(cell.Value)</a:t>
            </a:r>
            <a:endParaRPr lang="en-US" sz="900">
              <a:latin typeface="Consolas"/>
              <a:cs typeface="Arial"/>
            </a:endParaRPr>
          </a:p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onsolas"/>
                <a:ea typeface="Consolas" pitchFamily="34" charset="-122"/>
                <a:cs typeface="Consolas" pitchFamily="34" charset="-120"/>
              </a:rPr>
              <a:t>    </a:t>
            </a:r>
            <a:endParaRPr lang="en-US" sz="900">
              <a:latin typeface="Consolas"/>
              <a:cs typeface="Arial"/>
            </a:endParaRPr>
          </a:p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onsolas"/>
                <a:ea typeface="Consolas" pitchFamily="34" charset="-122"/>
                <a:cs typeface="Consolas" pitchFamily="34" charset="-120"/>
              </a:rPr>
              <a:t>    ' Convert to proper case (First Letter Capitalized)</a:t>
            </a:r>
            <a:endParaRPr lang="en-US" sz="900">
              <a:latin typeface="Consolas"/>
              <a:cs typeface="Arial"/>
            </a:endParaRPr>
          </a:p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onsolas"/>
                <a:ea typeface="Consolas" pitchFamily="34" charset="-122"/>
                <a:cs typeface="Consolas" pitchFamily="34" charset="-120"/>
              </a:rPr>
              <a:t>    cell.Value = Application.WorksheetFunction.Proper(cell.Value)</a:t>
            </a:r>
            <a:endParaRPr lang="en-US" sz="900">
              <a:latin typeface="Consolas"/>
              <a:cs typeface="Arial"/>
            </a:endParaRPr>
          </a:p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onsolas"/>
                <a:ea typeface="Consolas" pitchFamily="34" charset="-122"/>
                <a:cs typeface="Consolas" pitchFamily="34" charset="-120"/>
              </a:rPr>
              <a:t>    </a:t>
            </a:r>
            <a:endParaRPr lang="en-US" sz="900">
              <a:latin typeface="Consolas"/>
              <a:cs typeface="Arial"/>
            </a:endParaRPr>
          </a:p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onsolas"/>
                <a:ea typeface="Consolas" pitchFamily="34" charset="-122"/>
                <a:cs typeface="Consolas" pitchFamily="34" charset="-120"/>
              </a:rPr>
              <a:t>    ' Highlight if email column is empty</a:t>
            </a:r>
            <a:endParaRPr lang="en-US" sz="900">
              <a:latin typeface="Consolas"/>
              <a:cs typeface="Arial"/>
            </a:endParaRPr>
          </a:p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onsolas"/>
                <a:ea typeface="Consolas" pitchFamily="34" charset="-122"/>
                <a:cs typeface="Consolas" pitchFamily="34" charset="-120"/>
              </a:rPr>
              <a:t>    If cell.Offset(0, 2).Value = "" Then</a:t>
            </a:r>
            <a:endParaRPr lang="en-US" sz="900">
              <a:latin typeface="Consolas"/>
              <a:cs typeface="Arial"/>
            </a:endParaRPr>
          </a:p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onsolas"/>
                <a:ea typeface="Consolas" pitchFamily="34" charset="-122"/>
                <a:cs typeface="Consolas" pitchFamily="34" charset="-120"/>
              </a:rPr>
              <a:t>      cell.Interior.Color = RGB(255, 200, 200)</a:t>
            </a:r>
            <a:endParaRPr lang="en-US" sz="900">
              <a:latin typeface="Consolas"/>
              <a:cs typeface="Arial"/>
            </a:endParaRPr>
          </a:p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onsolas"/>
                <a:ea typeface="Consolas" pitchFamily="34" charset="-122"/>
                <a:cs typeface="Consolas" pitchFamily="34" charset="-120"/>
              </a:rPr>
              <a:t>    End If</a:t>
            </a:r>
            <a:endParaRPr lang="en-US" sz="900">
              <a:latin typeface="Consolas"/>
              <a:cs typeface="Arial"/>
            </a:endParaRPr>
          </a:p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onsolas"/>
                <a:ea typeface="Consolas" pitchFamily="34" charset="-122"/>
                <a:cs typeface="Consolas" pitchFamily="34" charset="-120"/>
              </a:rPr>
              <a:t>  Next cell</a:t>
            </a:r>
            <a:endParaRPr lang="en-US" sz="900">
              <a:latin typeface="Consolas"/>
              <a:cs typeface="Arial"/>
            </a:endParaRPr>
          </a:p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onsolas"/>
                <a:ea typeface="Consolas" pitchFamily="34" charset="-122"/>
                <a:cs typeface="Consolas" pitchFamily="34" charset="-120"/>
              </a:rPr>
              <a:t>  </a:t>
            </a:r>
            <a:endParaRPr lang="en-US" sz="900">
              <a:latin typeface="Consolas"/>
              <a:cs typeface="Arial"/>
            </a:endParaRPr>
          </a:p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onsolas"/>
                <a:ea typeface="Consolas" pitchFamily="34" charset="-122"/>
                <a:cs typeface="Consolas" pitchFamily="34" charset="-120"/>
              </a:rPr>
              <a:t>  MsgBox "Cl</a:t>
            </a:r>
            <a:r>
              <a:rPr lang="en-US" sz="1000" dirty="0">
                <a:solidFill>
                  <a:srgbClr val="1E293B"/>
                </a:solidFill>
                <a:latin typeface="Consolas"/>
                <a:ea typeface="Consolas" pitchFamily="34" charset="-122"/>
                <a:cs typeface="Consolas" pitchFamily="34" charset="-120"/>
              </a:rPr>
              <a:t>eanup complete! Processed " &amp; (lastRow - 1) &amp; " records."</a:t>
            </a:r>
            <a:endParaRPr lang="en-US" sz="1000" dirty="0">
              <a:latin typeface="Consolas"/>
            </a:endParaRPr>
          </a:p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End Sub</a:t>
            </a:r>
            <a:endParaRPr lang="en-US" sz="100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32D12C5A-22B1-3A85-5E9F-342CC6F464C1}"/>
              </a:ext>
            </a:extLst>
          </p:cNvPr>
          <p:cNvSpPr/>
          <p:nvPr/>
        </p:nvSpPr>
        <p:spPr>
          <a:xfrm>
            <a:off x="1164590" y="4480560"/>
            <a:ext cx="7498080" cy="27432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macro removes spaces, fixes capitalization, and highlights missing emails</a:t>
            </a:r>
            <a:endParaRPr lang="en-US" sz="1200" dirty="0"/>
          </a:p>
        </p:txBody>
      </p:sp>
      <p:pic>
        <p:nvPicPr>
          <p:cNvPr id="8" name="Picture 7" descr="preencoded.png">
            <a:extLst>
              <a:ext uri="{FF2B5EF4-FFF2-40B4-BE49-F238E27FC236}">
                <a16:creationId xmlns:a16="http://schemas.microsoft.com/office/drawing/2014/main" id="{00D4D957-8C5C-EB14-D391-80702F3A295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8471" y="4481513"/>
            <a:ext cx="276225" cy="276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663042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>
          <a:extLst>
            <a:ext uri="{FF2B5EF4-FFF2-40B4-BE49-F238E27FC236}">
              <a16:creationId xmlns:a16="http://schemas.microsoft.com/office/drawing/2014/main" id="{2CF8DA1F-16FB-7AC6-F5A2-677E5713EB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6">
            <a:extLst>
              <a:ext uri="{FF2B5EF4-FFF2-40B4-BE49-F238E27FC236}">
                <a16:creationId xmlns:a16="http://schemas.microsoft.com/office/drawing/2014/main" id="{CC9673DA-D034-0AA7-A7AC-66B1798F1CB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48080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r>
              <a:rPr lang="en-US" sz="2400" b="1" dirty="0">
                <a:solidFill>
                  <a:srgbClr val="1E2761"/>
                </a:solidFill>
                <a:latin typeface="Arial Black"/>
              </a:rPr>
              <a:t>User Input &amp; Messages</a:t>
            </a:r>
            <a:endParaRPr lang="en-US" sz="2400">
              <a:latin typeface="Arial Black"/>
            </a:endParaRPr>
          </a:p>
          <a:p>
            <a:pPr marL="0" lv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endParaRPr b="1" dirty="0"/>
          </a:p>
        </p:txBody>
      </p:sp>
      <p:sp>
        <p:nvSpPr>
          <p:cNvPr id="89" name="Google Shape;89;p6">
            <a:extLst>
              <a:ext uri="{FF2B5EF4-FFF2-40B4-BE49-F238E27FC236}">
                <a16:creationId xmlns:a16="http://schemas.microsoft.com/office/drawing/2014/main" id="{7504B2AA-1731-161B-AD59-482F5A052AD2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SzPts val="900"/>
              <a:buNone/>
            </a:pPr>
            <a:endParaRPr sz="900"/>
          </a:p>
        </p:txBody>
      </p:sp>
      <p:sp>
        <p:nvSpPr>
          <p:cNvPr id="91" name="Google Shape;91;p6">
            <a:extLst>
              <a:ext uri="{FF2B5EF4-FFF2-40B4-BE49-F238E27FC236}">
                <a16:creationId xmlns:a16="http://schemas.microsoft.com/office/drawing/2014/main" id="{AE297E57-BEA2-6866-E661-FBB6D5BCDE42}"/>
              </a:ext>
            </a:extLst>
          </p:cNvPr>
          <p:cNvSpPr/>
          <p:nvPr/>
        </p:nvSpPr>
        <p:spPr>
          <a:xfrm>
            <a:off x="311700" y="116515"/>
            <a:ext cx="4601662" cy="219808"/>
          </a:xfrm>
          <a:prstGeom prst="roundRect">
            <a:avLst>
              <a:gd name="adj" fmla="val 16667"/>
            </a:avLst>
          </a:prstGeom>
          <a:solidFill>
            <a:srgbClr val="00B05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" name="Google Shape;92;p6">
            <a:extLst>
              <a:ext uri="{FF2B5EF4-FFF2-40B4-BE49-F238E27FC236}">
                <a16:creationId xmlns:a16="http://schemas.microsoft.com/office/drawing/2014/main" id="{295D4EC5-7624-8F46-0780-56721E428F20}"/>
              </a:ext>
            </a:extLst>
          </p:cNvPr>
          <p:cNvSpPr/>
          <p:nvPr/>
        </p:nvSpPr>
        <p:spPr>
          <a:xfrm>
            <a:off x="4230638" y="4812031"/>
            <a:ext cx="4601662" cy="219808"/>
          </a:xfrm>
          <a:prstGeom prst="roundRect">
            <a:avLst>
              <a:gd name="adj" fmla="val 16667"/>
            </a:avLst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" name="Picture 1" descr="A logo with blue and green text&#10;&#10;AI-generated content may be incorrect.">
            <a:extLst>
              <a:ext uri="{FF2B5EF4-FFF2-40B4-BE49-F238E27FC236}">
                <a16:creationId xmlns:a16="http://schemas.microsoft.com/office/drawing/2014/main" id="{2F698F66-6215-5BE5-4270-D8D328C6D5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53880" y="15346"/>
            <a:ext cx="1266825" cy="46672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AFDA1A38-8D16-03B3-350E-FEAE15412BD9}"/>
              </a:ext>
            </a:extLst>
          </p:cNvPr>
          <p:cNvSpPr txBox="1"/>
          <p:nvPr/>
        </p:nvSpPr>
        <p:spPr>
          <a:xfrm>
            <a:off x="179917" y="4804833"/>
            <a:ext cx="4572000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000" i="1">
                <a:solidFill>
                  <a:srgbClr val="595959"/>
                </a:solidFill>
                <a:latin typeface="Arial"/>
                <a:ea typeface="Arial"/>
                <a:cs typeface="Arial"/>
              </a:rPr>
              <a:t>© insanalytics</a:t>
            </a:r>
            <a:endParaRPr lang="en-US"/>
          </a:p>
          <a:p>
            <a:pPr algn="ctr"/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64222E6C-B956-9B87-A1CB-B7B023CF1A0D}"/>
              </a:ext>
            </a:extLst>
          </p:cNvPr>
          <p:cNvSpPr/>
          <p:nvPr/>
        </p:nvSpPr>
        <p:spPr>
          <a:xfrm>
            <a:off x="457200" y="700405"/>
            <a:ext cx="4114800" cy="27432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 b="1" dirty="0">
                <a:solidFill>
                  <a:srgbClr val="1E2761"/>
                </a:solidFill>
                <a:latin typeface="Arial"/>
                <a:ea typeface="Arial" pitchFamily="34" charset="-122"/>
                <a:cs typeface="Arial"/>
              </a:rPr>
              <a:t> </a:t>
            </a:r>
            <a:r>
              <a:rPr lang="en-US" sz="1200" b="1" dirty="0" err="1">
                <a:solidFill>
                  <a:srgbClr val="1E2761"/>
                </a:solidFill>
                <a:latin typeface="Arial"/>
                <a:ea typeface="Arial" pitchFamily="34" charset="-122"/>
                <a:cs typeface="Arial"/>
              </a:rPr>
              <a:t>InputBox</a:t>
            </a:r>
            <a:r>
              <a:rPr lang="en-US" sz="1200" b="1" dirty="0">
                <a:solidFill>
                  <a:srgbClr val="1E2761"/>
                </a:solidFill>
                <a:latin typeface="Arial"/>
                <a:ea typeface="Arial" pitchFamily="34" charset="-122"/>
                <a:cs typeface="Arial"/>
              </a:rPr>
              <a:t> - Get User Input</a:t>
            </a:r>
            <a:endParaRPr lang="en-US" sz="1200" dirty="0">
              <a:latin typeface="Arial"/>
              <a:cs typeface="Arial"/>
            </a:endParaRP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5BBD3705-063E-8F8F-8B0F-5E465FCFBE5C}"/>
              </a:ext>
            </a:extLst>
          </p:cNvPr>
          <p:cNvSpPr/>
          <p:nvPr/>
        </p:nvSpPr>
        <p:spPr>
          <a:xfrm>
            <a:off x="594360" y="990686"/>
            <a:ext cx="3840480" cy="147595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/>
        </p:spPr>
        <p:txBody>
          <a:bodyPr wrap="square" lIns="91440" tIns="45720" rIns="91440" bIns="4572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800" dirty="0">
                <a:solidFill>
                  <a:srgbClr val="1E293B"/>
                </a:solidFill>
                <a:latin typeface="Consolas"/>
                <a:ea typeface="Consolas" pitchFamily="34" charset="-122"/>
                <a:cs typeface="Consolas" pitchFamily="34" charset="-120"/>
              </a:rPr>
              <a:t>Sub GetUserName()</a:t>
            </a:r>
            <a:endParaRPr lang="en-US" sz="800">
              <a:latin typeface="Consolas"/>
              <a:ea typeface="Calibri"/>
              <a:cs typeface="Calibri"/>
            </a:endParaRPr>
          </a:p>
          <a:p>
            <a:pPr marL="0" indent="0">
              <a:buNone/>
            </a:pPr>
            <a:r>
              <a:rPr lang="en-US" sz="800" dirty="0">
                <a:solidFill>
                  <a:srgbClr val="1E293B"/>
                </a:solidFill>
                <a:latin typeface="Consolas"/>
                <a:ea typeface="Consolas" pitchFamily="34" charset="-122"/>
                <a:cs typeface="Consolas" pitchFamily="34" charset="-120"/>
              </a:rPr>
              <a:t>  Dim userName As String</a:t>
            </a:r>
            <a:endParaRPr lang="en-US" sz="800">
              <a:latin typeface="Consolas"/>
              <a:ea typeface="Calibri"/>
              <a:cs typeface="Calibri"/>
            </a:endParaRPr>
          </a:p>
          <a:p>
            <a:pPr marL="0" indent="0">
              <a:buNone/>
            </a:pPr>
            <a:r>
              <a:rPr lang="en-US" sz="800" dirty="0">
                <a:solidFill>
                  <a:srgbClr val="1E293B"/>
                </a:solidFill>
                <a:latin typeface="Consolas"/>
                <a:ea typeface="Consolas" pitchFamily="34" charset="-122"/>
                <a:cs typeface="Consolas" pitchFamily="34" charset="-120"/>
              </a:rPr>
              <a:t>  </a:t>
            </a:r>
            <a:endParaRPr lang="en-US" sz="800">
              <a:latin typeface="Consolas"/>
              <a:ea typeface="Calibri"/>
              <a:cs typeface="Calibri"/>
            </a:endParaRPr>
          </a:p>
          <a:p>
            <a:pPr marL="0" indent="0">
              <a:buNone/>
            </a:pPr>
            <a:r>
              <a:rPr lang="en-US" sz="800" dirty="0">
                <a:solidFill>
                  <a:srgbClr val="1E293B"/>
                </a:solidFill>
                <a:latin typeface="Consolas"/>
                <a:ea typeface="Consolas" pitchFamily="34" charset="-122"/>
                <a:cs typeface="Consolas" pitchFamily="34" charset="-120"/>
              </a:rPr>
              <a:t>  userName = InputBox( _</a:t>
            </a:r>
            <a:endParaRPr lang="en-US" sz="800">
              <a:latin typeface="Consolas"/>
              <a:ea typeface="Calibri"/>
              <a:cs typeface="Calibri"/>
            </a:endParaRPr>
          </a:p>
          <a:p>
            <a:pPr marL="0" indent="0">
              <a:buNone/>
            </a:pPr>
            <a:r>
              <a:rPr lang="en-US" sz="800" dirty="0">
                <a:solidFill>
                  <a:srgbClr val="1E293B"/>
                </a:solidFill>
                <a:latin typeface="Consolas"/>
                <a:ea typeface="Consolas" pitchFamily="34" charset="-122"/>
                <a:cs typeface="Consolas" pitchFamily="34" charset="-120"/>
              </a:rPr>
              <a:t>    "Enter your name:", _</a:t>
            </a:r>
            <a:endParaRPr lang="en-US" sz="800">
              <a:latin typeface="Consolas"/>
              <a:ea typeface="Calibri"/>
              <a:cs typeface="Calibri"/>
            </a:endParaRPr>
          </a:p>
          <a:p>
            <a:pPr marL="0" indent="0">
              <a:buNone/>
            </a:pPr>
            <a:r>
              <a:rPr lang="en-US" sz="800" dirty="0">
                <a:solidFill>
                  <a:srgbClr val="1E293B"/>
                </a:solidFill>
                <a:latin typeface="Consolas"/>
                <a:ea typeface="Consolas" pitchFamily="34" charset="-122"/>
                <a:cs typeface="Consolas" pitchFamily="34" charset="-120"/>
              </a:rPr>
              <a:t>    "User Input")</a:t>
            </a:r>
            <a:endParaRPr lang="en-US" sz="800">
              <a:latin typeface="Consolas"/>
              <a:ea typeface="Calibri"/>
              <a:cs typeface="Calibri"/>
            </a:endParaRPr>
          </a:p>
          <a:p>
            <a:pPr marL="0" indent="0">
              <a:buNone/>
            </a:pPr>
            <a:r>
              <a:rPr lang="en-US" sz="800" dirty="0">
                <a:solidFill>
                  <a:srgbClr val="1E293B"/>
                </a:solidFill>
                <a:latin typeface="Consolas"/>
                <a:ea typeface="Consolas" pitchFamily="34" charset="-122"/>
                <a:cs typeface="Consolas" pitchFamily="34" charset="-120"/>
              </a:rPr>
              <a:t>  </a:t>
            </a:r>
            <a:endParaRPr lang="en-US" sz="800">
              <a:latin typeface="Consolas"/>
              <a:ea typeface="Calibri"/>
              <a:cs typeface="Calibri"/>
            </a:endParaRPr>
          </a:p>
          <a:p>
            <a:pPr marL="0" indent="0">
              <a:buNone/>
            </a:pPr>
            <a:r>
              <a:rPr lang="en-US" sz="800" dirty="0">
                <a:solidFill>
                  <a:srgbClr val="1E293B"/>
                </a:solidFill>
                <a:latin typeface="Consolas"/>
                <a:ea typeface="Consolas" pitchFamily="34" charset="-122"/>
                <a:cs typeface="Consolas" pitchFamily="34" charset="-120"/>
              </a:rPr>
              <a:t>  If userName &lt;&gt; "" Then</a:t>
            </a:r>
            <a:endParaRPr lang="en-US" sz="800">
              <a:latin typeface="Consolas"/>
              <a:ea typeface="Calibri"/>
              <a:cs typeface="Calibri"/>
            </a:endParaRPr>
          </a:p>
          <a:p>
            <a:pPr marL="0" indent="0">
              <a:buNone/>
            </a:pPr>
            <a:r>
              <a:rPr lang="en-US" sz="800" dirty="0">
                <a:solidFill>
                  <a:srgbClr val="1E293B"/>
                </a:solidFill>
                <a:latin typeface="Consolas"/>
                <a:ea typeface="Consolas" pitchFamily="34" charset="-122"/>
                <a:cs typeface="Consolas" pitchFamily="34" charset="-120"/>
              </a:rPr>
              <a:t>    Range("A1").Value = userName</a:t>
            </a:r>
            <a:endParaRPr lang="en-US" sz="800">
              <a:latin typeface="Consolas"/>
              <a:ea typeface="Calibri"/>
              <a:cs typeface="Calibri"/>
            </a:endParaRPr>
          </a:p>
          <a:p>
            <a:pPr marL="0" indent="0">
              <a:buNone/>
            </a:pPr>
            <a:r>
              <a:rPr lang="en-US" sz="800" dirty="0">
                <a:solidFill>
                  <a:srgbClr val="1E293B"/>
                </a:solidFill>
                <a:latin typeface="Consolas"/>
                <a:ea typeface="Consolas" pitchFamily="34" charset="-122"/>
                <a:cs typeface="Consolas" pitchFamily="34" charset="-120"/>
              </a:rPr>
              <a:t>  End If</a:t>
            </a:r>
            <a:endParaRPr lang="en-US" sz="800">
              <a:latin typeface="Consolas"/>
              <a:ea typeface="Calibri"/>
              <a:cs typeface="Calibri"/>
            </a:endParaRPr>
          </a:p>
          <a:p>
            <a:pPr marL="0" indent="0">
              <a:buNone/>
            </a:pPr>
            <a:r>
              <a:rPr lang="en-US" sz="800" dirty="0">
                <a:solidFill>
                  <a:srgbClr val="1E293B"/>
                </a:solidFill>
                <a:latin typeface="Consolas"/>
                <a:ea typeface="Consolas" pitchFamily="34" charset="-122"/>
                <a:cs typeface="Consolas" pitchFamily="34" charset="-120"/>
              </a:rPr>
              <a:t>End Sub</a:t>
            </a:r>
            <a:endParaRPr lang="en-US" sz="800" dirty="0">
              <a:latin typeface="Consolas"/>
            </a:endParaRPr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E78CAE6C-C7BA-3388-856A-C063E3703457}"/>
              </a:ext>
            </a:extLst>
          </p:cNvPr>
          <p:cNvSpPr/>
          <p:nvPr/>
        </p:nvSpPr>
        <p:spPr>
          <a:xfrm>
            <a:off x="4754880" y="700405"/>
            <a:ext cx="3931920" cy="27432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 b="1" dirty="0">
                <a:solidFill>
                  <a:srgbClr val="1E2761"/>
                </a:solidFill>
                <a:latin typeface="Arial"/>
                <a:ea typeface="Arial" pitchFamily="34" charset="-122"/>
                <a:cs typeface="Arial"/>
              </a:rPr>
              <a:t> </a:t>
            </a:r>
            <a:r>
              <a:rPr lang="en-US" sz="1200" b="1" dirty="0" err="1">
                <a:solidFill>
                  <a:srgbClr val="1E2761"/>
                </a:solidFill>
                <a:latin typeface="Arial"/>
                <a:ea typeface="Arial" pitchFamily="34" charset="-122"/>
                <a:cs typeface="Arial"/>
              </a:rPr>
              <a:t>MsgBox</a:t>
            </a:r>
            <a:r>
              <a:rPr lang="en-US" sz="1200" b="1" dirty="0">
                <a:solidFill>
                  <a:srgbClr val="1E2761"/>
                </a:solidFill>
                <a:latin typeface="Arial"/>
                <a:ea typeface="Arial" pitchFamily="34" charset="-122"/>
                <a:cs typeface="Arial"/>
              </a:rPr>
              <a:t> - Display Messages</a:t>
            </a:r>
            <a:endParaRPr lang="en-US" sz="1200" dirty="0">
              <a:latin typeface="Arial"/>
              <a:cs typeface="Arial"/>
            </a:endParaRPr>
          </a:p>
        </p:txBody>
      </p:sp>
      <p:sp>
        <p:nvSpPr>
          <p:cNvPr id="7" name="Text 6">
            <a:extLst>
              <a:ext uri="{FF2B5EF4-FFF2-40B4-BE49-F238E27FC236}">
                <a16:creationId xmlns:a16="http://schemas.microsoft.com/office/drawing/2014/main" id="{F9980189-E432-0AD6-0462-CA4BD6D5A1F8}"/>
              </a:ext>
            </a:extLst>
          </p:cNvPr>
          <p:cNvSpPr/>
          <p:nvPr/>
        </p:nvSpPr>
        <p:spPr>
          <a:xfrm>
            <a:off x="4913205" y="995976"/>
            <a:ext cx="2710394" cy="148124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/>
        </p:spPr>
        <p:txBody>
          <a:bodyPr wrap="square" lIns="91440" tIns="45720" rIns="91440" bIns="4572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800" dirty="0">
                <a:solidFill>
                  <a:srgbClr val="1E293B"/>
                </a:solidFill>
                <a:latin typeface="Consolas"/>
                <a:ea typeface="Consolas" pitchFamily="34" charset="-122"/>
                <a:cs typeface="Consolas" pitchFamily="34" charset="-120"/>
              </a:rPr>
              <a:t>Sub ShowMessage()</a:t>
            </a:r>
            <a:endParaRPr lang="en-US" sz="800">
              <a:latin typeface="Consolas"/>
              <a:ea typeface="Calibri"/>
              <a:cs typeface="Calibri"/>
            </a:endParaRPr>
          </a:p>
          <a:p>
            <a:pPr marL="0" indent="0">
              <a:buNone/>
            </a:pPr>
            <a:r>
              <a:rPr lang="en-US" sz="800" dirty="0">
                <a:solidFill>
                  <a:srgbClr val="1E293B"/>
                </a:solidFill>
                <a:latin typeface="Consolas"/>
                <a:ea typeface="Consolas" pitchFamily="34" charset="-122"/>
                <a:cs typeface="Consolas" pitchFamily="34" charset="-120"/>
              </a:rPr>
              <a:t>  Dim result As Integer</a:t>
            </a:r>
            <a:endParaRPr lang="en-US" sz="800">
              <a:latin typeface="Consolas"/>
              <a:ea typeface="Calibri"/>
              <a:cs typeface="Calibri"/>
            </a:endParaRPr>
          </a:p>
          <a:p>
            <a:pPr marL="0" indent="0">
              <a:buNone/>
            </a:pPr>
            <a:r>
              <a:rPr lang="en-US" sz="800" dirty="0">
                <a:solidFill>
                  <a:srgbClr val="1E293B"/>
                </a:solidFill>
                <a:latin typeface="Consolas"/>
                <a:ea typeface="Consolas" pitchFamily="34" charset="-122"/>
                <a:cs typeface="Consolas" pitchFamily="34" charset="-120"/>
              </a:rPr>
              <a:t>  </a:t>
            </a:r>
            <a:endParaRPr lang="en-US" sz="800">
              <a:latin typeface="Consolas"/>
              <a:ea typeface="Calibri"/>
              <a:cs typeface="Calibri"/>
            </a:endParaRPr>
          </a:p>
          <a:p>
            <a:pPr marL="0" indent="0">
              <a:buNone/>
            </a:pPr>
            <a:r>
              <a:rPr lang="en-US" sz="800" dirty="0">
                <a:solidFill>
                  <a:srgbClr val="1E293B"/>
                </a:solidFill>
                <a:latin typeface="Consolas"/>
                <a:ea typeface="Consolas" pitchFamily="34" charset="-122"/>
                <a:cs typeface="Consolas" pitchFamily="34" charset="-120"/>
              </a:rPr>
              <a:t>  result = MsgBox( _</a:t>
            </a:r>
            <a:endParaRPr lang="en-US" sz="800">
              <a:latin typeface="Consolas"/>
              <a:ea typeface="Calibri"/>
              <a:cs typeface="Calibri"/>
            </a:endParaRPr>
          </a:p>
          <a:p>
            <a:pPr marL="0" indent="0">
              <a:buNone/>
            </a:pPr>
            <a:r>
              <a:rPr lang="en-US" sz="800" dirty="0">
                <a:solidFill>
                  <a:srgbClr val="1E293B"/>
                </a:solidFill>
                <a:latin typeface="Consolas"/>
                <a:ea typeface="Consolas" pitchFamily="34" charset="-122"/>
                <a:cs typeface="Consolas" pitchFamily="34" charset="-120"/>
              </a:rPr>
              <a:t>    "Save changes?", _</a:t>
            </a:r>
            <a:endParaRPr lang="en-US" sz="800">
              <a:latin typeface="Consolas"/>
              <a:ea typeface="Calibri"/>
              <a:cs typeface="Calibri"/>
            </a:endParaRPr>
          </a:p>
          <a:p>
            <a:pPr marL="0" indent="0">
              <a:buNone/>
            </a:pPr>
            <a:r>
              <a:rPr lang="en-US" sz="800" dirty="0">
                <a:solidFill>
                  <a:srgbClr val="1E293B"/>
                </a:solidFill>
                <a:latin typeface="Consolas"/>
                <a:ea typeface="Consolas" pitchFamily="34" charset="-122"/>
                <a:cs typeface="Consolas" pitchFamily="34" charset="-120"/>
              </a:rPr>
              <a:t>    vbYesNo + vbQuestion, _</a:t>
            </a:r>
            <a:endParaRPr lang="en-US" sz="800">
              <a:latin typeface="Consolas"/>
              <a:ea typeface="Calibri"/>
              <a:cs typeface="Calibri"/>
            </a:endParaRPr>
          </a:p>
          <a:p>
            <a:pPr marL="0" indent="0">
              <a:buNone/>
            </a:pPr>
            <a:r>
              <a:rPr lang="en-US" sz="800" dirty="0">
                <a:solidFill>
                  <a:srgbClr val="1E293B"/>
                </a:solidFill>
                <a:latin typeface="Consolas"/>
                <a:ea typeface="Consolas" pitchFamily="34" charset="-122"/>
                <a:cs typeface="Consolas" pitchFamily="34" charset="-120"/>
              </a:rPr>
              <a:t>    "Confirm")</a:t>
            </a:r>
            <a:endParaRPr lang="en-US" sz="800">
              <a:latin typeface="Consolas"/>
              <a:ea typeface="Calibri"/>
              <a:cs typeface="Calibri"/>
            </a:endParaRPr>
          </a:p>
          <a:p>
            <a:pPr marL="0" indent="0">
              <a:buNone/>
            </a:pPr>
            <a:r>
              <a:rPr lang="en-US" sz="800" dirty="0">
                <a:solidFill>
                  <a:srgbClr val="1E293B"/>
                </a:solidFill>
                <a:latin typeface="Consolas"/>
                <a:ea typeface="Consolas" pitchFamily="34" charset="-122"/>
                <a:cs typeface="Consolas" pitchFamily="34" charset="-120"/>
              </a:rPr>
              <a:t>  </a:t>
            </a:r>
            <a:endParaRPr lang="en-US" sz="800">
              <a:latin typeface="Consolas"/>
              <a:ea typeface="Calibri"/>
              <a:cs typeface="Calibri"/>
            </a:endParaRPr>
          </a:p>
          <a:p>
            <a:pPr marL="0" indent="0">
              <a:buNone/>
            </a:pPr>
            <a:r>
              <a:rPr lang="en-US" sz="800" dirty="0">
                <a:solidFill>
                  <a:srgbClr val="1E293B"/>
                </a:solidFill>
                <a:latin typeface="Consolas"/>
                <a:ea typeface="Consolas" pitchFamily="34" charset="-122"/>
                <a:cs typeface="Consolas" pitchFamily="34" charset="-120"/>
              </a:rPr>
              <a:t>  If result = vbYes Then</a:t>
            </a:r>
            <a:endParaRPr lang="en-US" sz="800">
              <a:latin typeface="Consolas"/>
              <a:ea typeface="Calibri"/>
              <a:cs typeface="Calibri"/>
            </a:endParaRPr>
          </a:p>
          <a:p>
            <a:pPr marL="0" indent="0">
              <a:buNone/>
            </a:pPr>
            <a:r>
              <a:rPr lang="en-US" sz="800" dirty="0">
                <a:solidFill>
                  <a:srgbClr val="1E293B"/>
                </a:solidFill>
                <a:latin typeface="Consolas"/>
                <a:ea typeface="Consolas" pitchFamily="34" charset="-122"/>
                <a:cs typeface="Consolas" pitchFamily="34" charset="-120"/>
              </a:rPr>
              <a:t>    ' Save code here</a:t>
            </a:r>
            <a:endParaRPr lang="en-US" sz="800">
              <a:latin typeface="Consolas"/>
              <a:ea typeface="Calibri"/>
              <a:cs typeface="Calibri"/>
            </a:endParaRPr>
          </a:p>
          <a:p>
            <a:pPr marL="0" indent="0">
              <a:buNone/>
            </a:pPr>
            <a:r>
              <a:rPr lang="en-US" sz="800" dirty="0">
                <a:solidFill>
                  <a:srgbClr val="1E293B"/>
                </a:solidFill>
                <a:latin typeface="Consolas"/>
                <a:ea typeface="Consolas" pitchFamily="34" charset="-122"/>
                <a:cs typeface="Consolas" pitchFamily="34" charset="-120"/>
              </a:rPr>
              <a:t>  End If</a:t>
            </a:r>
            <a:endParaRPr lang="en-US" sz="800">
              <a:latin typeface="Consolas"/>
              <a:ea typeface="Calibri"/>
              <a:cs typeface="Calibri"/>
            </a:endParaRPr>
          </a:p>
          <a:p>
            <a:pPr marL="0" indent="0">
              <a:buNone/>
            </a:pPr>
            <a:r>
              <a:rPr lang="en-US" sz="800" dirty="0">
                <a:solidFill>
                  <a:srgbClr val="1E293B"/>
                </a:solidFill>
                <a:latin typeface="Consolas"/>
                <a:ea typeface="Consolas" pitchFamily="34" charset="-122"/>
                <a:cs typeface="Consolas" pitchFamily="34" charset="-120"/>
              </a:rPr>
              <a:t>End Sub</a:t>
            </a:r>
            <a:endParaRPr lang="en-US" sz="800" dirty="0">
              <a:latin typeface="Consolas"/>
            </a:endParaRPr>
          </a:p>
        </p:txBody>
      </p:sp>
      <p:sp>
        <p:nvSpPr>
          <p:cNvPr id="8" name="Text 7">
            <a:extLst>
              <a:ext uri="{FF2B5EF4-FFF2-40B4-BE49-F238E27FC236}">
                <a16:creationId xmlns:a16="http://schemas.microsoft.com/office/drawing/2014/main" id="{C65D6F44-402C-8093-0C48-0743028067AE}"/>
              </a:ext>
            </a:extLst>
          </p:cNvPr>
          <p:cNvSpPr/>
          <p:nvPr/>
        </p:nvSpPr>
        <p:spPr>
          <a:xfrm>
            <a:off x="451908" y="2553335"/>
            <a:ext cx="8229600" cy="27432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 b="1" dirty="0">
                <a:solidFill>
                  <a:srgbClr val="1E2761"/>
                </a:solidFill>
                <a:latin typeface="Arial"/>
                <a:ea typeface="Arial" pitchFamily="34" charset="-122"/>
                <a:cs typeface="Arial"/>
              </a:rPr>
              <a:t> Combined Example: Interactive Report</a:t>
            </a:r>
            <a:endParaRPr lang="en-US" sz="1200" dirty="0">
              <a:latin typeface="Arial"/>
              <a:cs typeface="Arial"/>
            </a:endParaRPr>
          </a:p>
        </p:txBody>
      </p:sp>
      <p:sp>
        <p:nvSpPr>
          <p:cNvPr id="9" name="Text 9">
            <a:extLst>
              <a:ext uri="{FF2B5EF4-FFF2-40B4-BE49-F238E27FC236}">
                <a16:creationId xmlns:a16="http://schemas.microsoft.com/office/drawing/2014/main" id="{5E91CB1B-1F83-C5FB-3010-E23472A6CB2C}"/>
              </a:ext>
            </a:extLst>
          </p:cNvPr>
          <p:cNvSpPr/>
          <p:nvPr/>
        </p:nvSpPr>
        <p:spPr>
          <a:xfrm>
            <a:off x="594360" y="2822447"/>
            <a:ext cx="6812281" cy="195071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/>
        </p:spPr>
        <p:txBody>
          <a:bodyPr wrap="square" lIns="91440" tIns="45720" rIns="91440" bIns="4572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800" dirty="0">
                <a:solidFill>
                  <a:srgbClr val="1E293B"/>
                </a:solidFill>
                <a:latin typeface="Consolas"/>
                <a:ea typeface="Consolas" pitchFamily="34" charset="-122"/>
                <a:cs typeface="Consolas" pitchFamily="34" charset="-120"/>
              </a:rPr>
              <a:t>Sub CreateReport()</a:t>
            </a:r>
            <a:endParaRPr lang="en-US" sz="800">
              <a:latin typeface="Consolas"/>
              <a:ea typeface="Calibri"/>
              <a:cs typeface="Calibri"/>
            </a:endParaRPr>
          </a:p>
          <a:p>
            <a:pPr marL="0" indent="0">
              <a:buNone/>
            </a:pPr>
            <a:r>
              <a:rPr lang="en-US" sz="800" dirty="0">
                <a:solidFill>
                  <a:srgbClr val="1E293B"/>
                </a:solidFill>
                <a:latin typeface="Consolas"/>
                <a:ea typeface="Consolas" pitchFamily="34" charset="-122"/>
                <a:cs typeface="Consolas" pitchFamily="34" charset="-120"/>
              </a:rPr>
              <a:t>  Dim reportType As String</a:t>
            </a:r>
            <a:endParaRPr lang="en-US" sz="800">
              <a:latin typeface="Consolas"/>
              <a:ea typeface="Calibri"/>
              <a:cs typeface="Calibri"/>
            </a:endParaRPr>
          </a:p>
          <a:p>
            <a:pPr marL="0" indent="0">
              <a:buNone/>
            </a:pPr>
            <a:r>
              <a:rPr lang="en-US" sz="800" dirty="0">
                <a:solidFill>
                  <a:srgbClr val="1E293B"/>
                </a:solidFill>
                <a:latin typeface="Consolas"/>
                <a:ea typeface="Consolas" pitchFamily="34" charset="-122"/>
                <a:cs typeface="Consolas" pitchFamily="34" charset="-120"/>
              </a:rPr>
              <a:t>  </a:t>
            </a:r>
            <a:endParaRPr lang="en-US" sz="800">
              <a:latin typeface="Consolas"/>
              <a:ea typeface="Calibri"/>
              <a:cs typeface="Calibri"/>
            </a:endParaRPr>
          </a:p>
          <a:p>
            <a:pPr marL="0" indent="0">
              <a:buNone/>
            </a:pPr>
            <a:r>
              <a:rPr lang="en-US" sz="800" dirty="0">
                <a:solidFill>
                  <a:srgbClr val="1E293B"/>
                </a:solidFill>
                <a:latin typeface="Consolas"/>
                <a:ea typeface="Consolas" pitchFamily="34" charset="-122"/>
                <a:cs typeface="Consolas" pitchFamily="34" charset="-120"/>
              </a:rPr>
              <a:t>  reportType = InputBox("Enter report type (Sales/Inventory/Summary):", "Report Generator")</a:t>
            </a:r>
            <a:endParaRPr lang="en-US" sz="800">
              <a:latin typeface="Consolas"/>
              <a:ea typeface="Calibri"/>
              <a:cs typeface="Calibri"/>
            </a:endParaRPr>
          </a:p>
          <a:p>
            <a:pPr marL="0" indent="0">
              <a:buNone/>
            </a:pPr>
            <a:endParaRPr lang="en-US" sz="800" dirty="0">
              <a:solidFill>
                <a:srgbClr val="1E293B"/>
              </a:solidFill>
              <a:latin typeface="Consolas"/>
            </a:endParaRPr>
          </a:p>
          <a:p>
            <a:pPr marL="0" indent="0">
              <a:buNone/>
            </a:pPr>
            <a:r>
              <a:rPr lang="en-US" sz="800" dirty="0">
                <a:solidFill>
                  <a:srgbClr val="1E293B"/>
                </a:solidFill>
                <a:latin typeface="Consolas"/>
                <a:ea typeface="Consolas" pitchFamily="34" charset="-122"/>
                <a:cs typeface="Consolas" pitchFamily="34" charset="-120"/>
              </a:rPr>
              <a:t>  Select Case UCase(reportType)</a:t>
            </a:r>
            <a:endParaRPr lang="en-US" sz="800">
              <a:latin typeface="Consolas"/>
              <a:ea typeface="Calibri"/>
              <a:cs typeface="Calibri"/>
            </a:endParaRPr>
          </a:p>
          <a:p>
            <a:pPr marL="0" indent="0">
              <a:buNone/>
            </a:pPr>
            <a:r>
              <a:rPr lang="en-US" sz="800" dirty="0">
                <a:solidFill>
                  <a:srgbClr val="1E293B"/>
                </a:solidFill>
                <a:latin typeface="Consolas"/>
                <a:ea typeface="Consolas" pitchFamily="34" charset="-122"/>
                <a:cs typeface="Consolas" pitchFamily="34" charset="-120"/>
              </a:rPr>
              <a:t>    Case "SALES"</a:t>
            </a:r>
            <a:endParaRPr lang="en-US" sz="800">
              <a:latin typeface="Consolas"/>
              <a:ea typeface="Calibri"/>
              <a:cs typeface="Calibri"/>
            </a:endParaRPr>
          </a:p>
          <a:p>
            <a:pPr marL="0" indent="0">
              <a:buNone/>
            </a:pPr>
            <a:r>
              <a:rPr lang="en-US" sz="800" dirty="0">
                <a:solidFill>
                  <a:srgbClr val="1E293B"/>
                </a:solidFill>
                <a:latin typeface="Consolas"/>
                <a:ea typeface="Consolas" pitchFamily="34" charset="-122"/>
                <a:cs typeface="Consolas" pitchFamily="34" charset="-120"/>
              </a:rPr>
              <a:t>      GenerateSalesReport</a:t>
            </a:r>
            <a:endParaRPr lang="en-US" sz="800">
              <a:latin typeface="Consolas"/>
              <a:ea typeface="Calibri"/>
              <a:cs typeface="Calibri"/>
            </a:endParaRPr>
          </a:p>
          <a:p>
            <a:pPr marL="0" indent="0">
              <a:buNone/>
            </a:pPr>
            <a:r>
              <a:rPr lang="en-US" sz="800" dirty="0">
                <a:solidFill>
                  <a:srgbClr val="1E293B"/>
                </a:solidFill>
                <a:latin typeface="Consolas"/>
                <a:ea typeface="Consolas" pitchFamily="34" charset="-122"/>
                <a:cs typeface="Consolas" pitchFamily="34" charset="-120"/>
              </a:rPr>
              <a:t>    Case "INVENTORY"</a:t>
            </a:r>
            <a:endParaRPr lang="en-US" sz="800">
              <a:latin typeface="Consolas"/>
              <a:ea typeface="Calibri"/>
              <a:cs typeface="Calibri"/>
            </a:endParaRPr>
          </a:p>
          <a:p>
            <a:pPr marL="0" indent="0">
              <a:buNone/>
            </a:pPr>
            <a:r>
              <a:rPr lang="en-US" sz="800" dirty="0">
                <a:solidFill>
                  <a:srgbClr val="1E293B"/>
                </a:solidFill>
                <a:latin typeface="Consolas"/>
                <a:ea typeface="Consolas" pitchFamily="34" charset="-122"/>
                <a:cs typeface="Consolas" pitchFamily="34" charset="-120"/>
              </a:rPr>
              <a:t>      GenerateInventoryReport</a:t>
            </a:r>
            <a:endParaRPr lang="en-US" sz="800">
              <a:latin typeface="Consolas"/>
              <a:ea typeface="Calibri"/>
              <a:cs typeface="Calibri"/>
            </a:endParaRPr>
          </a:p>
          <a:p>
            <a:pPr marL="0" indent="0">
              <a:buNone/>
            </a:pPr>
            <a:r>
              <a:rPr lang="en-US" sz="800" dirty="0">
                <a:solidFill>
                  <a:srgbClr val="1E293B"/>
                </a:solidFill>
                <a:latin typeface="Consolas"/>
                <a:ea typeface="Consolas" pitchFamily="34" charset="-122"/>
                <a:cs typeface="Consolas" pitchFamily="34" charset="-120"/>
              </a:rPr>
              <a:t>    Case "SUMMARY"</a:t>
            </a:r>
            <a:endParaRPr lang="en-US" sz="800">
              <a:latin typeface="Consolas"/>
              <a:ea typeface="Calibri"/>
              <a:cs typeface="Calibri"/>
            </a:endParaRPr>
          </a:p>
          <a:p>
            <a:pPr marL="0" indent="0">
              <a:buNone/>
            </a:pPr>
            <a:r>
              <a:rPr lang="en-US" sz="800" dirty="0">
                <a:solidFill>
                  <a:srgbClr val="1E293B"/>
                </a:solidFill>
                <a:latin typeface="Consolas"/>
                <a:ea typeface="Consolas" pitchFamily="34" charset="-122"/>
                <a:cs typeface="Consolas" pitchFamily="34" charset="-120"/>
              </a:rPr>
              <a:t>      GenerateSummaryReport</a:t>
            </a:r>
            <a:endParaRPr lang="en-US" sz="800">
              <a:latin typeface="Consolas"/>
              <a:ea typeface="Calibri"/>
              <a:cs typeface="Calibri"/>
            </a:endParaRPr>
          </a:p>
          <a:p>
            <a:pPr marL="0" indent="0">
              <a:buNone/>
            </a:pPr>
            <a:r>
              <a:rPr lang="en-US" sz="800" dirty="0">
                <a:solidFill>
                  <a:srgbClr val="1E293B"/>
                </a:solidFill>
                <a:latin typeface="Consolas"/>
                <a:ea typeface="Consolas" pitchFamily="34" charset="-122"/>
                <a:cs typeface="Consolas" pitchFamily="34" charset="-120"/>
              </a:rPr>
              <a:t>    Case Else</a:t>
            </a:r>
            <a:endParaRPr lang="en-US" sz="800">
              <a:latin typeface="Consolas"/>
              <a:ea typeface="Calibri"/>
              <a:cs typeface="Calibri"/>
            </a:endParaRPr>
          </a:p>
          <a:p>
            <a:pPr marL="0" indent="0">
              <a:buNone/>
            </a:pPr>
            <a:r>
              <a:rPr lang="en-US" sz="800" dirty="0">
                <a:solidFill>
                  <a:srgbClr val="1E293B"/>
                </a:solidFill>
                <a:latin typeface="Consolas"/>
                <a:ea typeface="Consolas" pitchFamily="34" charset="-122"/>
                <a:cs typeface="Consolas" pitchFamily="34" charset="-120"/>
              </a:rPr>
              <a:t>      MsgBox "Invalid report type!", vbExclamation</a:t>
            </a:r>
            <a:endParaRPr lang="en-US" sz="800">
              <a:latin typeface="Consolas"/>
              <a:ea typeface="Calibri"/>
              <a:cs typeface="Calibri"/>
            </a:endParaRPr>
          </a:p>
          <a:p>
            <a:pPr marL="0" indent="0">
              <a:buNone/>
            </a:pPr>
            <a:r>
              <a:rPr lang="en-US" sz="800" dirty="0">
                <a:solidFill>
                  <a:srgbClr val="1E293B"/>
                </a:solidFill>
                <a:latin typeface="Consolas"/>
                <a:ea typeface="Consolas" pitchFamily="34" charset="-122"/>
                <a:cs typeface="Consolas" pitchFamily="34" charset="-120"/>
              </a:rPr>
              <a:t>  End Select</a:t>
            </a:r>
            <a:endParaRPr lang="en-US" sz="800">
              <a:latin typeface="Consolas"/>
              <a:ea typeface="Calibri"/>
              <a:cs typeface="Calibri"/>
            </a:endParaRPr>
          </a:p>
          <a:p>
            <a:pPr marL="0" indent="0">
              <a:buNone/>
            </a:pPr>
            <a:r>
              <a:rPr lang="en-US" sz="800" dirty="0">
                <a:solidFill>
                  <a:srgbClr val="1E293B"/>
                </a:solidFill>
                <a:latin typeface="Consolas"/>
                <a:ea typeface="Consolas" pitchFamily="34" charset="-122"/>
                <a:cs typeface="Consolas" pitchFamily="34" charset="-120"/>
              </a:rPr>
              <a:t>End Sub</a:t>
            </a:r>
            <a:endParaRPr lang="en-US" sz="800">
              <a:latin typeface="Consolas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79791909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>
          <a:extLst>
            <a:ext uri="{FF2B5EF4-FFF2-40B4-BE49-F238E27FC236}">
              <a16:creationId xmlns:a16="http://schemas.microsoft.com/office/drawing/2014/main" id="{87E406E4-8D8F-1DAF-3D33-64582D1A0B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6">
            <a:extLst>
              <a:ext uri="{FF2B5EF4-FFF2-40B4-BE49-F238E27FC236}">
                <a16:creationId xmlns:a16="http://schemas.microsoft.com/office/drawing/2014/main" id="{B4AA9D7B-F200-A891-3C17-43665083187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6992" y="57605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US" b="1" dirty="0">
                <a:solidFill>
                  <a:srgbClr val="1E2761"/>
                </a:solidFill>
                <a:latin typeface="Arial Black"/>
              </a:rPr>
              <a:t>Error Handling</a:t>
            </a:r>
            <a:endParaRPr lang="en-US">
              <a:latin typeface="Arial Black"/>
            </a:endParaRPr>
          </a:p>
          <a:p>
            <a:pPr marL="0" lv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endParaRPr b="1" dirty="0"/>
          </a:p>
        </p:txBody>
      </p:sp>
      <p:sp>
        <p:nvSpPr>
          <p:cNvPr id="89" name="Google Shape;89;p6">
            <a:extLst>
              <a:ext uri="{FF2B5EF4-FFF2-40B4-BE49-F238E27FC236}">
                <a16:creationId xmlns:a16="http://schemas.microsoft.com/office/drawing/2014/main" id="{53072CB6-85B4-E296-1472-5DD2FE5DADAC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SzPts val="900"/>
              <a:buNone/>
            </a:pPr>
            <a:endParaRPr sz="900"/>
          </a:p>
        </p:txBody>
      </p:sp>
      <p:sp>
        <p:nvSpPr>
          <p:cNvPr id="91" name="Google Shape;91;p6">
            <a:extLst>
              <a:ext uri="{FF2B5EF4-FFF2-40B4-BE49-F238E27FC236}">
                <a16:creationId xmlns:a16="http://schemas.microsoft.com/office/drawing/2014/main" id="{61D9C20B-7984-E20F-EC03-A00921DC2029}"/>
              </a:ext>
            </a:extLst>
          </p:cNvPr>
          <p:cNvSpPr/>
          <p:nvPr/>
        </p:nvSpPr>
        <p:spPr>
          <a:xfrm>
            <a:off x="311700" y="116515"/>
            <a:ext cx="4601662" cy="219808"/>
          </a:xfrm>
          <a:prstGeom prst="roundRect">
            <a:avLst>
              <a:gd name="adj" fmla="val 16667"/>
            </a:avLst>
          </a:prstGeom>
          <a:solidFill>
            <a:srgbClr val="00B05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" name="Google Shape;92;p6">
            <a:extLst>
              <a:ext uri="{FF2B5EF4-FFF2-40B4-BE49-F238E27FC236}">
                <a16:creationId xmlns:a16="http://schemas.microsoft.com/office/drawing/2014/main" id="{F017C458-9CA4-7D93-A98B-DB3DB0163A22}"/>
              </a:ext>
            </a:extLst>
          </p:cNvPr>
          <p:cNvSpPr/>
          <p:nvPr/>
        </p:nvSpPr>
        <p:spPr>
          <a:xfrm>
            <a:off x="4230638" y="4812031"/>
            <a:ext cx="4601662" cy="219808"/>
          </a:xfrm>
          <a:prstGeom prst="roundRect">
            <a:avLst>
              <a:gd name="adj" fmla="val 16667"/>
            </a:avLst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" name="Picture 1" descr="A logo with blue and green text&#10;&#10;AI-generated content may be incorrect.">
            <a:extLst>
              <a:ext uri="{FF2B5EF4-FFF2-40B4-BE49-F238E27FC236}">
                <a16:creationId xmlns:a16="http://schemas.microsoft.com/office/drawing/2014/main" id="{4E5CEB1D-0BDA-1D78-0A7D-4BD0C50208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53880" y="15346"/>
            <a:ext cx="1266825" cy="46672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4AE59DF8-E83A-9757-C357-FCDA2C604F4C}"/>
              </a:ext>
            </a:extLst>
          </p:cNvPr>
          <p:cNvSpPr txBox="1"/>
          <p:nvPr/>
        </p:nvSpPr>
        <p:spPr>
          <a:xfrm>
            <a:off x="179917" y="4804833"/>
            <a:ext cx="4572000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000" i="1">
                <a:solidFill>
                  <a:srgbClr val="595959"/>
                </a:solidFill>
                <a:latin typeface="Arial"/>
                <a:ea typeface="Arial"/>
                <a:cs typeface="Arial"/>
              </a:rPr>
              <a:t>© insanalytics</a:t>
            </a:r>
            <a:endParaRPr lang="en-US"/>
          </a:p>
          <a:p>
            <a:pPr algn="ctr"/>
            <a:endParaRPr lang="en-US"/>
          </a:p>
        </p:txBody>
      </p:sp>
      <p:pic>
        <p:nvPicPr>
          <p:cNvPr id="3" name="Image 0">
            <a:extLst>
              <a:ext uri="{FF2B5EF4-FFF2-40B4-BE49-F238E27FC236}">
                <a16:creationId xmlns:a16="http://schemas.microsoft.com/office/drawing/2014/main" id="{299205CE-8261-A1F3-6CF7-4A6EF052D97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1557" y="995891"/>
            <a:ext cx="377825" cy="367242"/>
          </a:xfrm>
          <a:prstGeom prst="rect">
            <a:avLst/>
          </a:prstGeom>
        </p:spPr>
      </p:pic>
      <p:sp>
        <p:nvSpPr>
          <p:cNvPr id="5" name="Text 2">
            <a:extLst>
              <a:ext uri="{FF2B5EF4-FFF2-40B4-BE49-F238E27FC236}">
                <a16:creationId xmlns:a16="http://schemas.microsoft.com/office/drawing/2014/main" id="{8F9E9F86-7E8E-F51F-36E5-A296EEB0664B}"/>
              </a:ext>
            </a:extLst>
          </p:cNvPr>
          <p:cNvSpPr/>
          <p:nvPr/>
        </p:nvSpPr>
        <p:spPr>
          <a:xfrm>
            <a:off x="1188720" y="1009861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Error Handling Matters:</a:t>
            </a:r>
            <a:endParaRPr lang="en-US" sz="1500" dirty="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45679743-CD0A-3F98-C534-4BFA154796F6}"/>
              </a:ext>
            </a:extLst>
          </p:cNvPr>
          <p:cNvSpPr/>
          <p:nvPr/>
        </p:nvSpPr>
        <p:spPr>
          <a:xfrm>
            <a:off x="1188720" y="1285663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Prevents macros from crashing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Provides helpful error messages to users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Allows cleanup actions before exiting</a:t>
            </a:r>
            <a:endParaRPr lang="en-US" sz="1200" dirty="0"/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4CB4B336-5C4D-38A1-DE86-6740598CFC9E}"/>
              </a:ext>
            </a:extLst>
          </p:cNvPr>
          <p:cNvSpPr/>
          <p:nvPr/>
        </p:nvSpPr>
        <p:spPr>
          <a:xfrm>
            <a:off x="457200" y="201527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Basic Error Handling Structure:</a:t>
            </a:r>
            <a:endParaRPr lang="en-US" sz="1500" dirty="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93170D15-51E3-2D16-3490-B1938F3B5607}"/>
              </a:ext>
            </a:extLst>
          </p:cNvPr>
          <p:cNvSpPr/>
          <p:nvPr/>
        </p:nvSpPr>
        <p:spPr>
          <a:xfrm>
            <a:off x="599652" y="2374351"/>
            <a:ext cx="7029240" cy="242527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Sub SafeMacro()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On Error GoTo ErrorHandler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' Your code here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Dim result As Double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result = 100 / Range("A1").Value  ' Could cause division by zero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MsgBox "Result: " &amp; result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Exit Sub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ErrorHandler: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MsgBox "An error occurred: " &amp; Err.Description, vbExclamation, "Error"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' Optional: Log error details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' Optional: Cleanup actions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End Sub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164418781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>
          <a:extLst>
            <a:ext uri="{FF2B5EF4-FFF2-40B4-BE49-F238E27FC236}">
              <a16:creationId xmlns:a16="http://schemas.microsoft.com/office/drawing/2014/main" id="{A43D04A9-F2B9-5AB1-2D53-93F60FC696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6">
            <a:extLst>
              <a:ext uri="{FF2B5EF4-FFF2-40B4-BE49-F238E27FC236}">
                <a16:creationId xmlns:a16="http://schemas.microsoft.com/office/drawing/2014/main" id="{2D8801EA-3128-61D6-CA6B-9B59F897462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48080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r>
              <a:rPr lang="en-US" sz="1800" b="1" dirty="0">
                <a:solidFill>
                  <a:srgbClr val="1E2761"/>
                </a:solidFill>
                <a:latin typeface="Arial Black"/>
              </a:rPr>
              <a:t>Advanced: Automate tasks across multiple Worksheets</a:t>
            </a:r>
            <a:endParaRPr lang="en-US" sz="1800">
              <a:latin typeface="Arial Black"/>
            </a:endParaRPr>
          </a:p>
          <a:p>
            <a:pPr marL="0" lv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endParaRPr b="1" dirty="0"/>
          </a:p>
        </p:txBody>
      </p:sp>
      <p:sp>
        <p:nvSpPr>
          <p:cNvPr id="89" name="Google Shape;89;p6">
            <a:extLst>
              <a:ext uri="{FF2B5EF4-FFF2-40B4-BE49-F238E27FC236}">
                <a16:creationId xmlns:a16="http://schemas.microsoft.com/office/drawing/2014/main" id="{F17F38FC-9B44-8D18-D6DD-BF36FA99F4A2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SzPts val="900"/>
              <a:buNone/>
            </a:pPr>
            <a:endParaRPr sz="900"/>
          </a:p>
        </p:txBody>
      </p:sp>
      <p:sp>
        <p:nvSpPr>
          <p:cNvPr id="91" name="Google Shape;91;p6">
            <a:extLst>
              <a:ext uri="{FF2B5EF4-FFF2-40B4-BE49-F238E27FC236}">
                <a16:creationId xmlns:a16="http://schemas.microsoft.com/office/drawing/2014/main" id="{2EEFB013-5ED5-BE61-B30A-9A67895ED26D}"/>
              </a:ext>
            </a:extLst>
          </p:cNvPr>
          <p:cNvSpPr/>
          <p:nvPr/>
        </p:nvSpPr>
        <p:spPr>
          <a:xfrm>
            <a:off x="311700" y="116515"/>
            <a:ext cx="4601662" cy="219808"/>
          </a:xfrm>
          <a:prstGeom prst="roundRect">
            <a:avLst>
              <a:gd name="adj" fmla="val 16667"/>
            </a:avLst>
          </a:prstGeom>
          <a:solidFill>
            <a:srgbClr val="00B05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" name="Google Shape;92;p6">
            <a:extLst>
              <a:ext uri="{FF2B5EF4-FFF2-40B4-BE49-F238E27FC236}">
                <a16:creationId xmlns:a16="http://schemas.microsoft.com/office/drawing/2014/main" id="{367F7B5E-2C7B-85F6-41F2-289B3B1BDE26}"/>
              </a:ext>
            </a:extLst>
          </p:cNvPr>
          <p:cNvSpPr/>
          <p:nvPr/>
        </p:nvSpPr>
        <p:spPr>
          <a:xfrm>
            <a:off x="4230638" y="4812031"/>
            <a:ext cx="4601662" cy="219808"/>
          </a:xfrm>
          <a:prstGeom prst="roundRect">
            <a:avLst>
              <a:gd name="adj" fmla="val 16667"/>
            </a:avLst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" name="Picture 1" descr="A logo with blue and green text&#10;&#10;AI-generated content may be incorrect.">
            <a:extLst>
              <a:ext uri="{FF2B5EF4-FFF2-40B4-BE49-F238E27FC236}">
                <a16:creationId xmlns:a16="http://schemas.microsoft.com/office/drawing/2014/main" id="{163BC3BE-FBBC-289D-67BF-11F49C9EAD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53880" y="15346"/>
            <a:ext cx="1266825" cy="46672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5DE82EB6-13AC-8CB3-03D3-20934D53DE55}"/>
              </a:ext>
            </a:extLst>
          </p:cNvPr>
          <p:cNvSpPr txBox="1"/>
          <p:nvPr/>
        </p:nvSpPr>
        <p:spPr>
          <a:xfrm>
            <a:off x="179917" y="4804833"/>
            <a:ext cx="4572000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000" i="1">
                <a:solidFill>
                  <a:srgbClr val="595959"/>
                </a:solidFill>
                <a:latin typeface="Arial"/>
                <a:ea typeface="Arial"/>
                <a:cs typeface="Arial"/>
              </a:rPr>
              <a:t>© insanalytics</a:t>
            </a:r>
            <a:endParaRPr lang="en-US"/>
          </a:p>
          <a:p>
            <a:pPr algn="ctr"/>
            <a:endParaRPr lang="en-US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7258CF02-22B2-D14B-A317-3D12318DFA6D}"/>
              </a:ext>
            </a:extLst>
          </p:cNvPr>
          <p:cNvSpPr/>
          <p:nvPr/>
        </p:nvSpPr>
        <p:spPr>
          <a:xfrm>
            <a:off x="398568" y="766106"/>
            <a:ext cx="6383655" cy="390355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/>
        </p:spPr>
        <p:txBody>
          <a:bodyPr wrap="square" lIns="91440" tIns="45720" rIns="91440" bIns="4572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800" dirty="0">
                <a:solidFill>
                  <a:srgbClr val="1E293B"/>
                </a:solidFill>
                <a:latin typeface="Consolas"/>
                <a:ea typeface="Consolas" pitchFamily="34" charset="-122"/>
                <a:cs typeface="Consolas" pitchFamily="34" charset="-120"/>
              </a:rPr>
              <a:t>Sub ConsolidateData()</a:t>
            </a:r>
            <a:endParaRPr lang="en-US" sz="800">
              <a:latin typeface="Consolas"/>
              <a:cs typeface="Arial"/>
            </a:endParaRPr>
          </a:p>
          <a:p>
            <a:pPr marL="0" indent="0">
              <a:buNone/>
            </a:pPr>
            <a:r>
              <a:rPr lang="en-US" sz="800" dirty="0">
                <a:solidFill>
                  <a:srgbClr val="1E293B"/>
                </a:solidFill>
                <a:latin typeface="Consolas"/>
                <a:ea typeface="Consolas" pitchFamily="34" charset="-122"/>
                <a:cs typeface="Consolas" pitchFamily="34" charset="-120"/>
              </a:rPr>
              <a:t>  Dim ws As Worksheet</a:t>
            </a:r>
            <a:endParaRPr lang="en-US" sz="800">
              <a:latin typeface="Consolas"/>
              <a:cs typeface="Arial"/>
            </a:endParaRPr>
          </a:p>
          <a:p>
            <a:pPr marL="0" indent="0">
              <a:buNone/>
            </a:pPr>
            <a:r>
              <a:rPr lang="en-US" sz="800" dirty="0">
                <a:solidFill>
                  <a:srgbClr val="1E293B"/>
                </a:solidFill>
                <a:latin typeface="Consolas"/>
                <a:ea typeface="Consolas" pitchFamily="34" charset="-122"/>
                <a:cs typeface="Consolas" pitchFamily="34" charset="-120"/>
              </a:rPr>
              <a:t>  Dim summarySheet As Worksheet</a:t>
            </a:r>
            <a:endParaRPr lang="en-US" sz="800">
              <a:latin typeface="Consolas"/>
              <a:cs typeface="Arial"/>
            </a:endParaRPr>
          </a:p>
          <a:p>
            <a:pPr marL="0" indent="0">
              <a:buNone/>
            </a:pPr>
            <a:r>
              <a:rPr lang="en-US" sz="800" dirty="0">
                <a:solidFill>
                  <a:srgbClr val="1E293B"/>
                </a:solidFill>
                <a:latin typeface="Consolas"/>
                <a:ea typeface="Consolas" pitchFamily="34" charset="-122"/>
                <a:cs typeface="Consolas" pitchFamily="34" charset="-120"/>
              </a:rPr>
              <a:t>  Dim targetRow As Long</a:t>
            </a:r>
            <a:endParaRPr lang="en-US" sz="800">
              <a:latin typeface="Consolas"/>
              <a:cs typeface="Arial"/>
            </a:endParaRPr>
          </a:p>
          <a:p>
            <a:pPr marL="0" indent="0">
              <a:buNone/>
            </a:pPr>
            <a:r>
              <a:rPr lang="en-US" sz="800" dirty="0">
                <a:solidFill>
                  <a:srgbClr val="1E293B"/>
                </a:solidFill>
                <a:latin typeface="Consolas"/>
                <a:ea typeface="Consolas" pitchFamily="34" charset="-122"/>
                <a:cs typeface="Consolas" pitchFamily="34" charset="-120"/>
              </a:rPr>
              <a:t>  </a:t>
            </a:r>
            <a:endParaRPr lang="en-US" sz="800">
              <a:latin typeface="Consolas"/>
              <a:cs typeface="Arial"/>
            </a:endParaRPr>
          </a:p>
          <a:p>
            <a:pPr marL="0" indent="0">
              <a:buNone/>
            </a:pPr>
            <a:r>
              <a:rPr lang="en-US" sz="800" dirty="0">
                <a:solidFill>
                  <a:srgbClr val="1E293B"/>
                </a:solidFill>
                <a:latin typeface="Consolas"/>
                <a:ea typeface="Consolas" pitchFamily="34" charset="-122"/>
                <a:cs typeface="Consolas" pitchFamily="34" charset="-120"/>
              </a:rPr>
              <a:t>  ' Create or reference summary sheet</a:t>
            </a:r>
            <a:endParaRPr lang="en-US" sz="800">
              <a:latin typeface="Consolas"/>
              <a:cs typeface="Arial"/>
            </a:endParaRPr>
          </a:p>
          <a:p>
            <a:pPr marL="0" indent="0">
              <a:buNone/>
            </a:pPr>
            <a:r>
              <a:rPr lang="en-US" sz="800" dirty="0">
                <a:solidFill>
                  <a:srgbClr val="1E293B"/>
                </a:solidFill>
                <a:latin typeface="Consolas"/>
                <a:ea typeface="Consolas" pitchFamily="34" charset="-122"/>
                <a:cs typeface="Consolas" pitchFamily="34" charset="-120"/>
              </a:rPr>
              <a:t>  On Error Resume Next</a:t>
            </a:r>
            <a:endParaRPr lang="en-US" sz="800">
              <a:latin typeface="Consolas"/>
              <a:cs typeface="Arial"/>
            </a:endParaRPr>
          </a:p>
          <a:p>
            <a:pPr marL="0" indent="0">
              <a:buNone/>
            </a:pPr>
            <a:r>
              <a:rPr lang="en-US" sz="800" dirty="0">
                <a:solidFill>
                  <a:srgbClr val="1E293B"/>
                </a:solidFill>
                <a:latin typeface="Consolas"/>
                <a:ea typeface="Consolas" pitchFamily="34" charset="-122"/>
                <a:cs typeface="Consolas" pitchFamily="34" charset="-120"/>
              </a:rPr>
              <a:t>  Set summarySheet = Worksheets("Summary")</a:t>
            </a:r>
            <a:endParaRPr lang="en-US" sz="800">
              <a:latin typeface="Consolas"/>
              <a:cs typeface="Arial"/>
            </a:endParaRPr>
          </a:p>
          <a:p>
            <a:pPr marL="0" indent="0">
              <a:buNone/>
            </a:pPr>
            <a:r>
              <a:rPr lang="en-US" sz="800" dirty="0">
                <a:solidFill>
                  <a:srgbClr val="1E293B"/>
                </a:solidFill>
                <a:latin typeface="Consolas"/>
                <a:ea typeface="Consolas" pitchFamily="34" charset="-122"/>
                <a:cs typeface="Consolas" pitchFamily="34" charset="-120"/>
              </a:rPr>
              <a:t>  If summarySheet Is Nothing Then</a:t>
            </a:r>
            <a:endParaRPr lang="en-US" sz="800">
              <a:latin typeface="Consolas"/>
              <a:cs typeface="Arial"/>
            </a:endParaRPr>
          </a:p>
          <a:p>
            <a:pPr marL="0" indent="0">
              <a:buNone/>
            </a:pPr>
            <a:r>
              <a:rPr lang="en-US" sz="800" dirty="0">
                <a:solidFill>
                  <a:srgbClr val="1E293B"/>
                </a:solidFill>
                <a:latin typeface="Consolas"/>
                <a:ea typeface="Consolas" pitchFamily="34" charset="-122"/>
                <a:cs typeface="Consolas" pitchFamily="34" charset="-120"/>
              </a:rPr>
              <a:t>    Set summarySheet = Worksheets.Add</a:t>
            </a:r>
            <a:endParaRPr lang="en-US" sz="800">
              <a:latin typeface="Consolas"/>
              <a:cs typeface="Arial"/>
            </a:endParaRPr>
          </a:p>
          <a:p>
            <a:pPr marL="0" indent="0">
              <a:buNone/>
            </a:pPr>
            <a:r>
              <a:rPr lang="en-US" sz="800" dirty="0">
                <a:solidFill>
                  <a:srgbClr val="1E293B"/>
                </a:solidFill>
                <a:latin typeface="Consolas"/>
                <a:ea typeface="Consolas" pitchFamily="34" charset="-122"/>
                <a:cs typeface="Consolas" pitchFamily="34" charset="-120"/>
              </a:rPr>
              <a:t>    summarySheet.Name = "Summary"</a:t>
            </a:r>
            <a:endParaRPr lang="en-US" sz="800">
              <a:latin typeface="Consolas"/>
              <a:cs typeface="Arial"/>
            </a:endParaRPr>
          </a:p>
          <a:p>
            <a:pPr marL="0" indent="0">
              <a:buNone/>
            </a:pPr>
            <a:r>
              <a:rPr lang="en-US" sz="800" dirty="0">
                <a:solidFill>
                  <a:srgbClr val="1E293B"/>
                </a:solidFill>
                <a:latin typeface="Consolas"/>
                <a:ea typeface="Consolas" pitchFamily="34" charset="-122"/>
                <a:cs typeface="Consolas" pitchFamily="34" charset="-120"/>
              </a:rPr>
              <a:t>  End If</a:t>
            </a:r>
            <a:endParaRPr lang="en-US" sz="800">
              <a:latin typeface="Consolas"/>
              <a:cs typeface="Arial"/>
            </a:endParaRPr>
          </a:p>
          <a:p>
            <a:r>
              <a:rPr lang="en-US" sz="800" dirty="0">
                <a:solidFill>
                  <a:srgbClr val="1E293B"/>
                </a:solidFill>
                <a:latin typeface="Consolas"/>
                <a:ea typeface="Consolas" pitchFamily="34" charset="-122"/>
                <a:cs typeface="Consolas" pitchFamily="34" charset="-120"/>
              </a:rPr>
              <a:t>  On Error </a:t>
            </a:r>
            <a:r>
              <a:rPr lang="en-US" sz="800" dirty="0" err="1">
                <a:solidFill>
                  <a:srgbClr val="1E293B"/>
                </a:solidFill>
                <a:latin typeface="Consolas"/>
                <a:ea typeface="Consolas" pitchFamily="34" charset="-122"/>
                <a:cs typeface="Consolas" pitchFamily="34" charset="-120"/>
              </a:rPr>
              <a:t>GoTo</a:t>
            </a:r>
            <a:r>
              <a:rPr lang="en-US" sz="800" dirty="0">
                <a:solidFill>
                  <a:srgbClr val="1E293B"/>
                </a:solidFill>
                <a:latin typeface="Consolas"/>
                <a:ea typeface="Consolas" pitchFamily="34" charset="-122"/>
                <a:cs typeface="Consolas" pitchFamily="34" charset="-120"/>
              </a:rPr>
              <a:t> 0  </a:t>
            </a:r>
            <a:endParaRPr lang="en-US" sz="800">
              <a:latin typeface="Consolas"/>
              <a:ea typeface="Calibri"/>
              <a:cs typeface="Calibri"/>
            </a:endParaRPr>
          </a:p>
          <a:p>
            <a:pPr marL="0" indent="0">
              <a:buNone/>
            </a:pPr>
            <a:r>
              <a:rPr lang="en-US" sz="800" dirty="0">
                <a:solidFill>
                  <a:srgbClr val="1E293B"/>
                </a:solidFill>
                <a:latin typeface="Consolas"/>
                <a:ea typeface="Consolas" pitchFamily="34" charset="-122"/>
                <a:cs typeface="Consolas" pitchFamily="34" charset="-120"/>
              </a:rPr>
              <a:t>  ' Clear existing summary</a:t>
            </a:r>
            <a:endParaRPr lang="en-US" sz="800">
              <a:latin typeface="Consolas"/>
              <a:cs typeface="Arial"/>
            </a:endParaRPr>
          </a:p>
          <a:p>
            <a:pPr marL="0" indent="0">
              <a:buNone/>
            </a:pPr>
            <a:r>
              <a:rPr lang="en-US" sz="800" dirty="0">
                <a:solidFill>
                  <a:srgbClr val="1E293B"/>
                </a:solidFill>
                <a:latin typeface="Consolas"/>
                <a:ea typeface="Consolas" pitchFamily="34" charset="-122"/>
                <a:cs typeface="Consolas" pitchFamily="34" charset="-120"/>
              </a:rPr>
              <a:t>  summarySheet.Cells.Clear</a:t>
            </a:r>
            <a:endParaRPr lang="en-US" sz="800">
              <a:latin typeface="Consolas"/>
              <a:cs typeface="Arial"/>
            </a:endParaRPr>
          </a:p>
          <a:p>
            <a:pPr marL="0" indent="0">
              <a:buNone/>
            </a:pPr>
            <a:r>
              <a:rPr lang="en-US" sz="800" dirty="0">
                <a:solidFill>
                  <a:srgbClr val="1E293B"/>
                </a:solidFill>
                <a:latin typeface="Consolas"/>
                <a:ea typeface="Consolas" pitchFamily="34" charset="-122"/>
                <a:cs typeface="Consolas" pitchFamily="34" charset="-120"/>
              </a:rPr>
              <a:t>  summarySheet.Range("A1:C1").Value = Array("Sheet", "Total", "Average")</a:t>
            </a:r>
            <a:endParaRPr lang="en-US" sz="800">
              <a:latin typeface="Consolas"/>
              <a:cs typeface="Arial"/>
            </a:endParaRPr>
          </a:p>
          <a:p>
            <a:pPr marL="0" indent="0">
              <a:buNone/>
            </a:pPr>
            <a:r>
              <a:rPr lang="en-US" sz="800" dirty="0">
                <a:solidFill>
                  <a:srgbClr val="1E293B"/>
                </a:solidFill>
                <a:latin typeface="Consolas"/>
                <a:ea typeface="Consolas" pitchFamily="34" charset="-122"/>
                <a:cs typeface="Consolas" pitchFamily="34" charset="-120"/>
              </a:rPr>
              <a:t>  targetRow = 2</a:t>
            </a:r>
            <a:endParaRPr lang="en-US" sz="800">
              <a:latin typeface="Consolas"/>
              <a:cs typeface="Arial"/>
            </a:endParaRPr>
          </a:p>
          <a:p>
            <a:pPr marL="0" indent="0">
              <a:buNone/>
            </a:pPr>
            <a:r>
              <a:rPr lang="en-US" sz="800" dirty="0">
                <a:solidFill>
                  <a:srgbClr val="1E293B"/>
                </a:solidFill>
                <a:latin typeface="Consolas"/>
                <a:ea typeface="Consolas" pitchFamily="34" charset="-122"/>
                <a:cs typeface="Consolas" pitchFamily="34" charset="-120"/>
              </a:rPr>
              <a:t>  </a:t>
            </a:r>
            <a:endParaRPr lang="en-US" sz="800">
              <a:latin typeface="Consolas"/>
              <a:cs typeface="Arial"/>
            </a:endParaRPr>
          </a:p>
          <a:p>
            <a:pPr marL="0" indent="0">
              <a:buNone/>
            </a:pPr>
            <a:r>
              <a:rPr lang="en-US" sz="800" dirty="0">
                <a:solidFill>
                  <a:srgbClr val="1E293B"/>
                </a:solidFill>
                <a:latin typeface="Consolas"/>
                <a:ea typeface="Consolas" pitchFamily="34" charset="-122"/>
                <a:cs typeface="Consolas" pitchFamily="34" charset="-120"/>
              </a:rPr>
              <a:t>  ' Loop through all sheets except Summary</a:t>
            </a:r>
            <a:endParaRPr lang="en-US" sz="800">
              <a:latin typeface="Consolas"/>
              <a:cs typeface="Arial"/>
            </a:endParaRPr>
          </a:p>
          <a:p>
            <a:pPr marL="0" indent="0">
              <a:buNone/>
            </a:pPr>
            <a:r>
              <a:rPr lang="en-US" sz="800" dirty="0">
                <a:solidFill>
                  <a:srgbClr val="1E293B"/>
                </a:solidFill>
                <a:latin typeface="Consolas"/>
                <a:ea typeface="Consolas" pitchFamily="34" charset="-122"/>
                <a:cs typeface="Consolas" pitchFamily="34" charset="-120"/>
              </a:rPr>
              <a:t>  For Each ws In ThisWorkbook.Worksheets</a:t>
            </a:r>
            <a:endParaRPr lang="en-US" sz="800">
              <a:latin typeface="Consolas"/>
              <a:cs typeface="Arial"/>
            </a:endParaRPr>
          </a:p>
          <a:p>
            <a:pPr marL="0" indent="0">
              <a:buNone/>
            </a:pPr>
            <a:r>
              <a:rPr lang="en-US" sz="800" dirty="0">
                <a:solidFill>
                  <a:srgbClr val="1E293B"/>
                </a:solidFill>
                <a:latin typeface="Consolas"/>
                <a:ea typeface="Consolas" pitchFamily="34" charset="-122"/>
                <a:cs typeface="Consolas" pitchFamily="34" charset="-120"/>
              </a:rPr>
              <a:t>    If ws.Name &lt;&gt; "Summary" Then</a:t>
            </a:r>
            <a:endParaRPr lang="en-US" sz="800">
              <a:latin typeface="Consolas"/>
              <a:cs typeface="Arial"/>
            </a:endParaRPr>
          </a:p>
          <a:p>
            <a:pPr marL="0" indent="0">
              <a:buNone/>
            </a:pPr>
            <a:r>
              <a:rPr lang="en-US" sz="800" dirty="0">
                <a:solidFill>
                  <a:srgbClr val="1E293B"/>
                </a:solidFill>
                <a:latin typeface="Consolas"/>
                <a:ea typeface="Consolas" pitchFamily="34" charset="-122"/>
                <a:cs typeface="Consolas" pitchFamily="34" charset="-120"/>
              </a:rPr>
              <a:t>      summarySheet.Cells(targetRow, 1).Value = ws.Name</a:t>
            </a:r>
            <a:endParaRPr lang="en-US" sz="800">
              <a:latin typeface="Consolas"/>
              <a:cs typeface="Arial"/>
            </a:endParaRPr>
          </a:p>
          <a:p>
            <a:pPr marL="0" indent="0">
              <a:buNone/>
            </a:pPr>
            <a:r>
              <a:rPr lang="en-US" sz="800" dirty="0">
                <a:solidFill>
                  <a:srgbClr val="1E293B"/>
                </a:solidFill>
                <a:latin typeface="Consolas"/>
                <a:ea typeface="Consolas" pitchFamily="34" charset="-122"/>
                <a:cs typeface="Consolas" pitchFamily="34" charset="-120"/>
              </a:rPr>
              <a:t>      summarySheet.Cells(targetRow, 2).Value = _</a:t>
            </a:r>
            <a:endParaRPr lang="en-US" sz="800">
              <a:latin typeface="Consolas"/>
              <a:cs typeface="Arial"/>
            </a:endParaRPr>
          </a:p>
          <a:p>
            <a:pPr marL="0" indent="0">
              <a:buNone/>
            </a:pPr>
            <a:r>
              <a:rPr lang="en-US" sz="800" dirty="0">
                <a:solidFill>
                  <a:srgbClr val="1E293B"/>
                </a:solidFill>
                <a:latin typeface="Consolas"/>
                <a:ea typeface="Consolas" pitchFamily="34" charset="-122"/>
                <a:cs typeface="Consolas" pitchFamily="34" charset="-120"/>
              </a:rPr>
              <a:t>        Application.WorksheetFunction.Sum(ws.Range("A:A"))</a:t>
            </a:r>
            <a:endParaRPr lang="en-US" sz="800">
              <a:latin typeface="Consolas"/>
              <a:cs typeface="Arial"/>
            </a:endParaRPr>
          </a:p>
          <a:p>
            <a:pPr marL="0" indent="0">
              <a:buNone/>
            </a:pPr>
            <a:r>
              <a:rPr lang="en-US" sz="800" dirty="0">
                <a:solidFill>
                  <a:srgbClr val="1E293B"/>
                </a:solidFill>
                <a:latin typeface="Consolas"/>
                <a:ea typeface="Consolas" pitchFamily="34" charset="-122"/>
                <a:cs typeface="Consolas" pitchFamily="34" charset="-120"/>
              </a:rPr>
              <a:t>      summarySheet.Cells(targetRow, 3).Value = _</a:t>
            </a:r>
            <a:endParaRPr lang="en-US" sz="800">
              <a:latin typeface="Consolas"/>
              <a:cs typeface="Arial"/>
            </a:endParaRPr>
          </a:p>
          <a:p>
            <a:pPr marL="0" indent="0">
              <a:buNone/>
            </a:pPr>
            <a:r>
              <a:rPr lang="en-US" sz="800" dirty="0">
                <a:solidFill>
                  <a:srgbClr val="1E293B"/>
                </a:solidFill>
                <a:latin typeface="Consolas"/>
                <a:ea typeface="Consolas" pitchFamily="34" charset="-122"/>
                <a:cs typeface="Consolas" pitchFamily="34" charset="-120"/>
              </a:rPr>
              <a:t>        Application.WorksheetFunction.Average(ws.Range("A:A"))</a:t>
            </a:r>
            <a:endParaRPr lang="en-US" sz="800">
              <a:latin typeface="Consolas"/>
              <a:cs typeface="Arial"/>
            </a:endParaRPr>
          </a:p>
          <a:p>
            <a:pPr marL="0" indent="0">
              <a:buNone/>
            </a:pPr>
            <a:r>
              <a:rPr lang="en-US" sz="800" dirty="0">
                <a:solidFill>
                  <a:srgbClr val="1E293B"/>
                </a:solidFill>
                <a:latin typeface="Consolas"/>
                <a:ea typeface="Consolas" pitchFamily="34" charset="-122"/>
                <a:cs typeface="Consolas" pitchFamily="34" charset="-120"/>
              </a:rPr>
              <a:t>      targetRow = targetRow + 1</a:t>
            </a:r>
            <a:endParaRPr lang="en-US" sz="800">
              <a:latin typeface="Consolas"/>
              <a:cs typeface="Arial"/>
            </a:endParaRPr>
          </a:p>
          <a:p>
            <a:pPr marL="0" indent="0">
              <a:buNone/>
            </a:pPr>
            <a:r>
              <a:rPr lang="en-US" sz="800" dirty="0">
                <a:solidFill>
                  <a:srgbClr val="1E293B"/>
                </a:solidFill>
                <a:latin typeface="Consolas"/>
                <a:ea typeface="Consolas" pitchFamily="34" charset="-122"/>
                <a:cs typeface="Consolas" pitchFamily="34" charset="-120"/>
              </a:rPr>
              <a:t>    End If</a:t>
            </a:r>
            <a:endParaRPr lang="en-US" sz="800">
              <a:latin typeface="Consolas"/>
              <a:cs typeface="Arial"/>
            </a:endParaRPr>
          </a:p>
          <a:p>
            <a:pPr marL="0" indent="0">
              <a:buNone/>
            </a:pPr>
            <a:r>
              <a:rPr lang="en-US" sz="800" dirty="0">
                <a:solidFill>
                  <a:srgbClr val="1E293B"/>
                </a:solidFill>
                <a:latin typeface="Consolas"/>
                <a:ea typeface="Consolas" pitchFamily="34" charset="-122"/>
                <a:cs typeface="Consolas" pitchFamily="34" charset="-120"/>
              </a:rPr>
              <a:t>  Next </a:t>
            </a:r>
            <a:r>
              <a:rPr lang="en-US" sz="800" dirty="0" err="1">
                <a:solidFill>
                  <a:srgbClr val="1E293B"/>
                </a:solidFill>
                <a:latin typeface="Consolas"/>
                <a:ea typeface="Consolas" pitchFamily="34" charset="-122"/>
                <a:cs typeface="Consolas" pitchFamily="34" charset="-120"/>
              </a:rPr>
              <a:t>ws</a:t>
            </a:r>
            <a:endParaRPr lang="en-US" sz="800" dirty="0">
              <a:latin typeface="Consolas"/>
            </a:endParaRPr>
          </a:p>
          <a:p>
            <a:pPr marL="0" indent="0">
              <a:buNone/>
            </a:pPr>
            <a:r>
              <a:rPr lang="en-US" sz="800" dirty="0">
                <a:solidFill>
                  <a:srgbClr val="1E293B"/>
                </a:solidFill>
                <a:latin typeface="Consolas"/>
                <a:ea typeface="Consolas" pitchFamily="34" charset="-122"/>
                <a:cs typeface="Consolas" pitchFamily="34" charset="-120"/>
              </a:rPr>
              <a:t>  MsgBox "Data consolidated successfully!", vbInformation</a:t>
            </a:r>
            <a:endParaRPr lang="en-US" sz="800">
              <a:latin typeface="Consolas"/>
              <a:cs typeface="Arial"/>
            </a:endParaRPr>
          </a:p>
          <a:p>
            <a:pPr marL="0" indent="0">
              <a:buNone/>
            </a:pPr>
            <a:r>
              <a:rPr lang="en-US" sz="800" dirty="0">
                <a:solidFill>
                  <a:srgbClr val="1E293B"/>
                </a:solidFill>
                <a:latin typeface="Consolas"/>
                <a:ea typeface="Consolas" pitchFamily="34" charset="-122"/>
                <a:cs typeface="Consolas" pitchFamily="34" charset="-120"/>
              </a:rPr>
              <a:t>End Sub</a:t>
            </a:r>
            <a:endParaRPr lang="en-US" sz="800">
              <a:latin typeface="Consolas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54025405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>
          <a:extLst>
            <a:ext uri="{FF2B5EF4-FFF2-40B4-BE49-F238E27FC236}">
              <a16:creationId xmlns:a16="http://schemas.microsoft.com/office/drawing/2014/main" id="{10A69ADC-444B-5135-49D7-025214418A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6">
            <a:extLst>
              <a:ext uri="{FF2B5EF4-FFF2-40B4-BE49-F238E27FC236}">
                <a16:creationId xmlns:a16="http://schemas.microsoft.com/office/drawing/2014/main" id="{28D4B5AE-C698-DEB9-9FA4-DA43687ABA3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48080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US" b="1" dirty="0">
                <a:solidFill>
                  <a:srgbClr val="1E2761"/>
                </a:solidFill>
                <a:latin typeface="Arial Black"/>
              </a:rPr>
              <a:t>Advanced: Custom Functions (UDFs)</a:t>
            </a:r>
            <a:endParaRPr lang="en-US">
              <a:latin typeface="Arial Black"/>
            </a:endParaRPr>
          </a:p>
          <a:p>
            <a:pPr marL="0" lv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endParaRPr b="1" dirty="0"/>
          </a:p>
        </p:txBody>
      </p:sp>
      <p:sp>
        <p:nvSpPr>
          <p:cNvPr id="89" name="Google Shape;89;p6">
            <a:extLst>
              <a:ext uri="{FF2B5EF4-FFF2-40B4-BE49-F238E27FC236}">
                <a16:creationId xmlns:a16="http://schemas.microsoft.com/office/drawing/2014/main" id="{8A39FA92-651E-317A-941F-6C70552345B0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SzPts val="900"/>
              <a:buNone/>
            </a:pPr>
            <a:endParaRPr sz="900"/>
          </a:p>
        </p:txBody>
      </p:sp>
      <p:sp>
        <p:nvSpPr>
          <p:cNvPr id="90" name="Google Shape;90;p6">
            <a:extLst>
              <a:ext uri="{FF2B5EF4-FFF2-40B4-BE49-F238E27FC236}">
                <a16:creationId xmlns:a16="http://schemas.microsoft.com/office/drawing/2014/main" id="{C3021CD7-3258-A845-C360-20D4B037572C}"/>
              </a:ext>
            </a:extLst>
          </p:cNvPr>
          <p:cNvSpPr txBox="1"/>
          <p:nvPr/>
        </p:nvSpPr>
        <p:spPr>
          <a:xfrm>
            <a:off x="311699" y="1218211"/>
            <a:ext cx="8520600" cy="34200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</a:pPr>
            <a:endParaRPr/>
          </a:p>
        </p:txBody>
      </p:sp>
      <p:sp>
        <p:nvSpPr>
          <p:cNvPr id="91" name="Google Shape;91;p6">
            <a:extLst>
              <a:ext uri="{FF2B5EF4-FFF2-40B4-BE49-F238E27FC236}">
                <a16:creationId xmlns:a16="http://schemas.microsoft.com/office/drawing/2014/main" id="{9D6AD10B-BD92-8E3F-4C0F-587FFCD23C3D}"/>
              </a:ext>
            </a:extLst>
          </p:cNvPr>
          <p:cNvSpPr/>
          <p:nvPr/>
        </p:nvSpPr>
        <p:spPr>
          <a:xfrm>
            <a:off x="311700" y="116515"/>
            <a:ext cx="4601662" cy="219808"/>
          </a:xfrm>
          <a:prstGeom prst="roundRect">
            <a:avLst>
              <a:gd name="adj" fmla="val 16667"/>
            </a:avLst>
          </a:prstGeom>
          <a:solidFill>
            <a:srgbClr val="00B05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" name="Google Shape;92;p6">
            <a:extLst>
              <a:ext uri="{FF2B5EF4-FFF2-40B4-BE49-F238E27FC236}">
                <a16:creationId xmlns:a16="http://schemas.microsoft.com/office/drawing/2014/main" id="{01E2EEF6-9155-860C-2E6D-56DAFD595B86}"/>
              </a:ext>
            </a:extLst>
          </p:cNvPr>
          <p:cNvSpPr/>
          <p:nvPr/>
        </p:nvSpPr>
        <p:spPr>
          <a:xfrm>
            <a:off x="4230638" y="4812031"/>
            <a:ext cx="4601662" cy="219808"/>
          </a:xfrm>
          <a:prstGeom prst="roundRect">
            <a:avLst>
              <a:gd name="adj" fmla="val 16667"/>
            </a:avLst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" name="Picture 1" descr="A logo with blue and green text&#10;&#10;AI-generated content may be incorrect.">
            <a:extLst>
              <a:ext uri="{FF2B5EF4-FFF2-40B4-BE49-F238E27FC236}">
                <a16:creationId xmlns:a16="http://schemas.microsoft.com/office/drawing/2014/main" id="{EE171AA9-F629-857F-00AD-336A728D05C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53880" y="15346"/>
            <a:ext cx="1266825" cy="46672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ADD84BC-5FD3-B48C-8166-E4794514DDFC}"/>
              </a:ext>
            </a:extLst>
          </p:cNvPr>
          <p:cNvSpPr txBox="1"/>
          <p:nvPr/>
        </p:nvSpPr>
        <p:spPr>
          <a:xfrm>
            <a:off x="179917" y="4804833"/>
            <a:ext cx="4572000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000" i="1">
                <a:solidFill>
                  <a:srgbClr val="595959"/>
                </a:solidFill>
                <a:latin typeface="Arial"/>
                <a:ea typeface="Arial"/>
                <a:cs typeface="Arial"/>
              </a:rPr>
              <a:t>© insanalytics</a:t>
            </a:r>
            <a:endParaRPr lang="en-US"/>
          </a:p>
          <a:p>
            <a:pPr algn="ctr"/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D0ADF2E0-31A6-223C-2898-9270E2B0F58C}"/>
              </a:ext>
            </a:extLst>
          </p:cNvPr>
          <p:cNvSpPr/>
          <p:nvPr/>
        </p:nvSpPr>
        <p:spPr>
          <a:xfrm>
            <a:off x="451908" y="764328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3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User-Defined Functions can be used like Excel's built-in functions</a:t>
            </a:r>
            <a:endParaRPr lang="en-US" sz="1300" dirty="0"/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24CD9D26-584C-E75C-0999-AC87EA88B087}"/>
              </a:ext>
            </a:extLst>
          </p:cNvPr>
          <p:cNvSpPr/>
          <p:nvPr/>
        </p:nvSpPr>
        <p:spPr>
          <a:xfrm>
            <a:off x="451908" y="1011767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 1: Calculate Sales Tax</a:t>
            </a:r>
            <a:endParaRPr lang="en-US" sz="1500" dirty="0"/>
          </a:p>
        </p:txBody>
      </p:sp>
      <p:sp>
        <p:nvSpPr>
          <p:cNvPr id="6" name="Shape 3">
            <a:extLst>
              <a:ext uri="{FF2B5EF4-FFF2-40B4-BE49-F238E27FC236}">
                <a16:creationId xmlns:a16="http://schemas.microsoft.com/office/drawing/2014/main" id="{B2C16A02-49F6-CCCD-FCEC-82AD722A64AF}"/>
              </a:ext>
            </a:extLst>
          </p:cNvPr>
          <p:cNvSpPr/>
          <p:nvPr/>
        </p:nvSpPr>
        <p:spPr>
          <a:xfrm>
            <a:off x="457200" y="1287568"/>
            <a:ext cx="4114800" cy="1319530"/>
          </a:xfrm>
          <a:prstGeom prst="rect">
            <a:avLst/>
          </a:prstGeom>
          <a:solidFill>
            <a:srgbClr val="F1F5F9"/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C224653F-730A-9DEC-39E8-F5BA742EA732}"/>
              </a:ext>
            </a:extLst>
          </p:cNvPr>
          <p:cNvSpPr/>
          <p:nvPr/>
        </p:nvSpPr>
        <p:spPr>
          <a:xfrm>
            <a:off x="594360" y="1460796"/>
            <a:ext cx="3840480" cy="91440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 SalesTax(amount As Double, _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taxRate As Double) As Double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SalesTax = amount * taxRate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End Function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 Use in cell: =SalesTax(A1, 0.08)</a:t>
            </a:r>
            <a:endParaRPr lang="en-US" sz="1000" dirty="0"/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5FA53397-115B-0E04-48F6-75EF94DFE34B}"/>
              </a:ext>
            </a:extLst>
          </p:cNvPr>
          <p:cNvSpPr/>
          <p:nvPr/>
        </p:nvSpPr>
        <p:spPr>
          <a:xfrm>
            <a:off x="4754880" y="1011767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 2: Extract Email Domain</a:t>
            </a:r>
            <a:endParaRPr lang="en-US" sz="1500" dirty="0"/>
          </a:p>
        </p:txBody>
      </p:sp>
      <p:sp>
        <p:nvSpPr>
          <p:cNvPr id="9" name="Shape 6">
            <a:extLst>
              <a:ext uri="{FF2B5EF4-FFF2-40B4-BE49-F238E27FC236}">
                <a16:creationId xmlns:a16="http://schemas.microsoft.com/office/drawing/2014/main" id="{332D66E6-CF6E-BD58-7A25-AF988A1257B8}"/>
              </a:ext>
            </a:extLst>
          </p:cNvPr>
          <p:cNvSpPr/>
          <p:nvPr/>
        </p:nvSpPr>
        <p:spPr>
          <a:xfrm>
            <a:off x="4754880" y="1287568"/>
            <a:ext cx="3931920" cy="1324822"/>
          </a:xfrm>
          <a:prstGeom prst="rect">
            <a:avLst/>
          </a:prstGeom>
          <a:solidFill>
            <a:srgbClr val="F1F5F9"/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10" name="Text 7">
            <a:extLst>
              <a:ext uri="{FF2B5EF4-FFF2-40B4-BE49-F238E27FC236}">
                <a16:creationId xmlns:a16="http://schemas.microsoft.com/office/drawing/2014/main" id="{70180D24-8F24-CD09-D01B-4E4D1483EBFF}"/>
              </a:ext>
            </a:extLst>
          </p:cNvPr>
          <p:cNvSpPr/>
          <p:nvPr/>
        </p:nvSpPr>
        <p:spPr>
          <a:xfrm>
            <a:off x="4892040" y="1550755"/>
            <a:ext cx="3657600" cy="9144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 GetDomain(email As String) As String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Dim atPos As Integer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atPos = InStr(email, "@")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If atPos &gt; 0 Then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GetDomain = Mid(email, atPos + 1)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End If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onsolas"/>
                <a:ea typeface="Consolas" pitchFamily="34" charset="-122"/>
                <a:cs typeface="Consolas" pitchFamily="34" charset="-120"/>
              </a:rPr>
              <a:t>End Function</a:t>
            </a:r>
            <a:endParaRPr lang="en-US" sz="950" dirty="0">
              <a:latin typeface="Consolas"/>
            </a:endParaRPr>
          </a:p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 Use: =GetDomain("user@example.com")</a:t>
            </a:r>
            <a:endParaRPr lang="en-US" sz="950" dirty="0"/>
          </a:p>
        </p:txBody>
      </p:sp>
      <p:sp>
        <p:nvSpPr>
          <p:cNvPr id="11" name="Text 8">
            <a:extLst>
              <a:ext uri="{FF2B5EF4-FFF2-40B4-BE49-F238E27FC236}">
                <a16:creationId xmlns:a16="http://schemas.microsoft.com/office/drawing/2014/main" id="{83358FFB-15E5-9590-6B39-ACE9AE6A1BF6}"/>
              </a:ext>
            </a:extLst>
          </p:cNvPr>
          <p:cNvSpPr/>
          <p:nvPr/>
        </p:nvSpPr>
        <p:spPr>
          <a:xfrm>
            <a:off x="457200" y="2652395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 3: Advanced - Grade Calculator</a:t>
            </a:r>
            <a:endParaRPr lang="en-US" sz="1500" dirty="0"/>
          </a:p>
        </p:txBody>
      </p:sp>
      <p:sp>
        <p:nvSpPr>
          <p:cNvPr id="12" name="Shape 9">
            <a:extLst>
              <a:ext uri="{FF2B5EF4-FFF2-40B4-BE49-F238E27FC236}">
                <a16:creationId xmlns:a16="http://schemas.microsoft.com/office/drawing/2014/main" id="{7253FDFF-001A-35AB-FB62-F7A5C147C93E}"/>
              </a:ext>
            </a:extLst>
          </p:cNvPr>
          <p:cNvSpPr/>
          <p:nvPr/>
        </p:nvSpPr>
        <p:spPr>
          <a:xfrm>
            <a:off x="457200" y="2938782"/>
            <a:ext cx="8229600" cy="1838746"/>
          </a:xfrm>
          <a:prstGeom prst="rect">
            <a:avLst/>
          </a:prstGeom>
          <a:solidFill>
            <a:srgbClr val="F1F5F9"/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13" name="Text 10">
            <a:extLst>
              <a:ext uri="{FF2B5EF4-FFF2-40B4-BE49-F238E27FC236}">
                <a16:creationId xmlns:a16="http://schemas.microsoft.com/office/drawing/2014/main" id="{179A5689-1A6B-F764-E905-7ED77A66E313}"/>
              </a:ext>
            </a:extLst>
          </p:cNvPr>
          <p:cNvSpPr/>
          <p:nvPr/>
        </p:nvSpPr>
        <p:spPr>
          <a:xfrm>
            <a:off x="594360" y="3360716"/>
            <a:ext cx="7955280" cy="1020869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 LetterGrade(score As Integer) As String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Select Case score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Case 90 To 100: LetterGrade = "A"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Case 80 To 89:  LetterGrade = "B"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Case 70 To 79:  LetterGrade = "C"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Case 60 To 69:  LetterGrade = "D"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Case Else:      LetterGrade = "F"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End Select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onsolas"/>
                <a:ea typeface="Consolas" pitchFamily="34" charset="-122"/>
                <a:cs typeface="Consolas" pitchFamily="34" charset="-120"/>
              </a:rPr>
              <a:t>End Function</a:t>
            </a:r>
            <a:endParaRPr lang="en-US" sz="1000" dirty="0">
              <a:latin typeface="Consolas"/>
            </a:endParaRPr>
          </a:p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 Use in cell: =LetterGrade(B2)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 Automatically calculates letter grades from numeric scores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156331591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>
          <a:extLst>
            <a:ext uri="{FF2B5EF4-FFF2-40B4-BE49-F238E27FC236}">
              <a16:creationId xmlns:a16="http://schemas.microsoft.com/office/drawing/2014/main" id="{FB7FBB3A-4F7E-ADFE-C16B-342428E138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6">
            <a:extLst>
              <a:ext uri="{FF2B5EF4-FFF2-40B4-BE49-F238E27FC236}">
                <a16:creationId xmlns:a16="http://schemas.microsoft.com/office/drawing/2014/main" id="{C0D8181C-C5BD-18AD-8054-A5F2D485681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618388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 fontScale="90000"/>
          </a:bodyPr>
          <a:lstStyle/>
          <a:p>
            <a:r>
              <a:rPr lang="en-US" sz="4000" b="1" dirty="0">
                <a:solidFill>
                  <a:srgbClr val="1E2761"/>
                </a:solidFill>
                <a:latin typeface="Arial Black"/>
              </a:rPr>
              <a:t>Lookup Functions in VBA</a:t>
            </a:r>
            <a:endParaRPr lang="en-US" sz="4000" dirty="0">
              <a:latin typeface="Arial Black"/>
            </a:endParaRPr>
          </a:p>
          <a:p>
            <a:pPr marL="0" lv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endParaRPr b="1" dirty="0"/>
          </a:p>
        </p:txBody>
      </p:sp>
      <p:sp>
        <p:nvSpPr>
          <p:cNvPr id="89" name="Google Shape;89;p6">
            <a:extLst>
              <a:ext uri="{FF2B5EF4-FFF2-40B4-BE49-F238E27FC236}">
                <a16:creationId xmlns:a16="http://schemas.microsoft.com/office/drawing/2014/main" id="{FE9959CE-0BEC-CE2C-7A12-E1E3AFA672C0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SzPts val="900"/>
              <a:buNone/>
            </a:pPr>
            <a:endParaRPr sz="900"/>
          </a:p>
        </p:txBody>
      </p:sp>
      <p:sp>
        <p:nvSpPr>
          <p:cNvPr id="91" name="Google Shape;91;p6">
            <a:extLst>
              <a:ext uri="{FF2B5EF4-FFF2-40B4-BE49-F238E27FC236}">
                <a16:creationId xmlns:a16="http://schemas.microsoft.com/office/drawing/2014/main" id="{5DB40900-A8C5-72F1-52E9-6BAC6C1DFA10}"/>
              </a:ext>
            </a:extLst>
          </p:cNvPr>
          <p:cNvSpPr/>
          <p:nvPr/>
        </p:nvSpPr>
        <p:spPr>
          <a:xfrm>
            <a:off x="311700" y="116515"/>
            <a:ext cx="4601662" cy="219808"/>
          </a:xfrm>
          <a:prstGeom prst="roundRect">
            <a:avLst>
              <a:gd name="adj" fmla="val 16667"/>
            </a:avLst>
          </a:prstGeom>
          <a:solidFill>
            <a:srgbClr val="00B05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" name="Google Shape;92;p6">
            <a:extLst>
              <a:ext uri="{FF2B5EF4-FFF2-40B4-BE49-F238E27FC236}">
                <a16:creationId xmlns:a16="http://schemas.microsoft.com/office/drawing/2014/main" id="{FF1E3114-25DC-4EBD-F85E-BCFE427C0358}"/>
              </a:ext>
            </a:extLst>
          </p:cNvPr>
          <p:cNvSpPr/>
          <p:nvPr/>
        </p:nvSpPr>
        <p:spPr>
          <a:xfrm>
            <a:off x="4230638" y="4812031"/>
            <a:ext cx="4601662" cy="219808"/>
          </a:xfrm>
          <a:prstGeom prst="roundRect">
            <a:avLst>
              <a:gd name="adj" fmla="val 16667"/>
            </a:avLst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" name="Picture 1" descr="A logo with blue and green text&#10;&#10;AI-generated content may be incorrect.">
            <a:extLst>
              <a:ext uri="{FF2B5EF4-FFF2-40B4-BE49-F238E27FC236}">
                <a16:creationId xmlns:a16="http://schemas.microsoft.com/office/drawing/2014/main" id="{0DEF0676-DB3C-B2DD-548F-4D38828984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53880" y="15346"/>
            <a:ext cx="1266825" cy="46672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35ADBC2A-6742-1F79-089E-1F8A73A87B41}"/>
              </a:ext>
            </a:extLst>
          </p:cNvPr>
          <p:cNvSpPr txBox="1"/>
          <p:nvPr/>
        </p:nvSpPr>
        <p:spPr>
          <a:xfrm>
            <a:off x="179917" y="4804833"/>
            <a:ext cx="4572000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000" i="1">
                <a:solidFill>
                  <a:srgbClr val="595959"/>
                </a:solidFill>
                <a:latin typeface="Arial"/>
                <a:ea typeface="Arial"/>
                <a:cs typeface="Arial"/>
              </a:rPr>
              <a:t>© insanalytics</a:t>
            </a:r>
            <a:endParaRPr lang="en-US"/>
          </a:p>
          <a:p>
            <a:pPr algn="ctr"/>
            <a:endParaRPr lang="en-US"/>
          </a:p>
        </p:txBody>
      </p:sp>
      <p:pic>
        <p:nvPicPr>
          <p:cNvPr id="3" name="Image 0">
            <a:extLst>
              <a:ext uri="{FF2B5EF4-FFF2-40B4-BE49-F238E27FC236}">
                <a16:creationId xmlns:a16="http://schemas.microsoft.com/office/drawing/2014/main" id="{8F8669CF-C97D-3173-0950-C23EEAA0872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2681" y="1135803"/>
            <a:ext cx="363433" cy="305224"/>
          </a:xfrm>
          <a:prstGeom prst="rect">
            <a:avLst/>
          </a:prstGeom>
        </p:spPr>
      </p:pic>
      <p:sp>
        <p:nvSpPr>
          <p:cNvPr id="5" name="Text 1">
            <a:extLst>
              <a:ext uri="{FF2B5EF4-FFF2-40B4-BE49-F238E27FC236}">
                <a16:creationId xmlns:a16="http://schemas.microsoft.com/office/drawing/2014/main" id="{BBB4616F-BD9C-EE56-CAB8-E4C52B6F3F5D}"/>
              </a:ext>
            </a:extLst>
          </p:cNvPr>
          <p:cNvSpPr/>
          <p:nvPr/>
        </p:nvSpPr>
        <p:spPr>
          <a:xfrm>
            <a:off x="1290743" y="1188297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Finding data in Excel: VLOOKUP vs Modern Methods</a:t>
            </a:r>
            <a:endParaRPr lang="en-US" sz="1500" dirty="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D7BBD5D0-0ADC-B980-3C42-322F33B5A7F4}"/>
              </a:ext>
            </a:extLst>
          </p:cNvPr>
          <p:cNvSpPr/>
          <p:nvPr/>
        </p:nvSpPr>
        <p:spPr>
          <a:xfrm>
            <a:off x="573193" y="1646556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VLOOKUP</a:t>
            </a:r>
            <a:endParaRPr lang="en-US" sz="1600" dirty="0"/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BB635A52-DC8C-47D4-EB6C-CEDAB7FD3100}"/>
              </a:ext>
            </a:extLst>
          </p:cNvPr>
          <p:cNvSpPr/>
          <p:nvPr/>
        </p:nvSpPr>
        <p:spPr>
          <a:xfrm>
            <a:off x="1790277" y="1690455"/>
            <a:ext cx="3840480" cy="18288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⚠️ Deprecated</a:t>
            </a:r>
            <a:endParaRPr lang="en-US" sz="1100" dirty="0"/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9A613A1A-6155-DE8E-6AAD-4B83AD2BD94B}"/>
              </a:ext>
            </a:extLst>
          </p:cNvPr>
          <p:cNvSpPr/>
          <p:nvPr/>
        </p:nvSpPr>
        <p:spPr>
          <a:xfrm>
            <a:off x="589068" y="1924347"/>
            <a:ext cx="2956772" cy="121687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4">
                <a:lumMod val="20000"/>
                <a:lumOff val="80000"/>
              </a:schemeClr>
            </a:solidFill>
          </a:ln>
        </p:spPr>
        <p:txBody>
          <a:bodyPr wrap="square" lIns="91440" tIns="45720" rIns="91440" bIns="4572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0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Pros:</a:t>
            </a:r>
            <a:endParaRPr lang="en-US" sz="1000" dirty="0"/>
          </a:p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Simple syntax</a:t>
            </a:r>
            <a:endParaRPr lang="en-US" sz="1000" dirty="0"/>
          </a:p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Arial"/>
                <a:ea typeface="Arial" pitchFamily="34" charset="-122"/>
                <a:cs typeface="Arial"/>
              </a:rPr>
              <a:t>• Widely known</a:t>
            </a:r>
            <a:endParaRPr lang="en-US" sz="1000" dirty="0">
              <a:latin typeface="Arial"/>
              <a:cs typeface="Arial"/>
            </a:endParaRPr>
          </a:p>
          <a:p>
            <a:endParaRPr lang="en-US" sz="900" dirty="0">
              <a:solidFill>
                <a:srgbClr val="1E293B"/>
              </a:solidFill>
              <a:latin typeface="Arial"/>
              <a:ea typeface="Arial" pitchFamily="34" charset="-122"/>
              <a:cs typeface="Arial"/>
            </a:endParaRPr>
          </a:p>
          <a:p>
            <a:pPr marL="0" indent="0">
              <a:buNone/>
            </a:pPr>
            <a:r>
              <a:rPr lang="en-US" sz="10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Cons:</a:t>
            </a:r>
            <a:endParaRPr lang="en-US" sz="1000" dirty="0"/>
          </a:p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Can't look left</a:t>
            </a:r>
            <a:endParaRPr lang="en-US" sz="1000" dirty="0"/>
          </a:p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Slow on large data</a:t>
            </a:r>
            <a:endParaRPr lang="en-US" sz="1000" dirty="0"/>
          </a:p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Breaks if columns change</a:t>
            </a:r>
            <a:endParaRPr lang="en-US" sz="1000" dirty="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6F97C868-CF05-24F3-99A2-2EF2D1374180}"/>
              </a:ext>
            </a:extLst>
          </p:cNvPr>
          <p:cNvSpPr/>
          <p:nvPr/>
        </p:nvSpPr>
        <p:spPr>
          <a:xfrm>
            <a:off x="4937760" y="1646555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XLOOKUP</a:t>
            </a:r>
            <a:endParaRPr lang="en-US" sz="1600" dirty="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02485FAB-31A6-BF67-4B5E-570A1CAEABC8}"/>
              </a:ext>
            </a:extLst>
          </p:cNvPr>
          <p:cNvSpPr/>
          <p:nvPr/>
        </p:nvSpPr>
        <p:spPr>
          <a:xfrm>
            <a:off x="6138969" y="1690455"/>
            <a:ext cx="3840480" cy="18288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Modern (Excel 365+)</a:t>
            </a:r>
            <a:endParaRPr lang="en-US" sz="1100" dirty="0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11545641-6650-04F1-719E-D990FBD9461A}"/>
              </a:ext>
            </a:extLst>
          </p:cNvPr>
          <p:cNvSpPr/>
          <p:nvPr/>
        </p:nvSpPr>
        <p:spPr>
          <a:xfrm>
            <a:off x="4937760" y="1961389"/>
            <a:ext cx="3120813" cy="1179830"/>
          </a:xfrm>
          <a:prstGeom prst="rect">
            <a:avLst/>
          </a:prstGeom>
          <a:solidFill>
            <a:srgbClr val="D9F8FF"/>
          </a:solidFill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0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Pros:</a:t>
            </a:r>
            <a:endParaRPr lang="en-US" sz="1000" dirty="0"/>
          </a:p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Looks any direction</a:t>
            </a:r>
            <a:endParaRPr lang="en-US" sz="1000" dirty="0"/>
          </a:p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Returns arrays</a:t>
            </a:r>
            <a:endParaRPr lang="en-US" sz="1000" dirty="0"/>
          </a:p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Built-in error handling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Cons:</a:t>
            </a:r>
            <a:endParaRPr lang="en-US" sz="1000" dirty="0"/>
          </a:p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Only in Excel 365/2021+</a:t>
            </a:r>
            <a:endParaRPr lang="en-US" sz="1000" dirty="0"/>
          </a:p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Not backwards compatible</a:t>
            </a:r>
            <a:endParaRPr lang="en-US" sz="1000" dirty="0"/>
          </a:p>
        </p:txBody>
      </p:sp>
      <p:sp>
        <p:nvSpPr>
          <p:cNvPr id="12" name="Text 11">
            <a:extLst>
              <a:ext uri="{FF2B5EF4-FFF2-40B4-BE49-F238E27FC236}">
                <a16:creationId xmlns:a16="http://schemas.microsoft.com/office/drawing/2014/main" id="{9341DD8B-6488-A77D-E8AB-A463E6203D6D}"/>
              </a:ext>
            </a:extLst>
          </p:cNvPr>
          <p:cNvSpPr/>
          <p:nvPr/>
        </p:nvSpPr>
        <p:spPr>
          <a:xfrm>
            <a:off x="594360" y="324717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INDEX-MATCH</a:t>
            </a:r>
            <a:endParaRPr lang="en-US" sz="1600" dirty="0"/>
          </a:p>
        </p:txBody>
      </p:sp>
      <p:sp>
        <p:nvSpPr>
          <p:cNvPr id="13" name="Text 12">
            <a:extLst>
              <a:ext uri="{FF2B5EF4-FFF2-40B4-BE49-F238E27FC236}">
                <a16:creationId xmlns:a16="http://schemas.microsoft.com/office/drawing/2014/main" id="{C44A940C-15A0-431C-E1D3-4BE0A8F557CA}"/>
              </a:ext>
            </a:extLst>
          </p:cNvPr>
          <p:cNvSpPr/>
          <p:nvPr/>
        </p:nvSpPr>
        <p:spPr>
          <a:xfrm>
            <a:off x="2134235" y="3248745"/>
            <a:ext cx="3840480" cy="18288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Best Practice</a:t>
            </a:r>
            <a:endParaRPr lang="en-US" sz="1100" dirty="0"/>
          </a:p>
        </p:txBody>
      </p:sp>
      <p:sp>
        <p:nvSpPr>
          <p:cNvPr id="14" name="Text 13">
            <a:extLst>
              <a:ext uri="{FF2B5EF4-FFF2-40B4-BE49-F238E27FC236}">
                <a16:creationId xmlns:a16="http://schemas.microsoft.com/office/drawing/2014/main" id="{09D06601-EFA9-05C8-C174-CADFB9FE928D}"/>
              </a:ext>
            </a:extLst>
          </p:cNvPr>
          <p:cNvSpPr/>
          <p:nvPr/>
        </p:nvSpPr>
        <p:spPr>
          <a:xfrm>
            <a:off x="594360" y="3524972"/>
            <a:ext cx="2956771" cy="1269787"/>
          </a:xfrm>
          <a:prstGeom prst="rect">
            <a:avLst/>
          </a:prstGeom>
          <a:solidFill>
            <a:srgbClr val="FFD9E6"/>
          </a:solidFill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0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Pros:</a:t>
            </a:r>
            <a:endParaRPr lang="en-US" sz="1000" dirty="0"/>
          </a:p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Works in all versions</a:t>
            </a:r>
            <a:endParaRPr lang="en-US" sz="1000" dirty="0"/>
          </a:p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Fastest performance</a:t>
            </a:r>
            <a:endParaRPr lang="en-US" sz="1000" dirty="0"/>
          </a:p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Most flexible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Cons:</a:t>
            </a:r>
            <a:endParaRPr lang="en-US" sz="1000" dirty="0"/>
          </a:p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Slightly more complex</a:t>
            </a:r>
            <a:endParaRPr lang="en-US" sz="1000" dirty="0"/>
          </a:p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Two functions combined</a:t>
            </a:r>
            <a:endParaRPr lang="en-US" sz="1000" dirty="0"/>
          </a:p>
        </p:txBody>
      </p:sp>
      <p:sp>
        <p:nvSpPr>
          <p:cNvPr id="15" name="Text 15">
            <a:extLst>
              <a:ext uri="{FF2B5EF4-FFF2-40B4-BE49-F238E27FC236}">
                <a16:creationId xmlns:a16="http://schemas.microsoft.com/office/drawing/2014/main" id="{2D7150E6-CD54-210A-73E0-E88DDC4E1830}"/>
              </a:ext>
            </a:extLst>
          </p:cNvPr>
          <p:cNvSpPr/>
          <p:nvPr/>
        </p:nvSpPr>
        <p:spPr>
          <a:xfrm>
            <a:off x="4937760" y="325247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Dictionary (VBA)</a:t>
            </a:r>
            <a:endParaRPr lang="en-US" sz="1600" dirty="0"/>
          </a:p>
        </p:txBody>
      </p:sp>
      <p:sp>
        <p:nvSpPr>
          <p:cNvPr id="16" name="Text 16">
            <a:extLst>
              <a:ext uri="{FF2B5EF4-FFF2-40B4-BE49-F238E27FC236}">
                <a16:creationId xmlns:a16="http://schemas.microsoft.com/office/drawing/2014/main" id="{B444FA82-52B4-D625-1912-79CA597A790F}"/>
              </a:ext>
            </a:extLst>
          </p:cNvPr>
          <p:cNvSpPr/>
          <p:nvPr/>
        </p:nvSpPr>
        <p:spPr>
          <a:xfrm>
            <a:off x="6826885" y="3291078"/>
            <a:ext cx="3840480" cy="18288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Recommended</a:t>
            </a:r>
            <a:endParaRPr lang="en-US" sz="1100" dirty="0"/>
          </a:p>
        </p:txBody>
      </p:sp>
      <p:sp>
        <p:nvSpPr>
          <p:cNvPr id="17" name="Text 17">
            <a:extLst>
              <a:ext uri="{FF2B5EF4-FFF2-40B4-BE49-F238E27FC236}">
                <a16:creationId xmlns:a16="http://schemas.microsoft.com/office/drawing/2014/main" id="{BBCB0F73-09DD-E41A-E5D9-4341CE6B28F0}"/>
              </a:ext>
            </a:extLst>
          </p:cNvPr>
          <p:cNvSpPr/>
          <p:nvPr/>
        </p:nvSpPr>
        <p:spPr>
          <a:xfrm>
            <a:off x="4927177" y="3524971"/>
            <a:ext cx="3147272" cy="1259202"/>
          </a:xfrm>
          <a:prstGeom prst="rect">
            <a:avLst/>
          </a:prstGeom>
          <a:solidFill>
            <a:srgbClr val="D2FADD"/>
          </a:solidFill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0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Pros:</a:t>
            </a:r>
            <a:endParaRPr lang="en-US" sz="1000" dirty="0"/>
          </a:p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Fastest for bulk lookups</a:t>
            </a:r>
            <a:endParaRPr lang="en-US" sz="1000" dirty="0"/>
          </a:p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Case-sensitive option</a:t>
            </a:r>
            <a:endParaRPr lang="en-US" sz="1000" dirty="0"/>
          </a:p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Multiple criteria easy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Cons:</a:t>
            </a:r>
            <a:endParaRPr lang="en-US" sz="1000" dirty="0"/>
          </a:p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VBA only</a:t>
            </a:r>
            <a:endParaRPr lang="en-US" sz="1000" dirty="0"/>
          </a:p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Requires coding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171569457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>
          <a:extLst>
            <a:ext uri="{FF2B5EF4-FFF2-40B4-BE49-F238E27FC236}">
              <a16:creationId xmlns:a16="http://schemas.microsoft.com/office/drawing/2014/main" id="{1A8545ED-D95D-F4A7-2984-224F0279F7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6">
            <a:extLst>
              <a:ext uri="{FF2B5EF4-FFF2-40B4-BE49-F238E27FC236}">
                <a16:creationId xmlns:a16="http://schemas.microsoft.com/office/drawing/2014/main" id="{D89694F8-6C1C-EAAA-F6F3-9F1BE526363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644847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r>
              <a:rPr lang="en-US" sz="2400" b="1" dirty="0">
                <a:solidFill>
                  <a:srgbClr val="1E2761"/>
                </a:solidFill>
                <a:latin typeface="Arial Black"/>
              </a:rPr>
              <a:t>VLOOKUP: Why It's Deprecated</a:t>
            </a:r>
            <a:endParaRPr lang="en-US" sz="2400" dirty="0">
              <a:latin typeface="Arial Black"/>
            </a:endParaRPr>
          </a:p>
          <a:p>
            <a:pPr marL="0" lv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endParaRPr b="1" dirty="0"/>
          </a:p>
        </p:txBody>
      </p:sp>
      <p:sp>
        <p:nvSpPr>
          <p:cNvPr id="89" name="Google Shape;89;p6">
            <a:extLst>
              <a:ext uri="{FF2B5EF4-FFF2-40B4-BE49-F238E27FC236}">
                <a16:creationId xmlns:a16="http://schemas.microsoft.com/office/drawing/2014/main" id="{2ED9AD08-DA81-235A-C74F-0D465B4BAA96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SzPts val="900"/>
              <a:buNone/>
            </a:pPr>
            <a:endParaRPr sz="900"/>
          </a:p>
        </p:txBody>
      </p:sp>
      <p:sp>
        <p:nvSpPr>
          <p:cNvPr id="91" name="Google Shape;91;p6">
            <a:extLst>
              <a:ext uri="{FF2B5EF4-FFF2-40B4-BE49-F238E27FC236}">
                <a16:creationId xmlns:a16="http://schemas.microsoft.com/office/drawing/2014/main" id="{1440FCC0-0079-CC81-C0BF-0FDDE02E62DD}"/>
              </a:ext>
            </a:extLst>
          </p:cNvPr>
          <p:cNvSpPr/>
          <p:nvPr/>
        </p:nvSpPr>
        <p:spPr>
          <a:xfrm>
            <a:off x="311700" y="116515"/>
            <a:ext cx="4601662" cy="219808"/>
          </a:xfrm>
          <a:prstGeom prst="roundRect">
            <a:avLst>
              <a:gd name="adj" fmla="val 16667"/>
            </a:avLst>
          </a:prstGeom>
          <a:solidFill>
            <a:srgbClr val="00B05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" name="Google Shape;92;p6">
            <a:extLst>
              <a:ext uri="{FF2B5EF4-FFF2-40B4-BE49-F238E27FC236}">
                <a16:creationId xmlns:a16="http://schemas.microsoft.com/office/drawing/2014/main" id="{484B2FFF-556E-A904-8E5F-F60E096B93C3}"/>
              </a:ext>
            </a:extLst>
          </p:cNvPr>
          <p:cNvSpPr/>
          <p:nvPr/>
        </p:nvSpPr>
        <p:spPr>
          <a:xfrm>
            <a:off x="4230638" y="4812031"/>
            <a:ext cx="4601662" cy="219808"/>
          </a:xfrm>
          <a:prstGeom prst="roundRect">
            <a:avLst>
              <a:gd name="adj" fmla="val 16667"/>
            </a:avLst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" name="Picture 1" descr="A logo with blue and green text&#10;&#10;AI-generated content may be incorrect.">
            <a:extLst>
              <a:ext uri="{FF2B5EF4-FFF2-40B4-BE49-F238E27FC236}">
                <a16:creationId xmlns:a16="http://schemas.microsoft.com/office/drawing/2014/main" id="{0C237B41-83D8-409B-4248-770A8A1903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53880" y="15346"/>
            <a:ext cx="1266825" cy="46672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730AAC56-1C8E-1800-E7E7-92C351AFF0AD}"/>
              </a:ext>
            </a:extLst>
          </p:cNvPr>
          <p:cNvSpPr txBox="1"/>
          <p:nvPr/>
        </p:nvSpPr>
        <p:spPr>
          <a:xfrm>
            <a:off x="179917" y="4804833"/>
            <a:ext cx="4572000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000" i="1">
                <a:solidFill>
                  <a:srgbClr val="595959"/>
                </a:solidFill>
                <a:latin typeface="Arial"/>
                <a:ea typeface="Arial"/>
                <a:cs typeface="Arial"/>
              </a:rPr>
              <a:t>© insanalytics</a:t>
            </a:r>
            <a:endParaRPr lang="en-US"/>
          </a:p>
          <a:p>
            <a:pPr algn="ctr"/>
            <a:endParaRPr lang="en-US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8942A508-2919-906B-FBD3-0DA09559B0F9}"/>
              </a:ext>
            </a:extLst>
          </p:cNvPr>
          <p:cNvSpPr/>
          <p:nvPr/>
        </p:nvSpPr>
        <p:spPr>
          <a:xfrm>
            <a:off x="457200" y="1097280"/>
            <a:ext cx="3931920" cy="1280160"/>
          </a:xfrm>
          <a:prstGeom prst="rect">
            <a:avLst/>
          </a:prstGeom>
          <a:solidFill>
            <a:srgbClr val="FEE2E2"/>
          </a:solidFill>
          <a:ln w="25400">
            <a:solidFill>
              <a:srgbClr val="EF4444"/>
            </a:solidFill>
            <a:prstDash val="solid"/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pic>
        <p:nvPicPr>
          <p:cNvPr id="5" name="Image 0">
            <a:extLst>
              <a:ext uri="{FF2B5EF4-FFF2-40B4-BE49-F238E27FC236}">
                <a16:creationId xmlns:a16="http://schemas.microsoft.com/office/drawing/2014/main" id="{49FEF112-0C2C-301C-B7AA-2F3653E46A5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1234440"/>
            <a:ext cx="457200" cy="457200"/>
          </a:xfrm>
          <a:prstGeom prst="rect">
            <a:avLst/>
          </a:prstGeom>
        </p:spPr>
      </p:pic>
      <p:sp>
        <p:nvSpPr>
          <p:cNvPr id="6" name="Text 2">
            <a:extLst>
              <a:ext uri="{FF2B5EF4-FFF2-40B4-BE49-F238E27FC236}">
                <a16:creationId xmlns:a16="http://schemas.microsoft.com/office/drawing/2014/main" id="{A6E26BB9-494C-C932-D110-782773852936}"/>
              </a:ext>
            </a:extLst>
          </p:cNvPr>
          <p:cNvSpPr/>
          <p:nvPr/>
        </p:nvSpPr>
        <p:spPr>
          <a:xfrm>
            <a:off x="1280160" y="128016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5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Problems with VLOOKUP:</a:t>
            </a:r>
            <a:endParaRPr lang="en-US" sz="1500" dirty="0"/>
          </a:p>
        </p:txBody>
      </p:sp>
      <p:sp>
        <p:nvSpPr>
          <p:cNvPr id="7" name="Text 3">
            <a:extLst>
              <a:ext uri="{FF2B5EF4-FFF2-40B4-BE49-F238E27FC236}">
                <a16:creationId xmlns:a16="http://schemas.microsoft.com/office/drawing/2014/main" id="{0DFEA406-8A70-C256-FAE3-5CB2135B929B}"/>
              </a:ext>
            </a:extLst>
          </p:cNvPr>
          <p:cNvSpPr/>
          <p:nvPr/>
        </p:nvSpPr>
        <p:spPr>
          <a:xfrm>
            <a:off x="1280160" y="1600200"/>
            <a:ext cx="2926080" cy="68580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Can only look RIGHT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Column index breaks if data moves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Slow on large datasets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No array support</a:t>
            </a:r>
            <a:endParaRPr lang="en-US" sz="1100" dirty="0"/>
          </a:p>
        </p:txBody>
      </p:sp>
      <p:sp>
        <p:nvSpPr>
          <p:cNvPr id="8" name="Text 4">
            <a:extLst>
              <a:ext uri="{FF2B5EF4-FFF2-40B4-BE49-F238E27FC236}">
                <a16:creationId xmlns:a16="http://schemas.microsoft.com/office/drawing/2014/main" id="{AC3B63B4-A0A2-136C-74CB-8DE53F36B5CD}"/>
              </a:ext>
            </a:extLst>
          </p:cNvPr>
          <p:cNvSpPr/>
          <p:nvPr/>
        </p:nvSpPr>
        <p:spPr>
          <a:xfrm>
            <a:off x="4572000" y="1097280"/>
            <a:ext cx="4109508" cy="37486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VLOOKUP in VBA (Old Way):</a:t>
            </a:r>
            <a:endParaRPr lang="en-US" sz="1400" dirty="0"/>
          </a:p>
        </p:txBody>
      </p:sp>
      <p:sp>
        <p:nvSpPr>
          <p:cNvPr id="9" name="Shape 5">
            <a:extLst>
              <a:ext uri="{FF2B5EF4-FFF2-40B4-BE49-F238E27FC236}">
                <a16:creationId xmlns:a16="http://schemas.microsoft.com/office/drawing/2014/main" id="{48AD8930-4A02-39B4-E4CE-7E33BC1EDDBB}"/>
              </a:ext>
            </a:extLst>
          </p:cNvPr>
          <p:cNvSpPr/>
          <p:nvPr/>
        </p:nvSpPr>
        <p:spPr>
          <a:xfrm>
            <a:off x="4572000" y="1463040"/>
            <a:ext cx="4114800" cy="9144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10" name="Text 6">
            <a:extLst>
              <a:ext uri="{FF2B5EF4-FFF2-40B4-BE49-F238E27FC236}">
                <a16:creationId xmlns:a16="http://schemas.microsoft.com/office/drawing/2014/main" id="{FDDBCAD9-D861-C71B-013F-DA638CDBD798}"/>
              </a:ext>
            </a:extLst>
          </p:cNvPr>
          <p:cNvSpPr/>
          <p:nvPr/>
        </p:nvSpPr>
        <p:spPr>
          <a:xfrm>
            <a:off x="4709160" y="1572768"/>
            <a:ext cx="3840480" cy="68580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result = Application.VLookup( _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Range("E2").Value, _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Range("A2:C100"), _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2, _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False)</a:t>
            </a:r>
            <a:endParaRPr lang="en-US" sz="1100" dirty="0"/>
          </a:p>
        </p:txBody>
      </p:sp>
      <p:sp>
        <p:nvSpPr>
          <p:cNvPr id="11" name="Text 7">
            <a:extLst>
              <a:ext uri="{FF2B5EF4-FFF2-40B4-BE49-F238E27FC236}">
                <a16:creationId xmlns:a16="http://schemas.microsoft.com/office/drawing/2014/main" id="{1CB9A22F-D874-0643-B503-9AB604641A83}"/>
              </a:ext>
            </a:extLst>
          </p:cNvPr>
          <p:cNvSpPr/>
          <p:nvPr/>
        </p:nvSpPr>
        <p:spPr>
          <a:xfrm>
            <a:off x="457200" y="25603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6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Use These Instead:</a:t>
            </a:r>
            <a:endParaRPr lang="en-US" sz="1600" dirty="0"/>
          </a:p>
        </p:txBody>
      </p:sp>
      <p:sp>
        <p:nvSpPr>
          <p:cNvPr id="12" name="Shape 8">
            <a:extLst>
              <a:ext uri="{FF2B5EF4-FFF2-40B4-BE49-F238E27FC236}">
                <a16:creationId xmlns:a16="http://schemas.microsoft.com/office/drawing/2014/main" id="{44B8F95C-AAA1-4066-6375-8A7006779204}"/>
              </a:ext>
            </a:extLst>
          </p:cNvPr>
          <p:cNvSpPr/>
          <p:nvPr/>
        </p:nvSpPr>
        <p:spPr>
          <a:xfrm>
            <a:off x="457200" y="2926080"/>
            <a:ext cx="4114800" cy="1737360"/>
          </a:xfrm>
          <a:prstGeom prst="rect">
            <a:avLst/>
          </a:prstGeom>
          <a:solidFill>
            <a:srgbClr val="DCFCE7"/>
          </a:solidFill>
          <a:ln w="25400">
            <a:solidFill>
              <a:srgbClr val="10B981"/>
            </a:solidFill>
            <a:prstDash val="solid"/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13" name="Text 9">
            <a:extLst>
              <a:ext uri="{FF2B5EF4-FFF2-40B4-BE49-F238E27FC236}">
                <a16:creationId xmlns:a16="http://schemas.microsoft.com/office/drawing/2014/main" id="{97FC16AA-E38A-9E26-48F3-CA54F5F574FC}"/>
              </a:ext>
            </a:extLst>
          </p:cNvPr>
          <p:cNvSpPr/>
          <p:nvPr/>
        </p:nvSpPr>
        <p:spPr>
          <a:xfrm>
            <a:off x="594360" y="3063240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3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XLOOKUP (Better):</a:t>
            </a:r>
            <a:endParaRPr lang="en-US" sz="1300" dirty="0"/>
          </a:p>
        </p:txBody>
      </p:sp>
      <p:sp>
        <p:nvSpPr>
          <p:cNvPr id="14" name="Shape 10">
            <a:extLst>
              <a:ext uri="{FF2B5EF4-FFF2-40B4-BE49-F238E27FC236}">
                <a16:creationId xmlns:a16="http://schemas.microsoft.com/office/drawing/2014/main" id="{DDD39304-6E23-1A0D-F71E-D167AA4F4757}"/>
              </a:ext>
            </a:extLst>
          </p:cNvPr>
          <p:cNvSpPr/>
          <p:nvPr/>
        </p:nvSpPr>
        <p:spPr>
          <a:xfrm>
            <a:off x="594360" y="3337560"/>
            <a:ext cx="3840480" cy="1188720"/>
          </a:xfrm>
          <a:prstGeom prst="rect">
            <a:avLst/>
          </a:prstGeom>
          <a:solidFill>
            <a:srgbClr val="F1F5F9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15" name="Text 11">
            <a:extLst>
              <a:ext uri="{FF2B5EF4-FFF2-40B4-BE49-F238E27FC236}">
                <a16:creationId xmlns:a16="http://schemas.microsoft.com/office/drawing/2014/main" id="{6B7FED0B-15AB-6F2F-ABB1-427E144CBA0D}"/>
              </a:ext>
            </a:extLst>
          </p:cNvPr>
          <p:cNvSpPr/>
          <p:nvPr/>
        </p:nvSpPr>
        <p:spPr>
          <a:xfrm>
            <a:off x="685800" y="3447288"/>
            <a:ext cx="3657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result = Application.XLookup( _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Range("E2").Value, _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Range("A:A"), Range("B:B"), "Not Found")</a:t>
            </a:r>
            <a:endParaRPr lang="en-US" sz="1000" dirty="0"/>
          </a:p>
        </p:txBody>
      </p:sp>
      <p:sp>
        <p:nvSpPr>
          <p:cNvPr id="16" name="Shape 12">
            <a:extLst>
              <a:ext uri="{FF2B5EF4-FFF2-40B4-BE49-F238E27FC236}">
                <a16:creationId xmlns:a16="http://schemas.microsoft.com/office/drawing/2014/main" id="{74A00B9E-AF60-9722-FE7F-A0F46710D562}"/>
              </a:ext>
            </a:extLst>
          </p:cNvPr>
          <p:cNvSpPr/>
          <p:nvPr/>
        </p:nvSpPr>
        <p:spPr>
          <a:xfrm>
            <a:off x="4800600" y="2926080"/>
            <a:ext cx="4114800" cy="1737360"/>
          </a:xfrm>
          <a:prstGeom prst="rect">
            <a:avLst/>
          </a:prstGeom>
          <a:solidFill>
            <a:srgbClr val="DCFCE7"/>
          </a:solidFill>
          <a:ln w="25400">
            <a:solidFill>
              <a:srgbClr val="10B981"/>
            </a:solidFill>
            <a:prstDash val="solid"/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17" name="Text 13">
            <a:extLst>
              <a:ext uri="{FF2B5EF4-FFF2-40B4-BE49-F238E27FC236}">
                <a16:creationId xmlns:a16="http://schemas.microsoft.com/office/drawing/2014/main" id="{ACD9E70D-F3EB-9ED9-6C66-C2A733D1B127}"/>
              </a:ext>
            </a:extLst>
          </p:cNvPr>
          <p:cNvSpPr/>
          <p:nvPr/>
        </p:nvSpPr>
        <p:spPr>
          <a:xfrm>
            <a:off x="4937760" y="3063240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3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INDEX-MATCH (Better):</a:t>
            </a:r>
            <a:endParaRPr lang="en-US" sz="1300" dirty="0"/>
          </a:p>
        </p:txBody>
      </p:sp>
      <p:sp>
        <p:nvSpPr>
          <p:cNvPr id="18" name="Shape 14">
            <a:extLst>
              <a:ext uri="{FF2B5EF4-FFF2-40B4-BE49-F238E27FC236}">
                <a16:creationId xmlns:a16="http://schemas.microsoft.com/office/drawing/2014/main" id="{58958893-DB89-DDDB-1EF6-4586BCFEABFE}"/>
              </a:ext>
            </a:extLst>
          </p:cNvPr>
          <p:cNvSpPr/>
          <p:nvPr/>
        </p:nvSpPr>
        <p:spPr>
          <a:xfrm>
            <a:off x="4937760" y="3337560"/>
            <a:ext cx="3840480" cy="1188720"/>
          </a:xfrm>
          <a:prstGeom prst="rect">
            <a:avLst/>
          </a:prstGeom>
          <a:solidFill>
            <a:srgbClr val="F1F5F9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19" name="Text 15">
            <a:extLst>
              <a:ext uri="{FF2B5EF4-FFF2-40B4-BE49-F238E27FC236}">
                <a16:creationId xmlns:a16="http://schemas.microsoft.com/office/drawing/2014/main" id="{A5B5757B-05EB-7C5E-9C30-E62006456BBB}"/>
              </a:ext>
            </a:extLst>
          </p:cNvPr>
          <p:cNvSpPr/>
          <p:nvPr/>
        </p:nvSpPr>
        <p:spPr>
          <a:xfrm>
            <a:off x="5029200" y="3447288"/>
            <a:ext cx="3657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 = Application.Match(Range("E2"), Range("A:A"), 0)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result = Application.Index(Range("B:B"), pos)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95610860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>
          <a:extLst>
            <a:ext uri="{FF2B5EF4-FFF2-40B4-BE49-F238E27FC236}">
              <a16:creationId xmlns:a16="http://schemas.microsoft.com/office/drawing/2014/main" id="{3C51825F-5DA8-3B5A-FC19-65885CF6E3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6">
            <a:extLst>
              <a:ext uri="{FF2B5EF4-FFF2-40B4-BE49-F238E27FC236}">
                <a16:creationId xmlns:a16="http://schemas.microsoft.com/office/drawing/2014/main" id="{F6555FBB-11D3-45A7-EB84-CA9D1322A5B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48080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 fontScale="90000"/>
          </a:bodyPr>
          <a:lstStyle/>
          <a:p>
            <a:r>
              <a:rPr lang="en-US" b="1" dirty="0">
                <a:solidFill>
                  <a:srgbClr val="1E2761"/>
                </a:solidFill>
                <a:latin typeface="Arial Black"/>
              </a:rPr>
              <a:t>   INDEX-MATCH: Best Practice</a:t>
            </a:r>
            <a:endParaRPr lang="en-US" dirty="0">
              <a:latin typeface="Arial Black"/>
            </a:endParaRPr>
          </a:p>
          <a:p>
            <a:pPr marL="0" lv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endParaRPr b="1" dirty="0"/>
          </a:p>
        </p:txBody>
      </p:sp>
      <p:sp>
        <p:nvSpPr>
          <p:cNvPr id="89" name="Google Shape;89;p6">
            <a:extLst>
              <a:ext uri="{FF2B5EF4-FFF2-40B4-BE49-F238E27FC236}">
                <a16:creationId xmlns:a16="http://schemas.microsoft.com/office/drawing/2014/main" id="{778E8EC2-23D5-36BB-8C40-81CC0CF1D72F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SzPts val="900"/>
              <a:buNone/>
            </a:pPr>
            <a:endParaRPr sz="900"/>
          </a:p>
        </p:txBody>
      </p:sp>
      <p:sp>
        <p:nvSpPr>
          <p:cNvPr id="91" name="Google Shape;91;p6">
            <a:extLst>
              <a:ext uri="{FF2B5EF4-FFF2-40B4-BE49-F238E27FC236}">
                <a16:creationId xmlns:a16="http://schemas.microsoft.com/office/drawing/2014/main" id="{F1DF80DA-00F0-ED92-0655-A0D4CB3C61A6}"/>
              </a:ext>
            </a:extLst>
          </p:cNvPr>
          <p:cNvSpPr/>
          <p:nvPr/>
        </p:nvSpPr>
        <p:spPr>
          <a:xfrm>
            <a:off x="311700" y="116515"/>
            <a:ext cx="4601662" cy="219808"/>
          </a:xfrm>
          <a:prstGeom prst="roundRect">
            <a:avLst>
              <a:gd name="adj" fmla="val 16667"/>
            </a:avLst>
          </a:prstGeom>
          <a:solidFill>
            <a:srgbClr val="00B05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" name="Google Shape;92;p6">
            <a:extLst>
              <a:ext uri="{FF2B5EF4-FFF2-40B4-BE49-F238E27FC236}">
                <a16:creationId xmlns:a16="http://schemas.microsoft.com/office/drawing/2014/main" id="{06488A44-4B74-E628-1860-3D159BAE5EAB}"/>
              </a:ext>
            </a:extLst>
          </p:cNvPr>
          <p:cNvSpPr/>
          <p:nvPr/>
        </p:nvSpPr>
        <p:spPr>
          <a:xfrm>
            <a:off x="4230638" y="4812031"/>
            <a:ext cx="4601662" cy="219808"/>
          </a:xfrm>
          <a:prstGeom prst="roundRect">
            <a:avLst>
              <a:gd name="adj" fmla="val 16667"/>
            </a:avLst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" name="Picture 1" descr="A logo with blue and green text&#10;&#10;AI-generated content may be incorrect.">
            <a:extLst>
              <a:ext uri="{FF2B5EF4-FFF2-40B4-BE49-F238E27FC236}">
                <a16:creationId xmlns:a16="http://schemas.microsoft.com/office/drawing/2014/main" id="{5377B4DB-31E2-1D22-ACA2-A5BCAC09C24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53880" y="15346"/>
            <a:ext cx="1266825" cy="46672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1439DDE5-FEDB-9D31-C3CB-03EC6A20F941}"/>
              </a:ext>
            </a:extLst>
          </p:cNvPr>
          <p:cNvSpPr txBox="1"/>
          <p:nvPr/>
        </p:nvSpPr>
        <p:spPr>
          <a:xfrm>
            <a:off x="179917" y="4804833"/>
            <a:ext cx="4572000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000" i="1">
                <a:solidFill>
                  <a:srgbClr val="595959"/>
                </a:solidFill>
                <a:latin typeface="Arial"/>
                <a:ea typeface="Arial"/>
                <a:cs typeface="Arial"/>
              </a:rPr>
              <a:t>© insanalytics</a:t>
            </a:r>
            <a:endParaRPr lang="en-US"/>
          </a:p>
          <a:p>
            <a:pPr algn="ctr"/>
            <a:endParaRPr lang="en-US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9AE6A71C-629E-954B-8F6C-F446156AB863}"/>
              </a:ext>
            </a:extLst>
          </p:cNvPr>
          <p:cNvSpPr/>
          <p:nvPr/>
        </p:nvSpPr>
        <p:spPr>
          <a:xfrm>
            <a:off x="754651" y="875386"/>
            <a:ext cx="6780533" cy="378523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/>
        </p:spPr>
        <p:txBody>
          <a:bodyPr wrap="square" lIns="91440" tIns="45720" rIns="91440" bIns="4572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None/>
            </a:pPr>
            <a:r>
              <a:rPr lang="en-US" sz="950" dirty="0">
                <a:solidFill>
                  <a:srgbClr val="1E293B"/>
                </a:solidFill>
                <a:ea typeface="+mn-lt"/>
                <a:cs typeface="+mn-lt"/>
              </a:rPr>
              <a:t>Sub </a:t>
            </a:r>
            <a:r>
              <a:rPr lang="en-US" sz="950" err="1">
                <a:solidFill>
                  <a:srgbClr val="1E293B"/>
                </a:solidFill>
                <a:ea typeface="+mn-lt"/>
                <a:cs typeface="+mn-lt"/>
              </a:rPr>
              <a:t>IndexMatchLookup</a:t>
            </a:r>
            <a:r>
              <a:rPr lang="en-US" sz="950" dirty="0">
                <a:solidFill>
                  <a:srgbClr val="1E293B"/>
                </a:solidFill>
                <a:ea typeface="+mn-lt"/>
                <a:cs typeface="+mn-lt"/>
              </a:rPr>
              <a:t>()</a:t>
            </a:r>
            <a:endParaRPr lang="en-US" sz="950">
              <a:ea typeface="+mn-lt"/>
              <a:cs typeface="+mn-lt"/>
            </a:endParaRPr>
          </a:p>
          <a:p>
            <a:r>
              <a:rPr lang="en-US" sz="950" dirty="0">
                <a:solidFill>
                  <a:srgbClr val="1E293B"/>
                </a:solidFill>
                <a:ea typeface="+mn-lt"/>
                <a:cs typeface="+mn-lt"/>
              </a:rPr>
              <a:t>    Dim </a:t>
            </a:r>
            <a:r>
              <a:rPr lang="en-US" sz="950" err="1">
                <a:solidFill>
                  <a:srgbClr val="1E293B"/>
                </a:solidFill>
                <a:ea typeface="+mn-lt"/>
                <a:cs typeface="+mn-lt"/>
              </a:rPr>
              <a:t>lookupValue</a:t>
            </a:r>
            <a:r>
              <a:rPr lang="en-US" sz="950" dirty="0">
                <a:solidFill>
                  <a:srgbClr val="1E293B"/>
                </a:solidFill>
                <a:ea typeface="+mn-lt"/>
                <a:cs typeface="+mn-lt"/>
              </a:rPr>
              <a:t> As Variant</a:t>
            </a:r>
            <a:endParaRPr lang="en-US" sz="950">
              <a:ea typeface="+mn-lt"/>
              <a:cs typeface="+mn-lt"/>
            </a:endParaRPr>
          </a:p>
          <a:p>
            <a:r>
              <a:rPr lang="en-US" sz="950" dirty="0">
                <a:solidFill>
                  <a:srgbClr val="1E293B"/>
                </a:solidFill>
                <a:ea typeface="+mn-lt"/>
                <a:cs typeface="+mn-lt"/>
              </a:rPr>
              <a:t>    Dim </a:t>
            </a:r>
            <a:r>
              <a:rPr lang="en-US" sz="950" err="1">
                <a:solidFill>
                  <a:srgbClr val="1E293B"/>
                </a:solidFill>
                <a:ea typeface="+mn-lt"/>
                <a:cs typeface="+mn-lt"/>
              </a:rPr>
              <a:t>matchPosition</a:t>
            </a:r>
            <a:r>
              <a:rPr lang="en-US" sz="950" dirty="0">
                <a:solidFill>
                  <a:srgbClr val="1E293B"/>
                </a:solidFill>
                <a:ea typeface="+mn-lt"/>
                <a:cs typeface="+mn-lt"/>
              </a:rPr>
              <a:t> As Long</a:t>
            </a:r>
            <a:endParaRPr lang="en-US" sz="950">
              <a:ea typeface="+mn-lt"/>
              <a:cs typeface="+mn-lt"/>
            </a:endParaRPr>
          </a:p>
          <a:p>
            <a:r>
              <a:rPr lang="en-US" sz="950" dirty="0">
                <a:solidFill>
                  <a:srgbClr val="1E293B"/>
                </a:solidFill>
                <a:ea typeface="+mn-lt"/>
                <a:cs typeface="+mn-lt"/>
              </a:rPr>
              <a:t>    Dim result As Variant</a:t>
            </a:r>
            <a:endParaRPr lang="en-US" sz="950">
              <a:ea typeface="+mn-lt"/>
              <a:cs typeface="+mn-lt"/>
            </a:endParaRPr>
          </a:p>
          <a:p>
            <a:endParaRPr lang="en-US" sz="950" dirty="0">
              <a:cs typeface="Arial"/>
            </a:endParaRPr>
          </a:p>
          <a:p>
            <a:r>
              <a:rPr lang="en-US" sz="950" dirty="0">
                <a:solidFill>
                  <a:srgbClr val="1E293B"/>
                </a:solidFill>
                <a:ea typeface="+mn-lt"/>
                <a:cs typeface="+mn-lt"/>
              </a:rPr>
              <a:t>    On Error </a:t>
            </a:r>
            <a:r>
              <a:rPr lang="en-US" sz="950" err="1">
                <a:solidFill>
                  <a:srgbClr val="1E293B"/>
                </a:solidFill>
                <a:ea typeface="+mn-lt"/>
                <a:cs typeface="+mn-lt"/>
              </a:rPr>
              <a:t>GoTo</a:t>
            </a:r>
            <a:r>
              <a:rPr lang="en-US" sz="950" dirty="0">
                <a:solidFill>
                  <a:srgbClr val="1E293B"/>
                </a:solidFill>
                <a:ea typeface="+mn-lt"/>
                <a:cs typeface="+mn-lt"/>
              </a:rPr>
              <a:t> </a:t>
            </a:r>
            <a:r>
              <a:rPr lang="en-US" sz="950" err="1">
                <a:solidFill>
                  <a:srgbClr val="1E293B"/>
                </a:solidFill>
                <a:ea typeface="+mn-lt"/>
                <a:cs typeface="+mn-lt"/>
              </a:rPr>
              <a:t>ErrorHandler</a:t>
            </a:r>
            <a:endParaRPr lang="en-US" sz="950">
              <a:ea typeface="+mn-lt"/>
              <a:cs typeface="+mn-lt"/>
            </a:endParaRPr>
          </a:p>
          <a:p>
            <a:r>
              <a:rPr lang="en-US" sz="950" dirty="0">
                <a:solidFill>
                  <a:srgbClr val="1E293B"/>
                </a:solidFill>
                <a:ea typeface="+mn-lt"/>
                <a:cs typeface="+mn-lt"/>
              </a:rPr>
              <a:t>    ' Get the search value</a:t>
            </a:r>
            <a:endParaRPr lang="en-US" sz="950">
              <a:ea typeface="+mn-lt"/>
              <a:cs typeface="+mn-lt"/>
            </a:endParaRPr>
          </a:p>
          <a:p>
            <a:r>
              <a:rPr lang="en-US" sz="950" dirty="0">
                <a:solidFill>
                  <a:srgbClr val="1E293B"/>
                </a:solidFill>
                <a:ea typeface="+mn-lt"/>
                <a:cs typeface="+mn-lt"/>
              </a:rPr>
              <a:t>    </a:t>
            </a:r>
            <a:r>
              <a:rPr lang="en-US" sz="950" err="1">
                <a:solidFill>
                  <a:srgbClr val="1E293B"/>
                </a:solidFill>
                <a:ea typeface="+mn-lt"/>
                <a:cs typeface="+mn-lt"/>
              </a:rPr>
              <a:t>lookupValue</a:t>
            </a:r>
            <a:r>
              <a:rPr lang="en-US" sz="950" dirty="0">
                <a:solidFill>
                  <a:srgbClr val="1E293B"/>
                </a:solidFill>
                <a:ea typeface="+mn-lt"/>
                <a:cs typeface="+mn-lt"/>
              </a:rPr>
              <a:t> = Range("E2").Value</a:t>
            </a:r>
            <a:endParaRPr lang="en-US" sz="950">
              <a:ea typeface="+mn-lt"/>
              <a:cs typeface="+mn-lt"/>
            </a:endParaRPr>
          </a:p>
          <a:p>
            <a:r>
              <a:rPr lang="en-US" sz="950" dirty="0">
                <a:solidFill>
                  <a:srgbClr val="1E293B"/>
                </a:solidFill>
                <a:ea typeface="+mn-lt"/>
                <a:cs typeface="+mn-lt"/>
              </a:rPr>
              <a:t>    ' STEP 1: Find the row position using MATCH</a:t>
            </a:r>
            <a:endParaRPr lang="en-US" sz="950">
              <a:ea typeface="+mn-lt"/>
              <a:cs typeface="+mn-lt"/>
            </a:endParaRPr>
          </a:p>
          <a:p>
            <a:r>
              <a:rPr lang="en-US" sz="950" dirty="0">
                <a:solidFill>
                  <a:srgbClr val="1E293B"/>
                </a:solidFill>
                <a:ea typeface="+mn-lt"/>
                <a:cs typeface="+mn-lt"/>
              </a:rPr>
              <a:t>    </a:t>
            </a:r>
            <a:r>
              <a:rPr lang="en-US" sz="950" err="1">
                <a:solidFill>
                  <a:srgbClr val="1E293B"/>
                </a:solidFill>
                <a:ea typeface="+mn-lt"/>
                <a:cs typeface="+mn-lt"/>
              </a:rPr>
              <a:t>matchPosition</a:t>
            </a:r>
            <a:r>
              <a:rPr lang="en-US" sz="950" dirty="0">
                <a:solidFill>
                  <a:srgbClr val="1E293B"/>
                </a:solidFill>
                <a:ea typeface="+mn-lt"/>
                <a:cs typeface="+mn-lt"/>
              </a:rPr>
              <a:t> = </a:t>
            </a:r>
            <a:r>
              <a:rPr lang="en-US" sz="950" err="1">
                <a:solidFill>
                  <a:srgbClr val="1E293B"/>
                </a:solidFill>
                <a:ea typeface="+mn-lt"/>
                <a:cs typeface="+mn-lt"/>
              </a:rPr>
              <a:t>Application.WorksheetFunction.Match</a:t>
            </a:r>
            <a:r>
              <a:rPr lang="en-US" sz="950" dirty="0">
                <a:solidFill>
                  <a:srgbClr val="1E293B"/>
                </a:solidFill>
                <a:ea typeface="+mn-lt"/>
                <a:cs typeface="+mn-lt"/>
              </a:rPr>
              <a:t>( _</a:t>
            </a:r>
            <a:endParaRPr lang="en-US" sz="950">
              <a:ea typeface="+mn-lt"/>
              <a:cs typeface="+mn-lt"/>
            </a:endParaRPr>
          </a:p>
          <a:p>
            <a:r>
              <a:rPr lang="en-US" sz="950" dirty="0">
                <a:solidFill>
                  <a:srgbClr val="1E293B"/>
                </a:solidFill>
                <a:ea typeface="+mn-lt"/>
                <a:cs typeface="+mn-lt"/>
              </a:rPr>
              <a:t>        </a:t>
            </a:r>
            <a:r>
              <a:rPr lang="en-US" sz="950" err="1">
                <a:solidFill>
                  <a:srgbClr val="1E293B"/>
                </a:solidFill>
                <a:ea typeface="+mn-lt"/>
                <a:cs typeface="+mn-lt"/>
              </a:rPr>
              <a:t>lookupValue</a:t>
            </a:r>
            <a:r>
              <a:rPr lang="en-US" sz="950" dirty="0">
                <a:solidFill>
                  <a:srgbClr val="1E293B"/>
                </a:solidFill>
                <a:ea typeface="+mn-lt"/>
                <a:cs typeface="+mn-lt"/>
              </a:rPr>
              <a:t>, _</a:t>
            </a:r>
            <a:endParaRPr lang="en-US" sz="950">
              <a:ea typeface="+mn-lt"/>
              <a:cs typeface="+mn-lt"/>
            </a:endParaRPr>
          </a:p>
          <a:p>
            <a:r>
              <a:rPr lang="en-US" sz="950" dirty="0">
                <a:solidFill>
                  <a:srgbClr val="1E293B"/>
                </a:solidFill>
                <a:ea typeface="+mn-lt"/>
                <a:cs typeface="+mn-lt"/>
              </a:rPr>
              <a:t>        Range("A2:A100"), _</a:t>
            </a:r>
            <a:endParaRPr lang="en-US" sz="950">
              <a:ea typeface="+mn-lt"/>
              <a:cs typeface="+mn-lt"/>
            </a:endParaRPr>
          </a:p>
          <a:p>
            <a:r>
              <a:rPr lang="en-US" sz="950" dirty="0">
                <a:solidFill>
                  <a:srgbClr val="1E293B"/>
                </a:solidFill>
                <a:ea typeface="+mn-lt"/>
                <a:cs typeface="+mn-lt"/>
              </a:rPr>
              <a:t>        0)</a:t>
            </a:r>
            <a:endParaRPr lang="en-US" sz="950">
              <a:ea typeface="+mn-lt"/>
              <a:cs typeface="+mn-lt"/>
            </a:endParaRPr>
          </a:p>
          <a:p>
            <a:r>
              <a:rPr lang="en-US" sz="950" dirty="0">
                <a:solidFill>
                  <a:srgbClr val="1E293B"/>
                </a:solidFill>
                <a:ea typeface="+mn-lt"/>
                <a:cs typeface="+mn-lt"/>
              </a:rPr>
              <a:t>    ' STEP 2: Get the value using INDEX</a:t>
            </a:r>
            <a:endParaRPr lang="en-US" sz="950">
              <a:ea typeface="+mn-lt"/>
              <a:cs typeface="+mn-lt"/>
            </a:endParaRPr>
          </a:p>
          <a:p>
            <a:r>
              <a:rPr lang="en-US" sz="950" dirty="0">
                <a:solidFill>
                  <a:srgbClr val="1E293B"/>
                </a:solidFill>
                <a:ea typeface="+mn-lt"/>
                <a:cs typeface="+mn-lt"/>
              </a:rPr>
              <a:t>    result = Application.WorksheetFunction.Index( _</a:t>
            </a:r>
            <a:endParaRPr lang="en-US" sz="950">
              <a:ea typeface="+mn-lt"/>
              <a:cs typeface="+mn-lt"/>
            </a:endParaRPr>
          </a:p>
          <a:p>
            <a:r>
              <a:rPr lang="en-US" sz="950" dirty="0">
                <a:solidFill>
                  <a:srgbClr val="1E293B"/>
                </a:solidFill>
                <a:ea typeface="+mn-lt"/>
                <a:cs typeface="+mn-lt"/>
              </a:rPr>
              <a:t>        Range("B2:B100"), _</a:t>
            </a:r>
            <a:endParaRPr lang="en-US" sz="950">
              <a:ea typeface="+mn-lt"/>
              <a:cs typeface="+mn-lt"/>
            </a:endParaRPr>
          </a:p>
          <a:p>
            <a:r>
              <a:rPr lang="en-US" sz="950" dirty="0">
                <a:solidFill>
                  <a:srgbClr val="1E293B"/>
                </a:solidFill>
                <a:ea typeface="+mn-lt"/>
                <a:cs typeface="+mn-lt"/>
              </a:rPr>
              <a:t>        </a:t>
            </a:r>
            <a:r>
              <a:rPr lang="en-US" sz="950" err="1">
                <a:solidFill>
                  <a:srgbClr val="1E293B"/>
                </a:solidFill>
                <a:ea typeface="+mn-lt"/>
                <a:cs typeface="+mn-lt"/>
              </a:rPr>
              <a:t>matchPosition</a:t>
            </a:r>
            <a:r>
              <a:rPr lang="en-US" sz="950" dirty="0">
                <a:solidFill>
                  <a:srgbClr val="1E293B"/>
                </a:solidFill>
                <a:ea typeface="+mn-lt"/>
                <a:cs typeface="+mn-lt"/>
              </a:rPr>
              <a:t>)</a:t>
            </a:r>
            <a:endParaRPr lang="en-US" sz="950">
              <a:ea typeface="+mn-lt"/>
              <a:cs typeface="+mn-lt"/>
            </a:endParaRPr>
          </a:p>
          <a:p>
            <a:r>
              <a:rPr lang="en-US" sz="950" dirty="0">
                <a:solidFill>
                  <a:srgbClr val="1E293B"/>
                </a:solidFill>
                <a:ea typeface="+mn-lt"/>
                <a:cs typeface="+mn-lt"/>
              </a:rPr>
              <a:t>    ' Display result</a:t>
            </a:r>
            <a:endParaRPr lang="en-US" sz="950">
              <a:ea typeface="+mn-lt"/>
              <a:cs typeface="+mn-lt"/>
            </a:endParaRPr>
          </a:p>
          <a:p>
            <a:r>
              <a:rPr lang="en-US" sz="950" dirty="0">
                <a:solidFill>
                  <a:srgbClr val="1E293B"/>
                </a:solidFill>
                <a:ea typeface="+mn-lt"/>
                <a:cs typeface="+mn-lt"/>
              </a:rPr>
              <a:t>    Range("F2").Value = result</a:t>
            </a:r>
            <a:endParaRPr lang="en-US" sz="950">
              <a:ea typeface="+mn-lt"/>
              <a:cs typeface="+mn-lt"/>
            </a:endParaRPr>
          </a:p>
          <a:p>
            <a:r>
              <a:rPr lang="en-US" sz="950" dirty="0">
                <a:solidFill>
                  <a:srgbClr val="1E293B"/>
                </a:solidFill>
                <a:ea typeface="+mn-lt"/>
                <a:cs typeface="+mn-lt"/>
              </a:rPr>
              <a:t>    </a:t>
            </a:r>
            <a:r>
              <a:rPr lang="en-US" sz="950" err="1">
                <a:solidFill>
                  <a:srgbClr val="1E293B"/>
                </a:solidFill>
                <a:ea typeface="+mn-lt"/>
                <a:cs typeface="+mn-lt"/>
              </a:rPr>
              <a:t>MsgBox</a:t>
            </a:r>
            <a:r>
              <a:rPr lang="en-US" sz="950" dirty="0">
                <a:solidFill>
                  <a:srgbClr val="1E293B"/>
                </a:solidFill>
                <a:ea typeface="+mn-lt"/>
                <a:cs typeface="+mn-lt"/>
              </a:rPr>
              <a:t> "Found: " &amp; result, </a:t>
            </a:r>
            <a:r>
              <a:rPr lang="en-US" sz="950" err="1">
                <a:solidFill>
                  <a:srgbClr val="1E293B"/>
                </a:solidFill>
                <a:ea typeface="+mn-lt"/>
                <a:cs typeface="+mn-lt"/>
              </a:rPr>
              <a:t>vbInformation</a:t>
            </a:r>
            <a:r>
              <a:rPr lang="en-US" sz="950" dirty="0">
                <a:solidFill>
                  <a:srgbClr val="1E293B"/>
                </a:solidFill>
                <a:ea typeface="+mn-lt"/>
                <a:cs typeface="+mn-lt"/>
              </a:rPr>
              <a:t>, "Success"</a:t>
            </a:r>
            <a:endParaRPr lang="en-US" sz="950">
              <a:ea typeface="+mn-lt"/>
              <a:cs typeface="+mn-lt"/>
            </a:endParaRPr>
          </a:p>
          <a:p>
            <a:endParaRPr lang="en-US" sz="950" dirty="0">
              <a:cs typeface="Arial"/>
            </a:endParaRPr>
          </a:p>
          <a:p>
            <a:r>
              <a:rPr lang="en-US" sz="950" dirty="0">
                <a:solidFill>
                  <a:srgbClr val="1E293B"/>
                </a:solidFill>
                <a:ea typeface="+mn-lt"/>
                <a:cs typeface="+mn-lt"/>
              </a:rPr>
              <a:t>    Exit Sub</a:t>
            </a:r>
            <a:endParaRPr lang="en-US" sz="950">
              <a:ea typeface="+mn-lt"/>
              <a:cs typeface="+mn-lt"/>
            </a:endParaRPr>
          </a:p>
          <a:p>
            <a:pPr>
              <a:buNone/>
            </a:pPr>
            <a:r>
              <a:rPr lang="en-US" sz="950" dirty="0">
                <a:solidFill>
                  <a:srgbClr val="1E293B"/>
                </a:solidFill>
                <a:ea typeface="+mn-lt"/>
                <a:cs typeface="+mn-lt"/>
              </a:rPr>
              <a:t>ErrorHandler:</a:t>
            </a:r>
            <a:endParaRPr lang="en-US" sz="950">
              <a:ea typeface="+mn-lt"/>
              <a:cs typeface="+mn-lt"/>
            </a:endParaRPr>
          </a:p>
          <a:p>
            <a:r>
              <a:rPr lang="en-US" sz="950" dirty="0">
                <a:solidFill>
                  <a:srgbClr val="1E293B"/>
                </a:solidFill>
                <a:ea typeface="+mn-lt"/>
                <a:cs typeface="+mn-lt"/>
              </a:rPr>
              <a:t>    </a:t>
            </a:r>
            <a:r>
              <a:rPr lang="en-US" sz="950" err="1">
                <a:solidFill>
                  <a:srgbClr val="1E293B"/>
                </a:solidFill>
                <a:ea typeface="+mn-lt"/>
                <a:cs typeface="+mn-lt"/>
              </a:rPr>
              <a:t>MsgBox</a:t>
            </a:r>
            <a:r>
              <a:rPr lang="en-US" sz="950" dirty="0">
                <a:solidFill>
                  <a:srgbClr val="1E293B"/>
                </a:solidFill>
                <a:ea typeface="+mn-lt"/>
                <a:cs typeface="+mn-lt"/>
              </a:rPr>
              <a:t> "Value '" &amp; lookupValue &amp; "' not found!", </a:t>
            </a:r>
            <a:r>
              <a:rPr lang="en-US" sz="950" err="1">
                <a:solidFill>
                  <a:srgbClr val="1E293B"/>
                </a:solidFill>
                <a:ea typeface="+mn-lt"/>
                <a:cs typeface="+mn-lt"/>
              </a:rPr>
              <a:t>vbExclamation</a:t>
            </a:r>
            <a:r>
              <a:rPr lang="en-US" sz="950" dirty="0">
                <a:solidFill>
                  <a:srgbClr val="1E293B"/>
                </a:solidFill>
                <a:ea typeface="+mn-lt"/>
                <a:cs typeface="+mn-lt"/>
              </a:rPr>
              <a:t>, "Not Found"</a:t>
            </a:r>
            <a:endParaRPr lang="en-US" sz="950">
              <a:ea typeface="+mn-lt"/>
              <a:cs typeface="+mn-lt"/>
            </a:endParaRPr>
          </a:p>
          <a:p>
            <a:r>
              <a:rPr lang="en-US" sz="950" dirty="0">
                <a:solidFill>
                  <a:srgbClr val="1E293B"/>
                </a:solidFill>
                <a:ea typeface="+mn-lt"/>
                <a:cs typeface="+mn-lt"/>
              </a:rPr>
              <a:t>    Range("F2").Value = "Not Found"</a:t>
            </a:r>
            <a:endParaRPr lang="en-US" sz="950">
              <a:ea typeface="+mn-lt"/>
              <a:cs typeface="+mn-lt"/>
            </a:endParaRPr>
          </a:p>
          <a:p>
            <a:r>
              <a:rPr lang="en-US" sz="950" dirty="0">
                <a:solidFill>
                  <a:srgbClr val="1E293B"/>
                </a:solidFill>
                <a:ea typeface="+mn-lt"/>
                <a:cs typeface="+mn-lt"/>
              </a:rPr>
              <a:t>End Sub</a:t>
            </a:r>
            <a:endParaRPr lang="en-US" sz="950" dirty="0">
              <a:ea typeface="+mn-lt"/>
              <a:cs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56373358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>
          <a:extLst>
            <a:ext uri="{FF2B5EF4-FFF2-40B4-BE49-F238E27FC236}">
              <a16:creationId xmlns:a16="http://schemas.microsoft.com/office/drawing/2014/main" id="{2DABBAE0-3F96-8E78-8AFC-694946FE9C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6">
            <a:extLst>
              <a:ext uri="{FF2B5EF4-FFF2-40B4-BE49-F238E27FC236}">
                <a16:creationId xmlns:a16="http://schemas.microsoft.com/office/drawing/2014/main" id="{56389D43-102F-D0D8-AC42-3C8A93395AF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6992" y="438472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 fontScale="90000"/>
          </a:bodyPr>
          <a:lstStyle/>
          <a:p>
            <a:r>
              <a:rPr lang="en-US" sz="3200" b="1" dirty="0">
                <a:solidFill>
                  <a:srgbClr val="1E2761"/>
                </a:solidFill>
                <a:latin typeface="Arial Black"/>
              </a:rPr>
              <a:t>Running Macros with Buttons</a:t>
            </a:r>
            <a:endParaRPr lang="en-US" sz="3200" dirty="0">
              <a:latin typeface="Arial Black"/>
            </a:endParaRPr>
          </a:p>
          <a:p>
            <a:pPr marL="0" lv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endParaRPr b="1" dirty="0"/>
          </a:p>
        </p:txBody>
      </p:sp>
      <p:sp>
        <p:nvSpPr>
          <p:cNvPr id="89" name="Google Shape;89;p6">
            <a:extLst>
              <a:ext uri="{FF2B5EF4-FFF2-40B4-BE49-F238E27FC236}">
                <a16:creationId xmlns:a16="http://schemas.microsoft.com/office/drawing/2014/main" id="{8AD45C4C-84B3-37F8-8DEC-1B05BCEA1A7E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SzPts val="900"/>
              <a:buNone/>
            </a:pPr>
            <a:endParaRPr sz="900"/>
          </a:p>
        </p:txBody>
      </p:sp>
      <p:sp>
        <p:nvSpPr>
          <p:cNvPr id="90" name="Google Shape;90;p6">
            <a:extLst>
              <a:ext uri="{FF2B5EF4-FFF2-40B4-BE49-F238E27FC236}">
                <a16:creationId xmlns:a16="http://schemas.microsoft.com/office/drawing/2014/main" id="{E37AAFF8-0157-3EBF-F291-6E59ABF4B19B}"/>
              </a:ext>
            </a:extLst>
          </p:cNvPr>
          <p:cNvSpPr txBox="1"/>
          <p:nvPr/>
        </p:nvSpPr>
        <p:spPr>
          <a:xfrm>
            <a:off x="311699" y="1218211"/>
            <a:ext cx="8520600" cy="34200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</a:pPr>
            <a:endParaRPr/>
          </a:p>
        </p:txBody>
      </p:sp>
      <p:sp>
        <p:nvSpPr>
          <p:cNvPr id="91" name="Google Shape;91;p6">
            <a:extLst>
              <a:ext uri="{FF2B5EF4-FFF2-40B4-BE49-F238E27FC236}">
                <a16:creationId xmlns:a16="http://schemas.microsoft.com/office/drawing/2014/main" id="{9983C7AE-8077-5C02-A5B1-D8656E8412CA}"/>
              </a:ext>
            </a:extLst>
          </p:cNvPr>
          <p:cNvSpPr/>
          <p:nvPr/>
        </p:nvSpPr>
        <p:spPr>
          <a:xfrm>
            <a:off x="311700" y="116515"/>
            <a:ext cx="4601662" cy="219808"/>
          </a:xfrm>
          <a:prstGeom prst="roundRect">
            <a:avLst>
              <a:gd name="adj" fmla="val 16667"/>
            </a:avLst>
          </a:prstGeom>
          <a:solidFill>
            <a:srgbClr val="00B05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" name="Google Shape;92;p6">
            <a:extLst>
              <a:ext uri="{FF2B5EF4-FFF2-40B4-BE49-F238E27FC236}">
                <a16:creationId xmlns:a16="http://schemas.microsoft.com/office/drawing/2014/main" id="{F2EF1A83-35BC-CEEB-3EAE-43B015FF68DA}"/>
              </a:ext>
            </a:extLst>
          </p:cNvPr>
          <p:cNvSpPr/>
          <p:nvPr/>
        </p:nvSpPr>
        <p:spPr>
          <a:xfrm>
            <a:off x="4230638" y="4812031"/>
            <a:ext cx="4601662" cy="219808"/>
          </a:xfrm>
          <a:prstGeom prst="roundRect">
            <a:avLst>
              <a:gd name="adj" fmla="val 16667"/>
            </a:avLst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" name="Picture 1" descr="A logo with blue and green text&#10;&#10;AI-generated content may be incorrect.">
            <a:extLst>
              <a:ext uri="{FF2B5EF4-FFF2-40B4-BE49-F238E27FC236}">
                <a16:creationId xmlns:a16="http://schemas.microsoft.com/office/drawing/2014/main" id="{0C4E477E-1CBA-F850-E734-B7F379E764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53880" y="15346"/>
            <a:ext cx="1266825" cy="46672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03343111-70E7-5419-B1DA-D1A2D76761BB}"/>
              </a:ext>
            </a:extLst>
          </p:cNvPr>
          <p:cNvSpPr txBox="1"/>
          <p:nvPr/>
        </p:nvSpPr>
        <p:spPr>
          <a:xfrm>
            <a:off x="179917" y="4804833"/>
            <a:ext cx="4572000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000" i="1">
                <a:solidFill>
                  <a:srgbClr val="595959"/>
                </a:solidFill>
                <a:latin typeface="Arial"/>
                <a:ea typeface="Arial"/>
                <a:cs typeface="Arial"/>
              </a:rPr>
              <a:t>© insanalytics</a:t>
            </a:r>
            <a:endParaRPr lang="en-US"/>
          </a:p>
          <a:p>
            <a:pPr algn="ctr"/>
            <a:endParaRPr lang="en-US"/>
          </a:p>
        </p:txBody>
      </p:sp>
      <p:pic>
        <p:nvPicPr>
          <p:cNvPr id="3" name="Image 0">
            <a:extLst>
              <a:ext uri="{FF2B5EF4-FFF2-40B4-BE49-F238E27FC236}">
                <a16:creationId xmlns:a16="http://schemas.microsoft.com/office/drawing/2014/main" id="{FCBE7C3D-A482-66C4-E85D-FF9B4F5569E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6975" y="647848"/>
            <a:ext cx="346230" cy="263002"/>
          </a:xfrm>
          <a:prstGeom prst="rect">
            <a:avLst/>
          </a:prstGeom>
        </p:spPr>
      </p:pic>
      <p:sp>
        <p:nvSpPr>
          <p:cNvPr id="5" name="Text 1">
            <a:extLst>
              <a:ext uri="{FF2B5EF4-FFF2-40B4-BE49-F238E27FC236}">
                <a16:creationId xmlns:a16="http://schemas.microsoft.com/office/drawing/2014/main" id="{AB4645EC-7B25-D7F1-F79E-412C1BB448FC}"/>
              </a:ext>
            </a:extLst>
          </p:cNvPr>
          <p:cNvSpPr/>
          <p:nvPr/>
        </p:nvSpPr>
        <p:spPr>
          <a:xfrm>
            <a:off x="1327434" y="650511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Make macros easy to use with clickable buttons and shapes</a:t>
            </a:r>
            <a:endParaRPr lang="en-US" sz="1400" dirty="0"/>
          </a:p>
        </p:txBody>
      </p:sp>
      <p:sp>
        <p:nvSpPr>
          <p:cNvPr id="6" name="Shape 2">
            <a:extLst>
              <a:ext uri="{FF2B5EF4-FFF2-40B4-BE49-F238E27FC236}">
                <a16:creationId xmlns:a16="http://schemas.microsoft.com/office/drawing/2014/main" id="{09268126-D78B-2DA6-A242-C6B1179F2273}"/>
              </a:ext>
            </a:extLst>
          </p:cNvPr>
          <p:cNvSpPr/>
          <p:nvPr/>
        </p:nvSpPr>
        <p:spPr>
          <a:xfrm>
            <a:off x="457200" y="1007837"/>
            <a:ext cx="4114800" cy="1135898"/>
          </a:xfrm>
          <a:prstGeom prst="rect">
            <a:avLst/>
          </a:prstGeom>
          <a:solidFill>
            <a:srgbClr val="DBEAFE"/>
          </a:solidFill>
          <a:ln w="25400">
            <a:solidFill>
              <a:srgbClr val="0891B2"/>
            </a:solidFill>
            <a:prstDash val="solid"/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7" name="Text 3">
            <a:extLst>
              <a:ext uri="{FF2B5EF4-FFF2-40B4-BE49-F238E27FC236}">
                <a16:creationId xmlns:a16="http://schemas.microsoft.com/office/drawing/2014/main" id="{BFE551BD-D3D5-9A21-5DB3-AB899044B8E9}"/>
              </a:ext>
            </a:extLst>
          </p:cNvPr>
          <p:cNvSpPr/>
          <p:nvPr/>
        </p:nvSpPr>
        <p:spPr>
          <a:xfrm>
            <a:off x="594360" y="1095061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Method 1: Form Control Button</a:t>
            </a:r>
            <a:endParaRPr lang="en-US" sz="1400" dirty="0"/>
          </a:p>
        </p:txBody>
      </p:sp>
      <p:sp>
        <p:nvSpPr>
          <p:cNvPr id="8" name="Text 4">
            <a:extLst>
              <a:ext uri="{FF2B5EF4-FFF2-40B4-BE49-F238E27FC236}">
                <a16:creationId xmlns:a16="http://schemas.microsoft.com/office/drawing/2014/main" id="{055A7A81-2BFF-9113-DB17-5BDE90B8791B}"/>
              </a:ext>
            </a:extLst>
          </p:cNvPr>
          <p:cNvSpPr/>
          <p:nvPr/>
        </p:nvSpPr>
        <p:spPr>
          <a:xfrm>
            <a:off x="594360" y="1370712"/>
            <a:ext cx="3840480" cy="73152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/>
                <a:ea typeface="Arial" pitchFamily="34" charset="-122"/>
                <a:cs typeface="Arial"/>
              </a:rPr>
              <a:t>Developer → Insert → Button</a:t>
            </a:r>
            <a:endParaRPr lang="en-US" sz="1100" dirty="0">
              <a:latin typeface="Arial"/>
              <a:cs typeface="Arial"/>
            </a:endParaRPr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/>
                <a:ea typeface="Arial" pitchFamily="34" charset="-122"/>
                <a:cs typeface="Arial"/>
              </a:rPr>
              <a:t>Draw button on worksheet</a:t>
            </a:r>
            <a:endParaRPr lang="en-US" sz="1100" dirty="0">
              <a:latin typeface="Arial"/>
              <a:ea typeface="Calibri" panose="020F0502020204030204"/>
              <a:cs typeface="Calibri" panose="020F0502020204030204"/>
            </a:endParaRPr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/>
                <a:ea typeface="Arial" pitchFamily="34" charset="-122"/>
                <a:cs typeface="Arial"/>
              </a:rPr>
              <a:t>Select macro from list</a:t>
            </a:r>
            <a:endParaRPr lang="en-US" sz="1100" dirty="0">
              <a:latin typeface="Arial"/>
              <a:cs typeface="Arial"/>
            </a:endParaRPr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/>
                <a:ea typeface="Arial" pitchFamily="34" charset="-122"/>
                <a:cs typeface="Arial"/>
              </a:rPr>
              <a:t>Right-click → Edit Text to rename</a:t>
            </a:r>
            <a:endParaRPr lang="en-US" sz="1100" dirty="0">
              <a:latin typeface="Arial"/>
              <a:cs typeface="Arial"/>
            </a:endParaRPr>
          </a:p>
        </p:txBody>
      </p:sp>
      <p:sp>
        <p:nvSpPr>
          <p:cNvPr id="9" name="Shape 5">
            <a:extLst>
              <a:ext uri="{FF2B5EF4-FFF2-40B4-BE49-F238E27FC236}">
                <a16:creationId xmlns:a16="http://schemas.microsoft.com/office/drawing/2014/main" id="{CFE023E9-7132-026C-37B6-9037E2065572}"/>
              </a:ext>
            </a:extLst>
          </p:cNvPr>
          <p:cNvSpPr/>
          <p:nvPr/>
        </p:nvSpPr>
        <p:spPr>
          <a:xfrm>
            <a:off x="4754880" y="1007837"/>
            <a:ext cx="3931920" cy="1152544"/>
          </a:xfrm>
          <a:prstGeom prst="rect">
            <a:avLst/>
          </a:prstGeom>
          <a:solidFill>
            <a:srgbClr val="DCFCE7"/>
          </a:solidFill>
          <a:ln w="25400">
            <a:solidFill>
              <a:srgbClr val="10B981"/>
            </a:solidFill>
            <a:prstDash val="solid"/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10" name="Text 6">
            <a:extLst>
              <a:ext uri="{FF2B5EF4-FFF2-40B4-BE49-F238E27FC236}">
                <a16:creationId xmlns:a16="http://schemas.microsoft.com/office/drawing/2014/main" id="{FF7AFFF3-4068-08A0-696A-072D5A3CD9A1}"/>
              </a:ext>
            </a:extLst>
          </p:cNvPr>
          <p:cNvSpPr/>
          <p:nvPr/>
        </p:nvSpPr>
        <p:spPr>
          <a:xfrm>
            <a:off x="4892040" y="1095061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Method 2: Shape with Macro</a:t>
            </a:r>
            <a:endParaRPr lang="en-US" sz="1400" dirty="0"/>
          </a:p>
        </p:txBody>
      </p:sp>
      <p:sp>
        <p:nvSpPr>
          <p:cNvPr id="11" name="Text 7">
            <a:extLst>
              <a:ext uri="{FF2B5EF4-FFF2-40B4-BE49-F238E27FC236}">
                <a16:creationId xmlns:a16="http://schemas.microsoft.com/office/drawing/2014/main" id="{1EDBE941-754C-C807-9F70-6DA320249CD9}"/>
              </a:ext>
            </a:extLst>
          </p:cNvPr>
          <p:cNvSpPr/>
          <p:nvPr/>
        </p:nvSpPr>
        <p:spPr>
          <a:xfrm>
            <a:off x="4892040" y="1370712"/>
            <a:ext cx="3657600" cy="73152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/>
                <a:ea typeface="Arial" pitchFamily="34" charset="-122"/>
                <a:cs typeface="Arial"/>
              </a:rPr>
              <a:t>Insert → Shapes → Rectangle</a:t>
            </a:r>
            <a:endParaRPr lang="en-US" sz="1100" dirty="0">
              <a:latin typeface="Arial"/>
              <a:cs typeface="Arial"/>
            </a:endParaRPr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/>
                <a:ea typeface="Arial" pitchFamily="34" charset="-122"/>
                <a:cs typeface="Arial"/>
              </a:rPr>
              <a:t>Draw and format shape</a:t>
            </a:r>
            <a:endParaRPr lang="en-US" sz="1100" dirty="0">
              <a:latin typeface="Arial"/>
              <a:cs typeface="Arial"/>
            </a:endParaRPr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/>
                <a:ea typeface="Arial" pitchFamily="34" charset="-122"/>
                <a:cs typeface="Arial"/>
              </a:rPr>
              <a:t>Right-click → Assign Macro</a:t>
            </a:r>
            <a:endParaRPr lang="en-US" sz="1100" dirty="0">
              <a:latin typeface="Arial"/>
              <a:cs typeface="Arial"/>
            </a:endParaRPr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/>
                <a:ea typeface="Arial" pitchFamily="34" charset="-122"/>
                <a:cs typeface="Arial"/>
              </a:rPr>
              <a:t>Select your macro → OK</a:t>
            </a:r>
            <a:endParaRPr lang="en-US" sz="1100" dirty="0">
              <a:latin typeface="Arial"/>
              <a:cs typeface="Arial"/>
            </a:endParaRPr>
          </a:p>
        </p:txBody>
      </p:sp>
      <p:sp>
        <p:nvSpPr>
          <p:cNvPr id="12" name="Text 8">
            <a:extLst>
              <a:ext uri="{FF2B5EF4-FFF2-40B4-BE49-F238E27FC236}">
                <a16:creationId xmlns:a16="http://schemas.microsoft.com/office/drawing/2014/main" id="{3C12FBA8-3BD9-568B-F0EF-3A66EC677FAA}"/>
              </a:ext>
            </a:extLst>
          </p:cNvPr>
          <p:cNvSpPr/>
          <p:nvPr/>
        </p:nvSpPr>
        <p:spPr>
          <a:xfrm>
            <a:off x="457200" y="2154610"/>
            <a:ext cx="8229600" cy="27432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200" b="1" dirty="0">
              <a:solidFill>
                <a:srgbClr val="1E2761"/>
              </a:solidFill>
              <a:latin typeface="Arial"/>
              <a:ea typeface="Arial" pitchFamily="34" charset="-122"/>
              <a:cs typeface="Arial"/>
            </a:endParaRPr>
          </a:p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Arial"/>
                <a:ea typeface="Arial" pitchFamily="34" charset="-122"/>
                <a:cs typeface="Arial"/>
              </a:rPr>
              <a:t>Example: Create Button in VBA</a:t>
            </a:r>
            <a:endParaRPr lang="en-US" sz="1200" dirty="0">
              <a:latin typeface="Arial"/>
              <a:ea typeface="Calibri"/>
              <a:cs typeface="Arial"/>
            </a:endParaRPr>
          </a:p>
        </p:txBody>
      </p:sp>
      <p:sp>
        <p:nvSpPr>
          <p:cNvPr id="13" name="Shape 9">
            <a:extLst>
              <a:ext uri="{FF2B5EF4-FFF2-40B4-BE49-F238E27FC236}">
                <a16:creationId xmlns:a16="http://schemas.microsoft.com/office/drawing/2014/main" id="{AB166EDA-A1CD-47BB-0266-458458A272DE}"/>
              </a:ext>
            </a:extLst>
          </p:cNvPr>
          <p:cNvSpPr/>
          <p:nvPr/>
        </p:nvSpPr>
        <p:spPr>
          <a:xfrm>
            <a:off x="457200" y="2570308"/>
            <a:ext cx="8229600" cy="2365150"/>
          </a:xfrm>
          <a:prstGeom prst="rect">
            <a:avLst/>
          </a:prstGeom>
          <a:solidFill>
            <a:srgbClr val="F1F5F9"/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14" name="Text 10">
            <a:extLst>
              <a:ext uri="{FF2B5EF4-FFF2-40B4-BE49-F238E27FC236}">
                <a16:creationId xmlns:a16="http://schemas.microsoft.com/office/drawing/2014/main" id="{6695D7AA-023C-6E37-D02B-A8FEECEC26A8}"/>
              </a:ext>
            </a:extLst>
          </p:cNvPr>
          <p:cNvSpPr/>
          <p:nvPr/>
        </p:nvSpPr>
        <p:spPr>
          <a:xfrm>
            <a:off x="594360" y="3251536"/>
            <a:ext cx="7955280" cy="118872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None/>
            </a:pPr>
            <a:r>
              <a:rPr lang="en-US" sz="1000" dirty="0">
                <a:solidFill>
                  <a:srgbClr val="1E293B"/>
                </a:solidFill>
                <a:ea typeface="+mn-lt"/>
                <a:cs typeface="+mn-lt"/>
              </a:rPr>
              <a:t>Sub </a:t>
            </a:r>
            <a:r>
              <a:rPr lang="en-US" sz="1000" dirty="0" err="1">
                <a:solidFill>
                  <a:srgbClr val="1E293B"/>
                </a:solidFill>
                <a:ea typeface="+mn-lt"/>
                <a:cs typeface="+mn-lt"/>
              </a:rPr>
              <a:t>IndexMatchLookup</a:t>
            </a:r>
            <a:r>
              <a:rPr lang="en-US" sz="1000" dirty="0">
                <a:solidFill>
                  <a:srgbClr val="1E293B"/>
                </a:solidFill>
                <a:ea typeface="+mn-lt"/>
                <a:cs typeface="+mn-lt"/>
              </a:rPr>
              <a:t>()</a:t>
            </a:r>
            <a:endParaRPr lang="en-US" dirty="0">
              <a:ea typeface="+mn-lt"/>
              <a:cs typeface="+mn-lt"/>
            </a:endParaRPr>
          </a:p>
          <a:p>
            <a:r>
              <a:rPr lang="en-US" sz="1000" dirty="0">
                <a:solidFill>
                  <a:srgbClr val="1E293B"/>
                </a:solidFill>
                <a:ea typeface="+mn-lt"/>
                <a:cs typeface="+mn-lt"/>
              </a:rPr>
              <a:t>    Dim </a:t>
            </a:r>
            <a:r>
              <a:rPr lang="en-US" sz="1000" dirty="0" err="1">
                <a:solidFill>
                  <a:srgbClr val="1E293B"/>
                </a:solidFill>
                <a:ea typeface="+mn-lt"/>
                <a:cs typeface="+mn-lt"/>
              </a:rPr>
              <a:t>btn</a:t>
            </a:r>
            <a:r>
              <a:rPr lang="en-US" sz="1000" dirty="0">
                <a:solidFill>
                  <a:srgbClr val="1E293B"/>
                </a:solidFill>
                <a:ea typeface="+mn-lt"/>
                <a:cs typeface="+mn-lt"/>
              </a:rPr>
              <a:t> As button</a:t>
            </a:r>
            <a:endParaRPr lang="en-US" dirty="0"/>
          </a:p>
          <a:p>
            <a:r>
              <a:rPr lang="en-US" sz="1000" dirty="0">
                <a:solidFill>
                  <a:srgbClr val="1E293B"/>
                </a:solidFill>
                <a:ea typeface="+mn-lt"/>
                <a:cs typeface="+mn-lt"/>
              </a:rPr>
              <a:t>    ' Create button</a:t>
            </a:r>
            <a:endParaRPr lang="en-US" dirty="0">
              <a:ea typeface="+mn-lt"/>
              <a:cs typeface="+mn-lt"/>
            </a:endParaRPr>
          </a:p>
          <a:p>
            <a:r>
              <a:rPr lang="en-US" sz="1000" dirty="0">
                <a:solidFill>
                  <a:srgbClr val="1E293B"/>
                </a:solidFill>
                <a:ea typeface="+mn-lt"/>
                <a:cs typeface="+mn-lt"/>
              </a:rPr>
              <a:t>    Set </a:t>
            </a:r>
            <a:r>
              <a:rPr lang="en-US" sz="1000" dirty="0" err="1">
                <a:solidFill>
                  <a:srgbClr val="1E293B"/>
                </a:solidFill>
                <a:ea typeface="+mn-lt"/>
                <a:cs typeface="+mn-lt"/>
              </a:rPr>
              <a:t>btn</a:t>
            </a:r>
            <a:r>
              <a:rPr lang="en-US" sz="1000" dirty="0">
                <a:solidFill>
                  <a:srgbClr val="1E293B"/>
                </a:solidFill>
                <a:ea typeface="+mn-lt"/>
                <a:cs typeface="+mn-lt"/>
              </a:rPr>
              <a:t> = </a:t>
            </a:r>
            <a:r>
              <a:rPr lang="en-US" sz="1000" dirty="0" err="1">
                <a:solidFill>
                  <a:srgbClr val="1E293B"/>
                </a:solidFill>
                <a:ea typeface="+mn-lt"/>
                <a:cs typeface="+mn-lt"/>
              </a:rPr>
              <a:t>ActiveSheet.Buttons.Add</a:t>
            </a:r>
            <a:r>
              <a:rPr lang="en-US" sz="1000" dirty="0">
                <a:solidFill>
                  <a:srgbClr val="1E293B"/>
                </a:solidFill>
                <a:ea typeface="+mn-lt"/>
                <a:cs typeface="+mn-lt"/>
              </a:rPr>
              <a:t>(Left:=100, Top:=50, Width:=150, Height:=30)</a:t>
            </a:r>
            <a:endParaRPr lang="en-US" dirty="0">
              <a:ea typeface="+mn-lt"/>
              <a:cs typeface="+mn-lt"/>
            </a:endParaRPr>
          </a:p>
          <a:p>
            <a:r>
              <a:rPr lang="en-US" sz="1000" dirty="0">
                <a:solidFill>
                  <a:srgbClr val="1E293B"/>
                </a:solidFill>
                <a:ea typeface="+mn-lt"/>
                <a:cs typeface="+mn-lt"/>
              </a:rPr>
              <a:t>    ' Configure button</a:t>
            </a:r>
            <a:endParaRPr lang="en-US" dirty="0">
              <a:ea typeface="+mn-lt"/>
              <a:cs typeface="+mn-lt"/>
            </a:endParaRPr>
          </a:p>
          <a:p>
            <a:r>
              <a:rPr lang="en-US" sz="1000" dirty="0">
                <a:solidFill>
                  <a:srgbClr val="1E293B"/>
                </a:solidFill>
                <a:ea typeface="+mn-lt"/>
                <a:cs typeface="+mn-lt"/>
              </a:rPr>
              <a:t>    With </a:t>
            </a:r>
            <a:r>
              <a:rPr lang="en-US" sz="1000" dirty="0" err="1">
                <a:solidFill>
                  <a:srgbClr val="1E293B"/>
                </a:solidFill>
                <a:ea typeface="+mn-lt"/>
                <a:cs typeface="+mn-lt"/>
              </a:rPr>
              <a:t>btn</a:t>
            </a:r>
            <a:endParaRPr lang="en-US" dirty="0" err="1">
              <a:ea typeface="+mn-lt"/>
              <a:cs typeface="+mn-lt"/>
            </a:endParaRPr>
          </a:p>
          <a:p>
            <a:r>
              <a:rPr lang="en-US" sz="1000" dirty="0">
                <a:solidFill>
                  <a:srgbClr val="1E293B"/>
                </a:solidFill>
                <a:ea typeface="+mn-lt"/>
                <a:cs typeface="+mn-lt"/>
              </a:rPr>
              <a:t>        .</a:t>
            </a:r>
            <a:r>
              <a:rPr lang="en-US" sz="1000" dirty="0" err="1">
                <a:solidFill>
                  <a:srgbClr val="1E293B"/>
                </a:solidFill>
                <a:ea typeface="+mn-lt"/>
                <a:cs typeface="+mn-lt"/>
              </a:rPr>
              <a:t>OnAction</a:t>
            </a:r>
            <a:r>
              <a:rPr lang="en-US" sz="1000" dirty="0">
                <a:solidFill>
                  <a:srgbClr val="1E293B"/>
                </a:solidFill>
                <a:ea typeface="+mn-lt"/>
                <a:cs typeface="+mn-lt"/>
              </a:rPr>
              <a:t> = "</a:t>
            </a:r>
            <a:r>
              <a:rPr lang="en-US" sz="1000" dirty="0" err="1">
                <a:solidFill>
                  <a:srgbClr val="1E293B"/>
                </a:solidFill>
                <a:ea typeface="+mn-lt"/>
                <a:cs typeface="+mn-lt"/>
              </a:rPr>
              <a:t>IndexMatchLookup</a:t>
            </a:r>
            <a:r>
              <a:rPr lang="en-US" sz="1000" dirty="0">
                <a:solidFill>
                  <a:srgbClr val="1E293B"/>
                </a:solidFill>
                <a:ea typeface="+mn-lt"/>
                <a:cs typeface="+mn-lt"/>
              </a:rPr>
              <a:t>"   ' ? Correct macro name</a:t>
            </a:r>
            <a:endParaRPr lang="en-US" dirty="0"/>
          </a:p>
          <a:p>
            <a:r>
              <a:rPr lang="en-US" sz="1000" dirty="0">
                <a:solidFill>
                  <a:srgbClr val="1E293B"/>
                </a:solidFill>
                <a:ea typeface="+mn-lt"/>
                <a:cs typeface="+mn-lt"/>
              </a:rPr>
              <a:t>        .Caption = "Button"</a:t>
            </a:r>
            <a:endParaRPr lang="en-US" dirty="0"/>
          </a:p>
          <a:p>
            <a:r>
              <a:rPr lang="en-US" sz="1000" dirty="0">
                <a:solidFill>
                  <a:srgbClr val="1E293B"/>
                </a:solidFill>
                <a:ea typeface="+mn-lt"/>
                <a:cs typeface="+mn-lt"/>
              </a:rPr>
              <a:t>        .</a:t>
            </a:r>
            <a:r>
              <a:rPr lang="en-US" sz="1000" dirty="0" err="1">
                <a:solidFill>
                  <a:srgbClr val="1E293B"/>
                </a:solidFill>
                <a:ea typeface="+mn-lt"/>
                <a:cs typeface="+mn-lt"/>
              </a:rPr>
              <a:t>Font.Bold</a:t>
            </a:r>
            <a:r>
              <a:rPr lang="en-US" sz="1000" dirty="0">
                <a:solidFill>
                  <a:srgbClr val="1E293B"/>
                </a:solidFill>
                <a:ea typeface="+mn-lt"/>
                <a:cs typeface="+mn-lt"/>
              </a:rPr>
              <a:t> = True</a:t>
            </a:r>
            <a:endParaRPr lang="en-US" dirty="0">
              <a:ea typeface="+mn-lt"/>
              <a:cs typeface="+mn-lt"/>
            </a:endParaRPr>
          </a:p>
          <a:p>
            <a:r>
              <a:rPr lang="en-US" sz="1000" dirty="0">
                <a:solidFill>
                  <a:srgbClr val="1E293B"/>
                </a:solidFill>
                <a:ea typeface="+mn-lt"/>
                <a:cs typeface="+mn-lt"/>
              </a:rPr>
              <a:t>        .</a:t>
            </a:r>
            <a:r>
              <a:rPr lang="en-US" sz="1000" dirty="0" err="1">
                <a:solidFill>
                  <a:srgbClr val="1E293B"/>
                </a:solidFill>
                <a:ea typeface="+mn-lt"/>
                <a:cs typeface="+mn-lt"/>
              </a:rPr>
              <a:t>Font.Size</a:t>
            </a:r>
            <a:r>
              <a:rPr lang="en-US" sz="1000" dirty="0">
                <a:solidFill>
                  <a:srgbClr val="1E293B"/>
                </a:solidFill>
                <a:ea typeface="+mn-lt"/>
                <a:cs typeface="+mn-lt"/>
              </a:rPr>
              <a:t> = 11</a:t>
            </a:r>
            <a:endParaRPr lang="en-US" dirty="0">
              <a:ea typeface="+mn-lt"/>
              <a:cs typeface="+mn-lt"/>
            </a:endParaRPr>
          </a:p>
          <a:p>
            <a:r>
              <a:rPr lang="en-US" sz="1000" dirty="0">
                <a:solidFill>
                  <a:srgbClr val="1E293B"/>
                </a:solidFill>
                <a:ea typeface="+mn-lt"/>
                <a:cs typeface="+mn-lt"/>
              </a:rPr>
              <a:t>    End With</a:t>
            </a:r>
            <a:endParaRPr lang="en-US" dirty="0">
              <a:ea typeface="+mn-lt"/>
              <a:cs typeface="+mn-lt"/>
            </a:endParaRPr>
          </a:p>
          <a:p>
            <a:r>
              <a:rPr lang="en-US" sz="1000" dirty="0">
                <a:solidFill>
                  <a:srgbClr val="1E293B"/>
                </a:solidFill>
                <a:ea typeface="+mn-lt"/>
                <a:cs typeface="+mn-lt"/>
              </a:rPr>
              <a:t>    </a:t>
            </a:r>
            <a:r>
              <a:rPr lang="en-US" sz="1000" dirty="0" err="1">
                <a:solidFill>
                  <a:srgbClr val="1E293B"/>
                </a:solidFill>
                <a:ea typeface="+mn-lt"/>
                <a:cs typeface="+mn-lt"/>
              </a:rPr>
              <a:t>MsgBox</a:t>
            </a:r>
            <a:r>
              <a:rPr lang="en-US" sz="1000" dirty="0">
                <a:solidFill>
                  <a:srgbClr val="1E293B"/>
                </a:solidFill>
                <a:ea typeface="+mn-lt"/>
                <a:cs typeface="+mn-lt"/>
              </a:rPr>
              <a:t> "Button created! Click it to run the macro.", </a:t>
            </a:r>
            <a:r>
              <a:rPr lang="en-US" sz="1000" dirty="0" err="1">
                <a:solidFill>
                  <a:srgbClr val="1E293B"/>
                </a:solidFill>
                <a:ea typeface="+mn-lt"/>
                <a:cs typeface="+mn-lt"/>
              </a:rPr>
              <a:t>vbInformation</a:t>
            </a:r>
            <a:endParaRPr lang="en-US" dirty="0" err="1">
              <a:ea typeface="+mn-lt"/>
              <a:cs typeface="+mn-lt"/>
            </a:endParaRPr>
          </a:p>
          <a:p>
            <a:r>
              <a:rPr lang="en-US" sz="1000" dirty="0">
                <a:solidFill>
                  <a:srgbClr val="1E293B"/>
                </a:solidFill>
                <a:ea typeface="+mn-lt"/>
                <a:cs typeface="+mn-lt"/>
              </a:rPr>
              <a:t>End Sub</a:t>
            </a:r>
            <a:endParaRPr lang="en-US" dirty="0">
              <a:ea typeface="+mn-lt"/>
              <a:cs typeface="+mn-lt"/>
            </a:endParaRPr>
          </a:p>
          <a:p>
            <a:pPr marL="0" indent="0">
              <a:buNone/>
            </a:pPr>
            <a:endParaRPr lang="en-US" sz="1000" dirty="0">
              <a:solidFill>
                <a:srgbClr val="1E293B"/>
              </a:solidFill>
              <a:latin typeface="Consolas"/>
            </a:endParaRPr>
          </a:p>
        </p:txBody>
      </p:sp>
    </p:spTree>
    <p:extLst>
      <p:ext uri="{BB962C8B-B14F-4D97-AF65-F5344CB8AC3E}">
        <p14:creationId xmlns:p14="http://schemas.microsoft.com/office/powerpoint/2010/main" val="238499885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reenBar"/>
          <p:cNvSpPr/>
          <p:nvPr/>
        </p:nvSpPr>
        <p:spPr>
          <a:xfrm>
            <a:off x="311700" y="116515"/>
            <a:ext cx="4601662" cy="219808"/>
          </a:xfrm>
          <a:prstGeom prst="roundRect">
            <a:avLst>
              <a:gd name="adj" fmla="val 16667"/>
            </a:avLst>
          </a:prstGeom>
          <a:solidFill>
            <a:srgbClr val="00B050"/>
          </a:solidFill>
          <a:ln>
            <a:noFill/>
          </a:ln>
        </p:spPr>
        <p:txBody>
          <a:bodyPr wrap="square" anchor="ctr">
            <a:noAutofit/>
          </a:bodyPr>
          <a:lstStyle/>
          <a:p>
            <a:endParaRPr/>
          </a:p>
        </p:txBody>
      </p:sp>
      <p:sp>
        <p:nvSpPr>
          <p:cNvPr id="92" name="BlueBar"/>
          <p:cNvSpPr/>
          <p:nvPr/>
        </p:nvSpPr>
        <p:spPr>
          <a:xfrm>
            <a:off x="4230638" y="4812031"/>
            <a:ext cx="4601662" cy="219808"/>
          </a:xfrm>
          <a:prstGeom prst="roundRect">
            <a:avLst>
              <a:gd name="adj" fmla="val 16667"/>
            </a:avLst>
          </a:prstGeom>
          <a:solidFill>
            <a:srgbClr val="002060"/>
          </a:solidFill>
          <a:ln>
            <a:noFill/>
          </a:ln>
        </p:spPr>
        <p:txBody>
          <a:bodyPr wrap="square" anchor="ctr">
            <a:noAutofit/>
          </a:bodyPr>
          <a:lstStyle/>
          <a:p>
            <a:endParaRPr/>
          </a:p>
        </p:txBody>
      </p:sp>
      <p:pic>
        <p:nvPicPr>
          <p:cNvPr id="2" name="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53880" y="15346"/>
            <a:ext cx="1266825" cy="466725"/>
          </a:xfrm>
          <a:prstGeom prst="rect">
            <a:avLst/>
          </a:prstGeom>
        </p:spPr>
      </p:pic>
      <p:sp>
        <p:nvSpPr>
          <p:cNvPr id="93" name="Copyright"/>
          <p:cNvSpPr txBox="1"/>
          <p:nvPr/>
        </p:nvSpPr>
        <p:spPr>
          <a:xfrm>
            <a:off x="179917" y="4804833"/>
            <a:ext cx="4572000" cy="261665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US" sz="1000" i="1">
                <a:solidFill>
                  <a:srgbClr val="595959"/>
                </a:solidFill>
                <a:latin typeface="Arial"/>
              </a:rPr>
              <a:t>© insanalytics</a:t>
            </a:r>
          </a:p>
        </p:txBody>
      </p:sp>
      <p:sp>
        <p:nvSpPr>
          <p:cNvPr id="88" name="Title"/>
          <p:cNvSpPr txBox="1">
            <a:spLocks noGrp="1"/>
          </p:cNvSpPr>
          <p:nvPr>
            <p:ph type="title"/>
          </p:nvPr>
        </p:nvSpPr>
        <p:spPr>
          <a:xfrm>
            <a:off x="311700" y="48080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US" b="1" dirty="0">
                <a:solidFill>
                  <a:srgbClr val="1E2761"/>
                </a:solidFill>
                <a:latin typeface="Arial Black"/>
              </a:rPr>
              <a:t>Python in Excel: Setup &amp; =PY() Function</a:t>
            </a:r>
          </a:p>
        </p:txBody>
      </p:sp>
      <p:sp>
        <p:nvSpPr>
          <p:cNvPr id="10" name="Card1"/>
          <p:cNvSpPr txBox="1"/>
          <p:nvPr/>
        </p:nvSpPr>
        <p:spPr>
          <a:xfrm>
            <a:off x="311700" y="1200000"/>
            <a:ext cx="2700000" cy="3250000"/>
          </a:xfrm>
          <a:prstGeom prst="roundRect">
            <a:avLst>
              <a:gd name="adj" fmla="val 8000"/>
            </a:avLst>
          </a:prstGeom>
          <a:solidFill>
            <a:srgbClr val="EBF3FB"/>
          </a:solidFill>
          <a:ln w="12700">
            <a:solidFill>
              <a:srgbClr val="1E2761"/>
            </a:solidFill>
          </a:ln>
        </p:spPr>
        <p:txBody>
          <a:bodyPr wrap="square" lIns="182880" tIns="182880" rIns="182880" bIns="182880" anchor="t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Arial"/>
              </a:rPr>
              <a:t>What It Is</a:t>
            </a:r>
          </a:p>
          <a:p>
            <a:pPr>
              <a:buNone/>
            </a:pPr>
            <a:endParaRPr sz="900"/>
          </a:p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Arial"/>
              </a:rPr>
              <a:t>Python runs inside Excel via the =PY() function.</a:t>
            </a:r>
          </a:p>
          <a:p>
            <a:pPr>
              <a:buNone/>
            </a:pPr>
            <a:endParaRPr sz="900"/>
          </a:p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Arial"/>
              </a:rPr>
              <a:t>Microsoft hosts a secure cloud Python environment with full data science libraries pre-installed — no local setup needed.</a:t>
            </a:r>
          </a:p>
        </p:txBody>
      </p:sp>
      <p:sp>
        <p:nvSpPr>
          <p:cNvPr id="11" name="Card2"/>
          <p:cNvSpPr txBox="1"/>
          <p:nvPr/>
        </p:nvSpPr>
        <p:spPr>
          <a:xfrm>
            <a:off x="3221700" y="1200000"/>
            <a:ext cx="2700000" cy="3250000"/>
          </a:xfrm>
          <a:prstGeom prst="roundRect">
            <a:avLst>
              <a:gd name="adj" fmla="val 8000"/>
            </a:avLst>
          </a:prstGeom>
          <a:solidFill>
            <a:srgbClr val="E8F8EF"/>
          </a:solidFill>
          <a:ln w="12700">
            <a:solidFill>
              <a:srgbClr val="00B050"/>
            </a:solidFill>
          </a:ln>
        </p:spPr>
        <p:txBody>
          <a:bodyPr wrap="square" lIns="182880" tIns="182880" rIns="182880" bIns="182880" anchor="t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00B050"/>
                </a:solidFill>
                <a:latin typeface="Arial"/>
              </a:rPr>
              <a:t>Requirements</a:t>
            </a:r>
          </a:p>
          <a:p>
            <a:pPr>
              <a:buNone/>
            </a:pPr>
            <a:endParaRPr sz="900"/>
          </a:p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Arial"/>
              </a:rPr>
              <a:t>• Microsoft 365 subscription</a:t>
            </a:r>
          </a:p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Arial"/>
              </a:rPr>
              <a:t>• Current or Insider Channel update</a:t>
            </a:r>
          </a:p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Arial"/>
              </a:rPr>
              <a:t>• No local Python install required</a:t>
            </a:r>
          </a:p>
          <a:p>
            <a:pPr>
              <a:buNone/>
            </a:pPr>
            <a:endParaRPr sz="900"/>
          </a:p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Arial"/>
              </a:rPr>
              <a:t>Available libraries:</a:t>
            </a:r>
          </a:p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Arial"/>
              </a:rPr>
              <a:t>pandas  •  NumPy  •  scikit-learn  •  matplotlib  •  statsmodels</a:t>
            </a:r>
          </a:p>
        </p:txBody>
      </p:sp>
      <p:sp>
        <p:nvSpPr>
          <p:cNvPr id="12" name="Card3"/>
          <p:cNvSpPr txBox="1"/>
          <p:nvPr/>
        </p:nvSpPr>
        <p:spPr>
          <a:xfrm>
            <a:off x="6131700" y="1200000"/>
            <a:ext cx="2700000" cy="3250000"/>
          </a:xfrm>
          <a:prstGeom prst="roundRect">
            <a:avLst>
              <a:gd name="adj" fmla="val 8000"/>
            </a:avLst>
          </a:prstGeom>
          <a:solidFill>
            <a:srgbClr val="FEF9EE"/>
          </a:solidFill>
          <a:ln w="12700">
            <a:solidFill>
              <a:srgbClr val="D97706"/>
            </a:solidFill>
          </a:ln>
        </p:spPr>
        <p:txBody>
          <a:bodyPr wrap="square" lIns="182880" tIns="182880" rIns="182880" bIns="182880" anchor="t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B45309"/>
                </a:solidFill>
                <a:latin typeface="Arial"/>
              </a:rPr>
              <a:t>How to Write a Python Cell</a:t>
            </a:r>
          </a:p>
          <a:p>
            <a:pPr>
              <a:buNone/>
            </a:pPr>
            <a:endParaRPr sz="900"/>
          </a:p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Arial"/>
              </a:rPr>
              <a:t>Step 1</a:t>
            </a:r>
          </a:p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Arial"/>
              </a:rPr>
              <a:t>Select a cell → Formulas tab → click Insert Python</a:t>
            </a:r>
          </a:p>
          <a:p>
            <a:pPr>
              <a:buNone/>
            </a:pPr>
            <a:endParaRPr sz="900"/>
          </a:p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Arial"/>
              </a:rPr>
              <a:t>Step 2</a:t>
            </a:r>
          </a:p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Arial"/>
              </a:rPr>
              <a:t>Type Python code inside =PY( ). Use xl("A1:D10") to reference Excel data.</a:t>
            </a:r>
          </a:p>
          <a:p>
            <a:pPr>
              <a:buNone/>
            </a:pPr>
            <a:endParaRPr sz="900"/>
          </a:p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Arial"/>
              </a:rPr>
              <a:t>Step 3</a:t>
            </a:r>
          </a:p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Arial"/>
              </a:rPr>
              <a:t>Press Ctrl+Enter. Results spill automatically into adjacent cells.</a:t>
            </a:r>
          </a:p>
        </p:txBody>
      </p:sp>
      <p:sp>
        <p:nvSpPr>
          <p:cNvPr id="15" name="NoteBar"/>
          <p:cNvSpPr txBox="1"/>
          <p:nvPr/>
        </p:nvSpPr>
        <p:spPr>
          <a:xfrm>
            <a:off x="311700" y="4570000"/>
            <a:ext cx="8520600" cy="200000"/>
          </a:xfrm>
          <a:prstGeom prst="rect">
            <a:avLst/>
          </a:prstGeom>
          <a:solidFill>
            <a:srgbClr val="F0F4FF"/>
          </a:solidFill>
          <a:ln w="9525">
            <a:solidFill>
              <a:srgbClr val="1E2761"/>
            </a:solidFill>
          </a:ln>
        </p:spPr>
        <p:txBody>
          <a:bodyPr wrap="square" lIns="182880" tIns="45720" rIns="182880" bIns="4572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E2761"/>
                </a:solidFill>
                <a:latin typeface="Arial"/>
              </a:rPr>
              <a:t>💡 Tip: Python output type can be toggled between Python Object and Excel Value using the card icon that appears on the cell after running.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reenBar"/>
          <p:cNvSpPr/>
          <p:nvPr/>
        </p:nvSpPr>
        <p:spPr>
          <a:xfrm>
            <a:off x="311700" y="116515"/>
            <a:ext cx="4601662" cy="219808"/>
          </a:xfrm>
          <a:prstGeom prst="roundRect">
            <a:avLst>
              <a:gd name="adj" fmla="val 16667"/>
            </a:avLst>
          </a:prstGeom>
          <a:solidFill>
            <a:srgbClr val="00B050"/>
          </a:solidFill>
          <a:ln>
            <a:noFill/>
          </a:ln>
        </p:spPr>
        <p:txBody>
          <a:bodyPr wrap="square" anchor="ctr">
            <a:noAutofit/>
          </a:bodyPr>
          <a:lstStyle/>
          <a:p>
            <a:endParaRPr/>
          </a:p>
        </p:txBody>
      </p:sp>
      <p:sp>
        <p:nvSpPr>
          <p:cNvPr id="92" name="BlueBar"/>
          <p:cNvSpPr/>
          <p:nvPr/>
        </p:nvSpPr>
        <p:spPr>
          <a:xfrm>
            <a:off x="4230638" y="4812031"/>
            <a:ext cx="4601662" cy="219808"/>
          </a:xfrm>
          <a:prstGeom prst="roundRect">
            <a:avLst>
              <a:gd name="adj" fmla="val 16667"/>
            </a:avLst>
          </a:prstGeom>
          <a:solidFill>
            <a:srgbClr val="002060"/>
          </a:solidFill>
          <a:ln>
            <a:noFill/>
          </a:ln>
        </p:spPr>
        <p:txBody>
          <a:bodyPr wrap="square" anchor="ctr">
            <a:noAutofit/>
          </a:bodyPr>
          <a:lstStyle/>
          <a:p>
            <a:endParaRPr/>
          </a:p>
        </p:txBody>
      </p:sp>
      <p:pic>
        <p:nvPicPr>
          <p:cNvPr id="2" name="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53880" y="15346"/>
            <a:ext cx="1266825" cy="466725"/>
          </a:xfrm>
          <a:prstGeom prst="rect">
            <a:avLst/>
          </a:prstGeom>
        </p:spPr>
      </p:pic>
      <p:sp>
        <p:nvSpPr>
          <p:cNvPr id="93" name="Copyright"/>
          <p:cNvSpPr txBox="1"/>
          <p:nvPr/>
        </p:nvSpPr>
        <p:spPr>
          <a:xfrm>
            <a:off x="179917" y="4804833"/>
            <a:ext cx="4572000" cy="261665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US" sz="1000" i="1">
                <a:solidFill>
                  <a:srgbClr val="595959"/>
                </a:solidFill>
                <a:latin typeface="Arial"/>
              </a:rPr>
              <a:t>© insanalytics</a:t>
            </a:r>
          </a:p>
        </p:txBody>
      </p:sp>
      <p:sp>
        <p:nvSpPr>
          <p:cNvPr id="88" name="Title"/>
          <p:cNvSpPr txBox="1">
            <a:spLocks noGrp="1"/>
          </p:cNvSpPr>
          <p:nvPr>
            <p:ph type="title"/>
          </p:nvPr>
        </p:nvSpPr>
        <p:spPr>
          <a:xfrm>
            <a:off x="311700" y="48080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US" sz="3000" b="1" dirty="0">
                <a:solidFill>
                  <a:srgbClr val="1E2761"/>
                </a:solidFill>
                <a:latin typeface="Arial Black"/>
              </a:rPr>
              <a:t>Example: Fuel Grade Preference</a:t>
            </a:r>
          </a:p>
        </p:txBody>
      </p:sp>
      <p:sp>
        <p:nvSpPr>
          <p:cNvPr id="10" name="Scenario"/>
          <p:cNvSpPr txBox="1"/>
          <p:nvPr/>
        </p:nvSpPr>
        <p:spPr>
          <a:xfrm>
            <a:off x="311700" y="1169999"/>
            <a:ext cx="3200000" cy="1056369"/>
          </a:xfrm>
          <a:prstGeom prst="roundRect">
            <a:avLst>
              <a:gd name="adj" fmla="val 8000"/>
            </a:avLst>
          </a:prstGeom>
          <a:solidFill>
            <a:srgbClr val="EBF3FB"/>
          </a:solidFill>
          <a:ln w="12700">
            <a:solidFill>
              <a:srgbClr val="1E2761"/>
            </a:solidFill>
          </a:ln>
        </p:spPr>
        <p:txBody>
          <a:bodyPr wrap="square" lIns="182880" tIns="182880" rIns="182880" bIns="182880" anchor="t">
            <a:normAutofit fontScale="85000" lnSpcReduction="20000"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Arial"/>
              </a:rPr>
              <a:t>Scenario</a:t>
            </a:r>
            <a:endParaRPr lang="en-US" sz="1400" b="1" dirty="0">
              <a:solidFill>
                <a:srgbClr val="1E2761"/>
              </a:solidFill>
              <a:latin typeface="Arial"/>
            </a:endParaRPr>
          </a:p>
          <a:p>
            <a:pPr>
              <a:buNone/>
            </a:pPr>
            <a:endParaRPr sz="900" dirty="0"/>
          </a:p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Arial"/>
              </a:rPr>
              <a:t>Predict whether a customer prefers Premium fuel (1) or Regular fuel (0) based on age, monthly income, and km driven per month.</a:t>
            </a:r>
          </a:p>
        </p:txBody>
      </p:sp>
      <p:sp>
        <p:nvSpPr>
          <p:cNvPr id="11" name="SampleData"/>
          <p:cNvSpPr txBox="1"/>
          <p:nvPr/>
        </p:nvSpPr>
        <p:spPr>
          <a:xfrm>
            <a:off x="3671700" y="1170000"/>
            <a:ext cx="4960800" cy="1063566"/>
          </a:xfrm>
          <a:prstGeom prst="roundRect">
            <a:avLst>
              <a:gd name="adj" fmla="val 8000"/>
            </a:avLst>
          </a:prstGeom>
          <a:solidFill>
            <a:srgbClr val="E8F8EF"/>
          </a:solidFill>
          <a:ln w="12700">
            <a:solidFill>
              <a:srgbClr val="00B050"/>
            </a:solidFill>
          </a:ln>
        </p:spPr>
        <p:txBody>
          <a:bodyPr wrap="square" lIns="182880" tIns="182880" rIns="182880" bIns="182880" anchor="t">
            <a:normAutofit fontScale="70000" lnSpcReduction="20000"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00B050"/>
                </a:solidFill>
                <a:latin typeface="Arial"/>
              </a:rPr>
              <a:t>Sample Data in Excel Sheet: "Data"</a:t>
            </a:r>
          </a:p>
          <a:p>
            <a:pPr>
              <a:buNone/>
            </a:pPr>
            <a:endParaRPr sz="900" dirty="0"/>
          </a:p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onsolas"/>
              </a:rPr>
              <a:t>Age   |  Income (INR)  |  KM_Month  |  Prefers_Premium</a:t>
            </a:r>
          </a:p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onsolas"/>
              </a:rPr>
              <a:t> 28   |    45,000      |     800     |        1</a:t>
            </a:r>
          </a:p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onsolas"/>
              </a:rPr>
              <a:t> 52   |    90,000      |    1,500    |        1</a:t>
            </a:r>
          </a:p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onsolas"/>
              </a:rPr>
              <a:t> 34   |    30,000      |     400     |        0</a:t>
            </a:r>
          </a:p>
        </p:txBody>
      </p:sp>
      <p:sp>
        <p:nvSpPr>
          <p:cNvPr id="12" name="Code"/>
          <p:cNvSpPr txBox="1"/>
          <p:nvPr/>
        </p:nvSpPr>
        <p:spPr>
          <a:xfrm>
            <a:off x="311700" y="2322400"/>
            <a:ext cx="5200000" cy="2393600"/>
          </a:xfrm>
          <a:prstGeom prst="roundRect">
            <a:avLst>
              <a:gd name="adj" fmla="val 8000"/>
            </a:avLst>
          </a:prstGeom>
          <a:solidFill>
            <a:srgbClr val="F5F5F5"/>
          </a:solidFill>
          <a:ln w="12700">
            <a:solidFill>
              <a:srgbClr val="1E2761"/>
            </a:solidFill>
          </a:ln>
        </p:spPr>
        <p:txBody>
          <a:bodyPr wrap="square" lIns="182880" tIns="182880" rIns="182880" bIns="182880" anchor="t">
            <a:normAutofit fontScale="77500" lnSpcReduction="20000"/>
          </a:bodyPr>
          <a:lstStyle/>
          <a:p>
            <a:pPr marL="0" indent="0">
              <a:buNone/>
            </a:pPr>
            <a:r>
              <a:rPr lang="en-US" sz="1900" b="1" dirty="0">
                <a:solidFill>
                  <a:srgbClr val="1E2761"/>
                </a:solidFill>
                <a:latin typeface="Arial"/>
              </a:rPr>
              <a:t>Python Code  —  paste into a =PY() cell</a:t>
            </a:r>
          </a:p>
          <a:p>
            <a:pPr>
              <a:buNone/>
            </a:pPr>
            <a:endParaRPr sz="900" dirty="0"/>
          </a:p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onsolas"/>
              </a:rPr>
              <a:t>import pandas as pd</a:t>
            </a:r>
          </a:p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onsolas"/>
              </a:rPr>
              <a:t>from sklearn.linear_model import LogisticRegression</a:t>
            </a:r>
          </a:p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onsolas"/>
              </a:rPr>
              <a:t>from sklearn.metrics import accuracy_score</a:t>
            </a:r>
          </a:p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onsolas"/>
              </a:rPr>
              <a:t>from sklearn.model_selection import train_test_split</a:t>
            </a:r>
          </a:p>
          <a:p>
            <a:pPr>
              <a:buNone/>
            </a:pPr>
            <a:endParaRPr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onsolas"/>
              </a:rPr>
              <a:t>df = xl("Data[#All]", headers=True)</a:t>
            </a:r>
          </a:p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onsolas"/>
              </a:rPr>
              <a:t>X = df[["Age", "Income", "KM_Month"]]</a:t>
            </a:r>
          </a:p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onsolas"/>
              </a:rPr>
              <a:t>y = df["Prefers_Premium"]</a:t>
            </a:r>
          </a:p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onsolas"/>
              </a:rPr>
              <a:t>X_train, X_test, y_train, y_test = train_test_split(X, y, test_size=0.2)</a:t>
            </a:r>
          </a:p>
          <a:p>
            <a:pPr>
              <a:buNone/>
            </a:pPr>
            <a:endParaRPr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onsolas"/>
              </a:rPr>
              <a:t>model = LogisticRegression().fit(X_train, y_train)</a:t>
            </a:r>
          </a:p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onsolas"/>
              </a:rPr>
              <a:t>preds = model.predict(X_test)</a:t>
            </a:r>
          </a:p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onsolas"/>
              </a:rPr>
              <a:t>acc = accuracy_score(y_test, preds)</a:t>
            </a:r>
          </a:p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onsolas"/>
              </a:rPr>
              <a:t>f"Accuracy: {acc:.2%}"</a:t>
            </a:r>
          </a:p>
        </p:txBody>
      </p:sp>
      <p:sp>
        <p:nvSpPr>
          <p:cNvPr id="13" name="Output"/>
          <p:cNvSpPr txBox="1"/>
          <p:nvPr/>
        </p:nvSpPr>
        <p:spPr>
          <a:xfrm>
            <a:off x="5671700" y="2322399"/>
            <a:ext cx="2960800" cy="2393599"/>
          </a:xfrm>
          <a:prstGeom prst="roundRect">
            <a:avLst>
              <a:gd name="adj" fmla="val 8000"/>
            </a:avLst>
          </a:prstGeom>
          <a:solidFill>
            <a:srgbClr val="E8F8EF"/>
          </a:solidFill>
          <a:ln w="12700">
            <a:solidFill>
              <a:srgbClr val="00B050"/>
            </a:solidFill>
          </a:ln>
        </p:spPr>
        <p:txBody>
          <a:bodyPr wrap="square" lIns="182880" tIns="182880" rIns="182880" bIns="182880" anchor="t">
            <a:normAutofit lnSpcReduction="10000"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00B050"/>
                </a:solidFill>
                <a:latin typeface="Arial"/>
              </a:rPr>
              <a:t>Expected Output</a:t>
            </a:r>
          </a:p>
          <a:p>
            <a:pPr>
              <a:buNone/>
            </a:pPr>
            <a:endParaRPr sz="900" dirty="0"/>
          </a:p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Arial"/>
              </a:rPr>
              <a:t>The =PY() cell returns:</a:t>
            </a:r>
          </a:p>
          <a:p>
            <a:pPr>
              <a:buNone/>
            </a:pPr>
            <a:endParaRPr sz="1000" dirty="0"/>
          </a:p>
          <a:p>
            <a:pPr marL="0" indent="0">
              <a:buNone/>
            </a:pPr>
            <a:r>
              <a:rPr lang="en-US" b="1" dirty="0">
                <a:solidFill>
                  <a:srgbClr val="1E2761"/>
                </a:solidFill>
                <a:latin typeface="Arial"/>
              </a:rPr>
              <a:t>• Accuracy: ~88–92%</a:t>
            </a:r>
          </a:p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Arial"/>
              </a:rPr>
              <a:t>• Model object stored in Excel</a:t>
            </a:r>
          </a:p>
          <a:p>
            <a:pPr>
              <a:buNone/>
            </a:pPr>
            <a:endParaRPr sz="1000" dirty="0"/>
          </a:p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Arial"/>
              </a:rPr>
              <a:t>To write predictions back:</a:t>
            </a:r>
          </a:p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Arial"/>
              </a:rPr>
              <a:t>Add a second =PY() cell:</a:t>
            </a:r>
          </a:p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onsolas"/>
              </a:rPr>
              <a:t>xl_model = xl("G2")  # your model cell</a:t>
            </a:r>
          </a:p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onsolas"/>
              </a:rPr>
              <a:t>xl_model.predict(X)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>
          <a:extLst>
            <a:ext uri="{FF2B5EF4-FFF2-40B4-BE49-F238E27FC236}">
              <a16:creationId xmlns:a16="http://schemas.microsoft.com/office/drawing/2014/main" id="{F4DF2214-7B06-D830-FBC0-4B0FE3A4F7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6">
            <a:extLst>
              <a:ext uri="{FF2B5EF4-FFF2-40B4-BE49-F238E27FC236}">
                <a16:creationId xmlns:a16="http://schemas.microsoft.com/office/drawing/2014/main" id="{9CEB1002-A54D-9213-03CA-F2BE11F7518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48080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dirty="0">
                <a:solidFill>
                  <a:schemeClr val="tx1"/>
                </a:solidFill>
                <a:latin typeface="Arial Black"/>
              </a:rPr>
              <a:t>ASSIGNMENT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89" name="Google Shape;89;p6">
            <a:extLst>
              <a:ext uri="{FF2B5EF4-FFF2-40B4-BE49-F238E27FC236}">
                <a16:creationId xmlns:a16="http://schemas.microsoft.com/office/drawing/2014/main" id="{5DF6C79B-8350-E4F7-B092-A666523BD2E5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SzPts val="900"/>
              <a:buNone/>
            </a:pPr>
            <a:endParaRPr sz="900"/>
          </a:p>
        </p:txBody>
      </p:sp>
      <p:sp>
        <p:nvSpPr>
          <p:cNvPr id="90" name="Google Shape;90;p6">
            <a:extLst>
              <a:ext uri="{FF2B5EF4-FFF2-40B4-BE49-F238E27FC236}">
                <a16:creationId xmlns:a16="http://schemas.microsoft.com/office/drawing/2014/main" id="{C5332BC5-6454-956B-EB0A-3357A12C1C2D}"/>
              </a:ext>
            </a:extLst>
          </p:cNvPr>
          <p:cNvSpPr txBox="1"/>
          <p:nvPr/>
        </p:nvSpPr>
        <p:spPr>
          <a:xfrm>
            <a:off x="311699" y="1218211"/>
            <a:ext cx="8520600" cy="34200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</a:pPr>
            <a:endParaRPr/>
          </a:p>
        </p:txBody>
      </p:sp>
      <p:sp>
        <p:nvSpPr>
          <p:cNvPr id="91" name="Google Shape;91;p6">
            <a:extLst>
              <a:ext uri="{FF2B5EF4-FFF2-40B4-BE49-F238E27FC236}">
                <a16:creationId xmlns:a16="http://schemas.microsoft.com/office/drawing/2014/main" id="{E11F1129-21B7-1CF1-AB4C-DCD1BD8B222C}"/>
              </a:ext>
            </a:extLst>
          </p:cNvPr>
          <p:cNvSpPr/>
          <p:nvPr/>
        </p:nvSpPr>
        <p:spPr>
          <a:xfrm>
            <a:off x="311700" y="116515"/>
            <a:ext cx="4601662" cy="219808"/>
          </a:xfrm>
          <a:prstGeom prst="roundRect">
            <a:avLst>
              <a:gd name="adj" fmla="val 16667"/>
            </a:avLst>
          </a:prstGeom>
          <a:solidFill>
            <a:srgbClr val="00B05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" name="Google Shape;92;p6">
            <a:extLst>
              <a:ext uri="{FF2B5EF4-FFF2-40B4-BE49-F238E27FC236}">
                <a16:creationId xmlns:a16="http://schemas.microsoft.com/office/drawing/2014/main" id="{69515B0A-BDE3-3F5F-DB6A-73B700199418}"/>
              </a:ext>
            </a:extLst>
          </p:cNvPr>
          <p:cNvSpPr/>
          <p:nvPr/>
        </p:nvSpPr>
        <p:spPr>
          <a:xfrm>
            <a:off x="4230638" y="4812031"/>
            <a:ext cx="4601662" cy="219808"/>
          </a:xfrm>
          <a:prstGeom prst="roundRect">
            <a:avLst>
              <a:gd name="adj" fmla="val 16667"/>
            </a:avLst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" name="Picture 1" descr="A logo with blue and green text&#10;&#10;AI-generated content may be incorrect.">
            <a:extLst>
              <a:ext uri="{FF2B5EF4-FFF2-40B4-BE49-F238E27FC236}">
                <a16:creationId xmlns:a16="http://schemas.microsoft.com/office/drawing/2014/main" id="{0EB0BF33-263A-7A7B-5579-30FAC6ECB6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53880" y="15346"/>
            <a:ext cx="1266825" cy="46672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4BC7169A-B7F8-BF8C-9BA1-4EE929CB8D93}"/>
              </a:ext>
            </a:extLst>
          </p:cNvPr>
          <p:cNvSpPr txBox="1"/>
          <p:nvPr/>
        </p:nvSpPr>
        <p:spPr>
          <a:xfrm>
            <a:off x="179917" y="4804833"/>
            <a:ext cx="4572000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000" i="1">
                <a:solidFill>
                  <a:srgbClr val="595959"/>
                </a:solidFill>
                <a:latin typeface="Arial"/>
                <a:ea typeface="Arial"/>
                <a:cs typeface="Arial"/>
              </a:rPr>
              <a:t>© insanalytics</a:t>
            </a:r>
            <a:endParaRPr lang="en-US"/>
          </a:p>
          <a:p>
            <a:pPr algn="ctr"/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E116E951-0E23-3974-0B0E-9D9B9DA2BFEE}"/>
              </a:ext>
            </a:extLst>
          </p:cNvPr>
          <p:cNvSpPr/>
          <p:nvPr/>
        </p:nvSpPr>
        <p:spPr>
          <a:xfrm>
            <a:off x="457200" y="1463040"/>
            <a:ext cx="8229600" cy="36576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400" dirty="0">
                <a:solidFill>
                  <a:schemeClr val="accent5">
                    <a:lumMod val="76000"/>
                  </a:schemeClr>
                </a:solidFill>
                <a:latin typeface="Arial"/>
                <a:ea typeface="Arial" pitchFamily="34" charset="-122"/>
                <a:cs typeface="Arial"/>
              </a:rPr>
              <a:t>HPCL Fuel Inventory Management System</a:t>
            </a:r>
            <a:endParaRPr lang="en-US" sz="2400">
              <a:solidFill>
                <a:schemeClr val="accent5">
                  <a:lumMod val="76000"/>
                </a:schemeClr>
              </a:solidFill>
              <a:latin typeface="Arial"/>
              <a:cs typeface="Arial"/>
            </a:endParaRPr>
          </a:p>
        </p:txBody>
      </p:sp>
      <p:pic>
        <p:nvPicPr>
          <p:cNvPr id="5" name="Image 0">
            <a:extLst>
              <a:ext uri="{FF2B5EF4-FFF2-40B4-BE49-F238E27FC236}">
                <a16:creationId xmlns:a16="http://schemas.microsoft.com/office/drawing/2014/main" id="{672A7606-E573-85E0-C443-8B36C3AF0FC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14800" y="2103120"/>
            <a:ext cx="914400" cy="914400"/>
          </a:xfrm>
          <a:prstGeom prst="rect">
            <a:avLst/>
          </a:prstGeom>
        </p:spPr>
      </p:pic>
      <p:sp>
        <p:nvSpPr>
          <p:cNvPr id="6" name="Text 3">
            <a:extLst>
              <a:ext uri="{FF2B5EF4-FFF2-40B4-BE49-F238E27FC236}">
                <a16:creationId xmlns:a16="http://schemas.microsoft.com/office/drawing/2014/main" id="{F660B4CC-1F2F-1ABF-AD77-F8D563B09E02}"/>
              </a:ext>
            </a:extLst>
          </p:cNvPr>
          <p:cNvSpPr/>
          <p:nvPr/>
        </p:nvSpPr>
        <p:spPr>
          <a:xfrm>
            <a:off x="1554480" y="3337560"/>
            <a:ext cx="6035040" cy="27432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600" b="1" dirty="0">
                <a:solidFill>
                  <a:srgbClr val="D32F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Scenario:</a:t>
            </a:r>
            <a:endParaRPr lang="en-US" sz="1600" dirty="0"/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BFA6D2BA-7E16-925E-F618-0862B8098FA6}"/>
              </a:ext>
            </a:extLst>
          </p:cNvPr>
          <p:cNvSpPr/>
          <p:nvPr/>
        </p:nvSpPr>
        <p:spPr>
          <a:xfrm>
            <a:off x="1554480" y="3657600"/>
            <a:ext cx="6035040" cy="86868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are managing a fuel depot for HPCL. You need to track daily fuel stock levels, calculate reorder quantities, and generate alerts when inventory falls below safety thresholds. Create a macro system to automate this process.</a:t>
            </a:r>
            <a:endParaRPr lang="en-US" sz="1300" dirty="0"/>
          </a:p>
        </p:txBody>
      </p:sp>
    </p:spTree>
    <p:extLst>
      <p:ext uri="{BB962C8B-B14F-4D97-AF65-F5344CB8AC3E}">
        <p14:creationId xmlns:p14="http://schemas.microsoft.com/office/powerpoint/2010/main" val="258607030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>
          <a:extLst>
            <a:ext uri="{FF2B5EF4-FFF2-40B4-BE49-F238E27FC236}">
              <a16:creationId xmlns:a16="http://schemas.microsoft.com/office/drawing/2014/main" id="{049F1CF3-4F1C-3F2B-034A-56C5C44CB0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6">
            <a:extLst>
              <a:ext uri="{FF2B5EF4-FFF2-40B4-BE49-F238E27FC236}">
                <a16:creationId xmlns:a16="http://schemas.microsoft.com/office/drawing/2014/main" id="{2A5EB8CB-8371-0940-4F38-3DAE193FDEA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48080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 fontScale="90000"/>
          </a:bodyPr>
          <a:lstStyle/>
          <a:p>
            <a:r>
              <a:rPr lang="en-US" sz="3200" b="1" dirty="0">
                <a:solidFill>
                  <a:srgbClr val="1E2761"/>
                </a:solidFill>
                <a:latin typeface="Arial Black"/>
              </a:rPr>
              <a:t>Assignment: Problem Statement</a:t>
            </a:r>
            <a:endParaRPr lang="en-US" sz="3200" dirty="0">
              <a:latin typeface="Arial Black"/>
            </a:endParaRPr>
          </a:p>
          <a:p>
            <a:pPr marL="0" lv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endParaRPr b="1" dirty="0"/>
          </a:p>
        </p:txBody>
      </p:sp>
      <p:sp>
        <p:nvSpPr>
          <p:cNvPr id="89" name="Google Shape;89;p6">
            <a:extLst>
              <a:ext uri="{FF2B5EF4-FFF2-40B4-BE49-F238E27FC236}">
                <a16:creationId xmlns:a16="http://schemas.microsoft.com/office/drawing/2014/main" id="{7B9BC86A-8053-152A-A42E-AC13373E6FF8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SzPts val="900"/>
              <a:buNone/>
            </a:pPr>
            <a:endParaRPr sz="900"/>
          </a:p>
        </p:txBody>
      </p:sp>
      <p:sp>
        <p:nvSpPr>
          <p:cNvPr id="91" name="Google Shape;91;p6">
            <a:extLst>
              <a:ext uri="{FF2B5EF4-FFF2-40B4-BE49-F238E27FC236}">
                <a16:creationId xmlns:a16="http://schemas.microsoft.com/office/drawing/2014/main" id="{2B65AB81-449E-0383-ADA0-1C6D6C6C6D71}"/>
              </a:ext>
            </a:extLst>
          </p:cNvPr>
          <p:cNvSpPr/>
          <p:nvPr/>
        </p:nvSpPr>
        <p:spPr>
          <a:xfrm>
            <a:off x="311700" y="116515"/>
            <a:ext cx="4601662" cy="219808"/>
          </a:xfrm>
          <a:prstGeom prst="roundRect">
            <a:avLst>
              <a:gd name="adj" fmla="val 16667"/>
            </a:avLst>
          </a:prstGeom>
          <a:solidFill>
            <a:srgbClr val="00B05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" name="Google Shape;92;p6">
            <a:extLst>
              <a:ext uri="{FF2B5EF4-FFF2-40B4-BE49-F238E27FC236}">
                <a16:creationId xmlns:a16="http://schemas.microsoft.com/office/drawing/2014/main" id="{1070E863-05BF-F378-48FB-D193535C288A}"/>
              </a:ext>
            </a:extLst>
          </p:cNvPr>
          <p:cNvSpPr/>
          <p:nvPr/>
        </p:nvSpPr>
        <p:spPr>
          <a:xfrm>
            <a:off x="4230638" y="4812031"/>
            <a:ext cx="4601662" cy="219808"/>
          </a:xfrm>
          <a:prstGeom prst="roundRect">
            <a:avLst>
              <a:gd name="adj" fmla="val 16667"/>
            </a:avLst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" name="Picture 1" descr="A logo with blue and green text&#10;&#10;AI-generated content may be incorrect.">
            <a:extLst>
              <a:ext uri="{FF2B5EF4-FFF2-40B4-BE49-F238E27FC236}">
                <a16:creationId xmlns:a16="http://schemas.microsoft.com/office/drawing/2014/main" id="{9B7432F7-9318-9D6B-555E-38BA7772FF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53880" y="15346"/>
            <a:ext cx="1266825" cy="46672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0DABC99D-3C3A-70C0-7A9A-D121F2DE4892}"/>
              </a:ext>
            </a:extLst>
          </p:cNvPr>
          <p:cNvSpPr txBox="1"/>
          <p:nvPr/>
        </p:nvSpPr>
        <p:spPr>
          <a:xfrm>
            <a:off x="179917" y="4804833"/>
            <a:ext cx="4572000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000" i="1">
                <a:solidFill>
                  <a:srgbClr val="595959"/>
                </a:solidFill>
                <a:latin typeface="Arial"/>
                <a:ea typeface="Arial"/>
                <a:cs typeface="Arial"/>
              </a:rPr>
              <a:t>© insanalytics</a:t>
            </a:r>
            <a:endParaRPr lang="en-US"/>
          </a:p>
          <a:p>
            <a:pPr algn="ctr"/>
            <a:endParaRPr lang="en-US"/>
          </a:p>
        </p:txBody>
      </p:sp>
      <p:pic>
        <p:nvPicPr>
          <p:cNvPr id="3" name="Image 0">
            <a:extLst>
              <a:ext uri="{FF2B5EF4-FFF2-40B4-BE49-F238E27FC236}">
                <a16:creationId xmlns:a16="http://schemas.microsoft.com/office/drawing/2014/main" id="{5D5007CD-A8B6-17C2-6935-D6853C039CA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1097280"/>
            <a:ext cx="457200" cy="457200"/>
          </a:xfrm>
          <a:prstGeom prst="rect">
            <a:avLst/>
          </a:prstGeom>
        </p:spPr>
      </p:pic>
      <p:sp>
        <p:nvSpPr>
          <p:cNvPr id="5" name="Text 1">
            <a:extLst>
              <a:ext uri="{FF2B5EF4-FFF2-40B4-BE49-F238E27FC236}">
                <a16:creationId xmlns:a16="http://schemas.microsoft.com/office/drawing/2014/main" id="{565DAF79-D806-E1B4-F21E-31BF171CB025}"/>
              </a:ext>
            </a:extLst>
          </p:cNvPr>
          <p:cNvSpPr/>
          <p:nvPr/>
        </p:nvSpPr>
        <p:spPr>
          <a:xfrm>
            <a:off x="1188720" y="1188720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600" b="1" dirty="0">
                <a:solidFill>
                  <a:srgbClr val="D32F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HPCL Fuel Depot Inventory System</a:t>
            </a:r>
            <a:endParaRPr lang="en-US" sz="1600" dirty="0"/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295E4626-C203-7A75-CEEC-44714AF0EF7B}"/>
              </a:ext>
            </a:extLst>
          </p:cNvPr>
          <p:cNvSpPr/>
          <p:nvPr/>
        </p:nvSpPr>
        <p:spPr>
          <a:xfrm>
            <a:off x="573195" y="1933787"/>
            <a:ext cx="3872229" cy="211687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Column A: Fuel Type (Petrol/Diesel/Aviation)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Column B: Current Stock (Liters)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Column C: Minimum Stock Level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Column D: Maximum Capacity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Column E: Daily Average Sales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Column F: Unit Price (₹/Liter)</a:t>
            </a:r>
            <a:endParaRPr lang="en-US" sz="1100" dirty="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95E2C49A-FAE4-2B3C-95FC-53564931006C}"/>
              </a:ext>
            </a:extLst>
          </p:cNvPr>
          <p:cNvSpPr/>
          <p:nvPr/>
        </p:nvSpPr>
        <p:spPr>
          <a:xfrm>
            <a:off x="4833832" y="1933788"/>
            <a:ext cx="3393018" cy="2132753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Calculate days until stockout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Determine reorder quantity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Calculate reorder cost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Flag critical low stock (RED)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Flag warning levels (YELLOW)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 Show OK status (GREEN)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 Generate summary report</a:t>
            </a:r>
            <a:endParaRPr lang="en-US" sz="1100" dirty="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70A475D6-69B3-A120-C92D-A612E8F50780}"/>
              </a:ext>
            </a:extLst>
          </p:cNvPr>
          <p:cNvSpPr/>
          <p:nvPr/>
        </p:nvSpPr>
        <p:spPr>
          <a:xfrm>
            <a:off x="4992582" y="2021205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Macro Must:</a:t>
            </a:r>
            <a:endParaRPr lang="en-US" sz="1300" dirty="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EC6A6F3A-B2A2-3FED-54EA-243BACB1F995}"/>
              </a:ext>
            </a:extLst>
          </p:cNvPr>
          <p:cNvSpPr/>
          <p:nvPr/>
        </p:nvSpPr>
        <p:spPr>
          <a:xfrm>
            <a:off x="594360" y="2058247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Given Data (Sheet: 'Inventory'):</a:t>
            </a:r>
            <a:endParaRPr lang="en-US" sz="1300" dirty="0"/>
          </a:p>
        </p:txBody>
      </p:sp>
    </p:spTree>
    <p:extLst>
      <p:ext uri="{BB962C8B-B14F-4D97-AF65-F5344CB8AC3E}">
        <p14:creationId xmlns:p14="http://schemas.microsoft.com/office/powerpoint/2010/main" val="365299696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>
          <a:extLst>
            <a:ext uri="{FF2B5EF4-FFF2-40B4-BE49-F238E27FC236}">
              <a16:creationId xmlns:a16="http://schemas.microsoft.com/office/drawing/2014/main" id="{C0FC8A2C-09DB-0358-EF70-E6BD31E562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6">
            <a:extLst>
              <a:ext uri="{FF2B5EF4-FFF2-40B4-BE49-F238E27FC236}">
                <a16:creationId xmlns:a16="http://schemas.microsoft.com/office/drawing/2014/main" id="{3F1633BC-3F97-DE4A-97D2-CF6A492F092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507263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 fontScale="90000"/>
          </a:bodyPr>
          <a:lstStyle/>
          <a:p>
            <a:r>
              <a:rPr lang="en-US" sz="4000" b="1" dirty="0">
                <a:solidFill>
                  <a:srgbClr val="1E2761"/>
                </a:solidFill>
                <a:latin typeface="Arial Black"/>
              </a:rPr>
              <a:t>Assignment: Sample Data</a:t>
            </a:r>
            <a:endParaRPr lang="en-US" sz="4000" dirty="0">
              <a:latin typeface="Arial Black"/>
            </a:endParaRPr>
          </a:p>
          <a:p>
            <a:pPr>
              <a:lnSpc>
                <a:spcPct val="90000"/>
              </a:lnSpc>
            </a:pPr>
            <a:endParaRPr lang="en-US" b="1" dirty="0"/>
          </a:p>
        </p:txBody>
      </p:sp>
      <p:sp>
        <p:nvSpPr>
          <p:cNvPr id="89" name="Google Shape;89;p6">
            <a:extLst>
              <a:ext uri="{FF2B5EF4-FFF2-40B4-BE49-F238E27FC236}">
                <a16:creationId xmlns:a16="http://schemas.microsoft.com/office/drawing/2014/main" id="{0A8009E7-73B5-74C3-BFF9-1E1BBFB4D08C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SzPts val="900"/>
              <a:buNone/>
            </a:pPr>
            <a:endParaRPr sz="900"/>
          </a:p>
        </p:txBody>
      </p:sp>
      <p:sp>
        <p:nvSpPr>
          <p:cNvPr id="90" name="Google Shape;90;p6">
            <a:extLst>
              <a:ext uri="{FF2B5EF4-FFF2-40B4-BE49-F238E27FC236}">
                <a16:creationId xmlns:a16="http://schemas.microsoft.com/office/drawing/2014/main" id="{4FECCAFB-DEA1-3403-DAA0-0020C0C04FB1}"/>
              </a:ext>
            </a:extLst>
          </p:cNvPr>
          <p:cNvSpPr txBox="1"/>
          <p:nvPr/>
        </p:nvSpPr>
        <p:spPr>
          <a:xfrm>
            <a:off x="311699" y="1218211"/>
            <a:ext cx="8520600" cy="34200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</a:pPr>
            <a:endParaRPr/>
          </a:p>
        </p:txBody>
      </p:sp>
      <p:sp>
        <p:nvSpPr>
          <p:cNvPr id="91" name="Google Shape;91;p6">
            <a:extLst>
              <a:ext uri="{FF2B5EF4-FFF2-40B4-BE49-F238E27FC236}">
                <a16:creationId xmlns:a16="http://schemas.microsoft.com/office/drawing/2014/main" id="{91E359F5-F719-51A9-C382-4A8928920BED}"/>
              </a:ext>
            </a:extLst>
          </p:cNvPr>
          <p:cNvSpPr/>
          <p:nvPr/>
        </p:nvSpPr>
        <p:spPr>
          <a:xfrm>
            <a:off x="311700" y="116515"/>
            <a:ext cx="4601662" cy="219808"/>
          </a:xfrm>
          <a:prstGeom prst="roundRect">
            <a:avLst>
              <a:gd name="adj" fmla="val 16667"/>
            </a:avLst>
          </a:prstGeom>
          <a:solidFill>
            <a:srgbClr val="00B05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" name="Google Shape;92;p6">
            <a:extLst>
              <a:ext uri="{FF2B5EF4-FFF2-40B4-BE49-F238E27FC236}">
                <a16:creationId xmlns:a16="http://schemas.microsoft.com/office/drawing/2014/main" id="{9EE32A2B-2DF5-899D-D055-85E1D90745D0}"/>
              </a:ext>
            </a:extLst>
          </p:cNvPr>
          <p:cNvSpPr/>
          <p:nvPr/>
        </p:nvSpPr>
        <p:spPr>
          <a:xfrm>
            <a:off x="4230638" y="4812031"/>
            <a:ext cx="4601662" cy="219808"/>
          </a:xfrm>
          <a:prstGeom prst="roundRect">
            <a:avLst>
              <a:gd name="adj" fmla="val 16667"/>
            </a:avLst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" name="Picture 1" descr="A logo with blue and green text&#10;&#10;AI-generated content may be incorrect.">
            <a:extLst>
              <a:ext uri="{FF2B5EF4-FFF2-40B4-BE49-F238E27FC236}">
                <a16:creationId xmlns:a16="http://schemas.microsoft.com/office/drawing/2014/main" id="{729884A6-E913-9F71-A68E-6170932A8E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53880" y="15346"/>
            <a:ext cx="1266825" cy="46672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74A5AC0F-A6FB-FB7C-8859-737FA7B887C3}"/>
              </a:ext>
            </a:extLst>
          </p:cNvPr>
          <p:cNvSpPr txBox="1"/>
          <p:nvPr/>
        </p:nvSpPr>
        <p:spPr>
          <a:xfrm>
            <a:off x="179917" y="4804833"/>
            <a:ext cx="4572000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000" i="1">
                <a:solidFill>
                  <a:srgbClr val="595959"/>
                </a:solidFill>
                <a:latin typeface="Arial"/>
                <a:ea typeface="Arial"/>
                <a:cs typeface="Arial"/>
              </a:rPr>
              <a:t>© insanalytics</a:t>
            </a:r>
            <a:endParaRPr lang="en-US"/>
          </a:p>
          <a:p>
            <a:pPr algn="ctr"/>
            <a:endParaRPr lang="en-US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40EB8FC7-B285-7CE7-26BE-3B55B48E29C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69464383"/>
              </p:ext>
            </p:extLst>
          </p:nvPr>
        </p:nvGraphicFramePr>
        <p:xfrm>
          <a:off x="455083" y="1434041"/>
          <a:ext cx="8229600" cy="1938216"/>
        </p:xfrm>
        <a:graphic>
          <a:graphicData uri="http://schemas.openxmlformats.org/drawingml/2006/table">
            <a:tbl>
              <a:tblPr firstRow="1" bandRow="1">
                <a:tableStyleId>{08A1B857-8DE8-4F13-9AAE-FEED5DC71FBA}</a:tableStyleId>
              </a:tblPr>
              <a:tblGrid>
                <a:gridCol w="1371600">
                  <a:extLst>
                    <a:ext uri="{9D8B030D-6E8A-4147-A177-3AD203B41FA5}">
                      <a16:colId xmlns:a16="http://schemas.microsoft.com/office/drawing/2014/main" val="2471409066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165496003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3243542353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1317629973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4123107386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545320424"/>
                    </a:ext>
                  </a:extLst>
                </a:gridCol>
              </a:tblGrid>
              <a:tr h="865572">
                <a:tc>
                  <a:txBody>
                    <a:bodyPr/>
                    <a:lstStyle/>
                    <a:p>
                      <a:pPr algn="ctr" fontAlgn="base">
                        <a:lnSpc>
                          <a:spcPts val="1350"/>
                        </a:lnSpc>
                        <a:buNone/>
                      </a:pPr>
                      <a:r>
                        <a:rPr lang="en-US" sz="1100" b="1" i="0" dirty="0">
                          <a:solidFill>
                            <a:srgbClr val="FFFFFF"/>
                          </a:solidFill>
                          <a:effectLst/>
                          <a:latin typeface="Arial"/>
                        </a:rPr>
                        <a:t>Fuel Type</a:t>
                      </a:r>
                      <a:endParaRPr lang="en-US" b="0" i="0" dirty="0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</a:txBody>
                  <a:tcPr anchor="ctr">
                    <a:lnL w="10897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897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897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897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32F2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1350"/>
                        </a:lnSpc>
                        <a:buNone/>
                      </a:pPr>
                      <a:r>
                        <a:rPr lang="en-US" sz="1100" b="1" i="0" dirty="0">
                          <a:solidFill>
                            <a:srgbClr val="FFFFFF"/>
                          </a:solidFill>
                          <a:effectLst/>
                          <a:latin typeface="Arial"/>
                        </a:rPr>
                        <a:t>Current Stock</a:t>
                      </a:r>
                      <a:endParaRPr lang="en-US" b="0" i="0" dirty="0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</a:txBody>
                  <a:tcPr anchor="ctr">
                    <a:lnL w="10897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897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897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897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32F2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1350"/>
                        </a:lnSpc>
                        <a:buNone/>
                      </a:pPr>
                      <a:r>
                        <a:rPr lang="en-US" sz="1100" b="1" i="0" dirty="0">
                          <a:solidFill>
                            <a:srgbClr val="FFFFFF"/>
                          </a:solidFill>
                          <a:effectLst/>
                          <a:latin typeface="Arial"/>
                        </a:rPr>
                        <a:t>Min Level</a:t>
                      </a:r>
                      <a:endParaRPr lang="en-US" b="0" i="0" dirty="0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</a:txBody>
                  <a:tcPr anchor="ctr">
                    <a:lnL w="10897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897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897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897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32F2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1350"/>
                        </a:lnSpc>
                        <a:buNone/>
                      </a:pPr>
                      <a:r>
                        <a:rPr lang="en-US" sz="1100" b="1" i="0" dirty="0">
                          <a:solidFill>
                            <a:srgbClr val="FFFFFF"/>
                          </a:solidFill>
                          <a:effectLst/>
                          <a:latin typeface="Arial"/>
                        </a:rPr>
                        <a:t>Max Capacity</a:t>
                      </a:r>
                      <a:endParaRPr lang="en-US" b="0" i="0" dirty="0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</a:txBody>
                  <a:tcPr anchor="ctr">
                    <a:lnL w="10897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897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897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897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32F2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1350"/>
                        </a:lnSpc>
                        <a:buNone/>
                      </a:pPr>
                      <a:r>
                        <a:rPr lang="en-US" sz="1100" b="1" i="0" dirty="0">
                          <a:solidFill>
                            <a:srgbClr val="FFFFFF"/>
                          </a:solidFill>
                          <a:effectLst/>
                          <a:latin typeface="Arial"/>
                        </a:rPr>
                        <a:t>Daily Sales</a:t>
                      </a:r>
                      <a:endParaRPr lang="en-US" b="0" i="0" dirty="0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</a:txBody>
                  <a:tcPr anchor="ctr">
                    <a:lnL w="10897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897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897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897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32F2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1350"/>
                        </a:lnSpc>
                        <a:buNone/>
                      </a:pPr>
                      <a:r>
                        <a:rPr lang="en-US" sz="1100" b="1" i="0" dirty="0">
                          <a:solidFill>
                            <a:srgbClr val="FFFFFF"/>
                          </a:solidFill>
                          <a:effectLst/>
                          <a:latin typeface="Arial"/>
                        </a:rPr>
                        <a:t>Price (₹/L)</a:t>
                      </a:r>
                      <a:endParaRPr lang="en-US" b="0" i="0" dirty="0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</a:txBody>
                  <a:tcPr anchor="ctr">
                    <a:lnL w="10897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897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897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897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32F2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3023095"/>
                  </a:ext>
                </a:extLst>
              </a:tr>
              <a:tr h="268161">
                <a:tc>
                  <a:txBody>
                    <a:bodyPr/>
                    <a:lstStyle/>
                    <a:p>
                      <a:pPr algn="ctr" fontAlgn="base">
                        <a:lnSpc>
                          <a:spcPts val="1350"/>
                        </a:lnSpc>
                        <a:buNone/>
                      </a:pPr>
                      <a:r>
                        <a:rPr lang="en-US" sz="1100" b="0" i="0" dirty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Petrol</a:t>
                      </a:r>
                      <a:endParaRPr lang="en-US" b="0" i="0" dirty="0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</a:txBody>
                  <a:tcPr anchor="ctr">
                    <a:lnL w="10897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897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897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897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1350"/>
                        </a:lnSpc>
                        <a:buNone/>
                      </a:pPr>
                      <a:r>
                        <a:rPr lang="en-US" sz="1100" b="0" i="0" dirty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25,000</a:t>
                      </a:r>
                      <a:endParaRPr lang="en-US" b="0" i="0" dirty="0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</a:txBody>
                  <a:tcPr anchor="ctr">
                    <a:lnL w="10897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897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897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897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1350"/>
                        </a:lnSpc>
                        <a:buNone/>
                      </a:pPr>
                      <a:r>
                        <a:rPr lang="en-US" sz="1100" b="0" i="0" dirty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50,000</a:t>
                      </a:r>
                      <a:endParaRPr lang="en-US" b="0" i="0" dirty="0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</a:txBody>
                  <a:tcPr anchor="ctr">
                    <a:lnL w="10897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897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897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897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1350"/>
                        </a:lnSpc>
                        <a:buNone/>
                      </a:pPr>
                      <a:r>
                        <a:rPr lang="en-US" sz="1100" b="0" i="0" dirty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200,000</a:t>
                      </a:r>
                      <a:endParaRPr lang="en-US" b="0" i="0" dirty="0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</a:txBody>
                  <a:tcPr anchor="ctr">
                    <a:lnL w="10897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897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897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897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1350"/>
                        </a:lnSpc>
                        <a:buNone/>
                      </a:pPr>
                      <a:r>
                        <a:rPr lang="en-US" sz="1100" b="0" i="0" dirty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8,500</a:t>
                      </a:r>
                      <a:endParaRPr lang="en-US" b="0" i="0" dirty="0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</a:txBody>
                  <a:tcPr anchor="ctr">
                    <a:lnL w="10897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897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897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897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1350"/>
                        </a:lnSpc>
                        <a:buNone/>
                      </a:pPr>
                      <a:r>
                        <a:rPr lang="en-US" sz="1100" b="0" i="0" dirty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102.50</a:t>
                      </a:r>
                      <a:endParaRPr lang="en-US" b="0" i="0" dirty="0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</a:txBody>
                  <a:tcPr anchor="ctr">
                    <a:lnL w="10897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897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897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897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94466464"/>
                  </a:ext>
                </a:extLst>
              </a:tr>
              <a:tr h="268161">
                <a:tc>
                  <a:txBody>
                    <a:bodyPr/>
                    <a:lstStyle/>
                    <a:p>
                      <a:pPr algn="ctr" fontAlgn="base">
                        <a:lnSpc>
                          <a:spcPts val="1350"/>
                        </a:lnSpc>
                        <a:buNone/>
                      </a:pPr>
                      <a:r>
                        <a:rPr lang="en-US" sz="1100" b="0" i="0" dirty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Diesel</a:t>
                      </a:r>
                      <a:endParaRPr lang="en-US" b="0" i="0" dirty="0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</a:txBody>
                  <a:tcPr anchor="ctr">
                    <a:lnL w="10897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897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897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897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1350"/>
                        </a:lnSpc>
                        <a:buNone/>
                      </a:pPr>
                      <a:r>
                        <a:rPr lang="en-US" sz="1100" b="0" i="0" dirty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85,000</a:t>
                      </a:r>
                      <a:endParaRPr lang="en-US" b="0" i="0" dirty="0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</a:txBody>
                  <a:tcPr anchor="ctr">
                    <a:lnL w="10897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897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897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897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1350"/>
                        </a:lnSpc>
                        <a:buNone/>
                      </a:pPr>
                      <a:r>
                        <a:rPr lang="en-US" sz="1100" b="0" i="0" dirty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60,000</a:t>
                      </a:r>
                      <a:endParaRPr lang="en-US" b="0" i="0" dirty="0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</a:txBody>
                  <a:tcPr anchor="ctr">
                    <a:lnL w="10897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897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897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897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1350"/>
                        </a:lnSpc>
                        <a:buNone/>
                      </a:pPr>
                      <a:r>
                        <a:rPr lang="en-US" sz="1100" b="0" i="0" dirty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250,000</a:t>
                      </a:r>
                      <a:endParaRPr lang="en-US" b="0" i="0" dirty="0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</a:txBody>
                  <a:tcPr anchor="ctr">
                    <a:lnL w="10897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897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897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897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1350"/>
                        </a:lnSpc>
                        <a:buNone/>
                      </a:pPr>
                      <a:r>
                        <a:rPr lang="en-US" sz="1100" b="0" i="0" dirty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12,000</a:t>
                      </a:r>
                      <a:endParaRPr lang="en-US" b="0" i="0" dirty="0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</a:txBody>
                  <a:tcPr anchor="ctr">
                    <a:lnL w="10897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897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897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897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1350"/>
                        </a:lnSpc>
                        <a:buNone/>
                      </a:pPr>
                      <a:r>
                        <a:rPr lang="en-US" sz="1100" b="0" i="0" dirty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89.75</a:t>
                      </a:r>
                      <a:endParaRPr lang="en-US" b="0" i="0" dirty="0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</a:txBody>
                  <a:tcPr anchor="ctr">
                    <a:lnL w="10897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897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897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897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11463834"/>
                  </a:ext>
                </a:extLst>
              </a:tr>
              <a:tr h="268161">
                <a:tc>
                  <a:txBody>
                    <a:bodyPr/>
                    <a:lstStyle/>
                    <a:p>
                      <a:pPr algn="ctr" fontAlgn="base">
                        <a:lnSpc>
                          <a:spcPts val="1350"/>
                        </a:lnSpc>
                        <a:buNone/>
                      </a:pPr>
                      <a:r>
                        <a:rPr lang="en-US" sz="1100" b="0" i="0" dirty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Aviation Fuel</a:t>
                      </a:r>
                      <a:endParaRPr lang="en-US" b="0" i="0" dirty="0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</a:txBody>
                  <a:tcPr anchor="ctr">
                    <a:lnL w="10897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897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897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897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1350"/>
                        </a:lnSpc>
                        <a:buNone/>
                      </a:pPr>
                      <a:r>
                        <a:rPr lang="en-US" sz="1100" b="0" i="0" dirty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15,000</a:t>
                      </a:r>
                      <a:endParaRPr lang="en-US" b="0" i="0" dirty="0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</a:txBody>
                  <a:tcPr anchor="ctr">
                    <a:lnL w="10897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897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897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897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1350"/>
                        </a:lnSpc>
                        <a:buNone/>
                      </a:pPr>
                      <a:r>
                        <a:rPr lang="en-US" sz="1100" b="0" i="0" dirty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20,000</a:t>
                      </a:r>
                      <a:endParaRPr lang="en-US" b="0" i="0" dirty="0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</a:txBody>
                  <a:tcPr anchor="ctr">
                    <a:lnL w="10897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897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897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897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1350"/>
                        </a:lnSpc>
                        <a:buNone/>
                      </a:pPr>
                      <a:r>
                        <a:rPr lang="en-US" sz="1100" b="0" i="0" dirty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100,000</a:t>
                      </a:r>
                      <a:endParaRPr lang="en-US" b="0" i="0" dirty="0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</a:txBody>
                  <a:tcPr anchor="ctr">
                    <a:lnL w="10897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897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897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897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1350"/>
                        </a:lnSpc>
                        <a:buNone/>
                      </a:pPr>
                      <a:r>
                        <a:rPr lang="en-US" sz="1100" b="0" i="0" dirty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3,200</a:t>
                      </a:r>
                      <a:endParaRPr lang="en-US" b="0" i="0" dirty="0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</a:txBody>
                  <a:tcPr anchor="ctr">
                    <a:lnL w="10897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897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897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897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1350"/>
                        </a:lnSpc>
                        <a:buNone/>
                      </a:pPr>
                      <a:r>
                        <a:rPr lang="en-US" sz="1100" b="0" i="0" dirty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125.00</a:t>
                      </a:r>
                      <a:endParaRPr lang="en-US" b="0" i="0" dirty="0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</a:txBody>
                  <a:tcPr anchor="ctr">
                    <a:lnL w="10897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897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897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897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20893469"/>
                  </a:ext>
                </a:extLst>
              </a:tr>
              <a:tr h="268161">
                <a:tc>
                  <a:txBody>
                    <a:bodyPr/>
                    <a:lstStyle/>
                    <a:p>
                      <a:pPr algn="ctr" fontAlgn="base">
                        <a:lnSpc>
                          <a:spcPts val="1350"/>
                        </a:lnSpc>
                        <a:buNone/>
                      </a:pPr>
                      <a:r>
                        <a:rPr lang="en-US" sz="1100" b="0" i="0" dirty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Premium Petrol</a:t>
                      </a:r>
                      <a:endParaRPr lang="en-US" b="0" i="0" dirty="0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</a:txBody>
                  <a:tcPr anchor="ctr">
                    <a:lnL w="10897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897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897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897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1350"/>
                        </a:lnSpc>
                        <a:buNone/>
                      </a:pPr>
                      <a:r>
                        <a:rPr lang="en-US" sz="1100" b="0" i="0" dirty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8,000</a:t>
                      </a:r>
                      <a:endParaRPr lang="en-US" b="0" i="0" dirty="0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</a:txBody>
                  <a:tcPr anchor="ctr">
                    <a:lnL w="10897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897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897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897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1350"/>
                        </a:lnSpc>
                        <a:buNone/>
                      </a:pPr>
                      <a:r>
                        <a:rPr lang="en-US" sz="1100" b="0" i="0" dirty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15,000</a:t>
                      </a:r>
                      <a:endParaRPr lang="en-US" b="0" i="0" dirty="0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</a:txBody>
                  <a:tcPr anchor="ctr">
                    <a:lnL w="10897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897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897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897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1350"/>
                        </a:lnSpc>
                        <a:buNone/>
                      </a:pPr>
                      <a:r>
                        <a:rPr lang="en-US" sz="1100" b="0" i="0" dirty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80,000</a:t>
                      </a:r>
                      <a:endParaRPr lang="en-US" b="0" i="0" dirty="0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</a:txBody>
                  <a:tcPr anchor="ctr">
                    <a:lnL w="10897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897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897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897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1350"/>
                        </a:lnSpc>
                        <a:buNone/>
                      </a:pPr>
                      <a:r>
                        <a:rPr lang="en-US" sz="1100" b="0" i="0" dirty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2,100</a:t>
                      </a:r>
                      <a:endParaRPr lang="en-US" b="0" i="0" dirty="0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</a:txBody>
                  <a:tcPr anchor="ctr">
                    <a:lnL w="10897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897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897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897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1350"/>
                        </a:lnSpc>
                        <a:buNone/>
                      </a:pPr>
                      <a:r>
                        <a:rPr lang="en-US" sz="1100" b="0" i="0" dirty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108.25</a:t>
                      </a:r>
                      <a:endParaRPr lang="en-US" b="0" i="0" dirty="0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</a:txBody>
                  <a:tcPr anchor="ctr">
                    <a:lnL w="10897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897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897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897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51461644"/>
                  </a:ext>
                </a:extLst>
              </a:tr>
            </a:tbl>
          </a:graphicData>
        </a:graphic>
      </p:graphicFrame>
      <p:sp>
        <p:nvSpPr>
          <p:cNvPr id="7" name="Text 2">
            <a:extLst>
              <a:ext uri="{FF2B5EF4-FFF2-40B4-BE49-F238E27FC236}">
                <a16:creationId xmlns:a16="http://schemas.microsoft.com/office/drawing/2014/main" id="{B4B57D64-215E-155E-98AC-0797A7EADB11}"/>
              </a:ext>
            </a:extLst>
          </p:cNvPr>
          <p:cNvSpPr/>
          <p:nvPr/>
        </p:nvSpPr>
        <p:spPr>
          <a:xfrm>
            <a:off x="515408" y="3565525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Expected Outputs (Columns G-J):</a:t>
            </a:r>
            <a:endParaRPr lang="en-US" sz="1400" dirty="0"/>
          </a:p>
        </p:txBody>
      </p:sp>
      <p:sp>
        <p:nvSpPr>
          <p:cNvPr id="8" name="Text 4">
            <a:extLst>
              <a:ext uri="{FF2B5EF4-FFF2-40B4-BE49-F238E27FC236}">
                <a16:creationId xmlns:a16="http://schemas.microsoft.com/office/drawing/2014/main" id="{AAB544DC-8B4C-654C-1522-0973848F8D0E}"/>
              </a:ext>
            </a:extLst>
          </p:cNvPr>
          <p:cNvSpPr/>
          <p:nvPr/>
        </p:nvSpPr>
        <p:spPr>
          <a:xfrm>
            <a:off x="594360" y="3703320"/>
            <a:ext cx="7955280" cy="100584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Column G: Days Until Stockout = Current Stock ÷ Daily Sales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Column H: Reorder Quantity = Max Capacity - Current Stock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Column I: Reorder Cost = Reorder Quantity × Price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Column J: Status = CRITICAL (red) if below min, WARNING (yellow) if &lt;10 days, OK (green)</a:t>
            </a:r>
            <a:endParaRPr lang="en-US" sz="1100" dirty="0"/>
          </a:p>
        </p:txBody>
      </p:sp>
      <p:sp>
        <p:nvSpPr>
          <p:cNvPr id="9" name="Text 1">
            <a:extLst>
              <a:ext uri="{FF2B5EF4-FFF2-40B4-BE49-F238E27FC236}">
                <a16:creationId xmlns:a16="http://schemas.microsoft.com/office/drawing/2014/main" id="{4F9A00EA-5A39-33EB-9778-950B23C2412A}"/>
              </a:ext>
            </a:extLst>
          </p:cNvPr>
          <p:cNvSpPr/>
          <p:nvPr/>
        </p:nvSpPr>
        <p:spPr>
          <a:xfrm>
            <a:off x="457200" y="96012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3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this data to test your macro:</a:t>
            </a:r>
            <a:endParaRPr lang="en-US" sz="1300" dirty="0"/>
          </a:p>
        </p:txBody>
      </p:sp>
    </p:spTree>
    <p:extLst>
      <p:ext uri="{BB962C8B-B14F-4D97-AF65-F5344CB8AC3E}">
        <p14:creationId xmlns:p14="http://schemas.microsoft.com/office/powerpoint/2010/main" val="371798629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>
          <a:extLst>
            <a:ext uri="{FF2B5EF4-FFF2-40B4-BE49-F238E27FC236}">
              <a16:creationId xmlns:a16="http://schemas.microsoft.com/office/drawing/2014/main" id="{28B2AAF1-7149-650C-3A9E-E2CE49180C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6">
            <a:extLst>
              <a:ext uri="{FF2B5EF4-FFF2-40B4-BE49-F238E27FC236}">
                <a16:creationId xmlns:a16="http://schemas.microsoft.com/office/drawing/2014/main" id="{4F6D7E71-179E-EC5A-E4D4-F871B78CE23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48080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r>
              <a:rPr lang="en-US" sz="2400" b="1" dirty="0">
                <a:solidFill>
                  <a:srgbClr val="1E2761"/>
                </a:solidFill>
                <a:latin typeface="Arial Black"/>
              </a:rPr>
              <a:t>Assignment: Solution Code</a:t>
            </a:r>
            <a:endParaRPr lang="en-US" sz="2400" dirty="0">
              <a:latin typeface="Arial Black"/>
            </a:endParaRPr>
          </a:p>
          <a:p>
            <a:pPr marL="0" lv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endParaRPr b="1" dirty="0"/>
          </a:p>
        </p:txBody>
      </p:sp>
      <p:sp>
        <p:nvSpPr>
          <p:cNvPr id="89" name="Google Shape;89;p6">
            <a:extLst>
              <a:ext uri="{FF2B5EF4-FFF2-40B4-BE49-F238E27FC236}">
                <a16:creationId xmlns:a16="http://schemas.microsoft.com/office/drawing/2014/main" id="{08A410E4-9834-4E39-48EC-FE304E0DB0F8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SzPts val="900"/>
              <a:buNone/>
            </a:pPr>
            <a:endParaRPr sz="900"/>
          </a:p>
        </p:txBody>
      </p:sp>
      <p:sp>
        <p:nvSpPr>
          <p:cNvPr id="91" name="Google Shape;91;p6">
            <a:extLst>
              <a:ext uri="{FF2B5EF4-FFF2-40B4-BE49-F238E27FC236}">
                <a16:creationId xmlns:a16="http://schemas.microsoft.com/office/drawing/2014/main" id="{54839A31-4556-9544-4A4C-DACC062FD194}"/>
              </a:ext>
            </a:extLst>
          </p:cNvPr>
          <p:cNvSpPr/>
          <p:nvPr/>
        </p:nvSpPr>
        <p:spPr>
          <a:xfrm>
            <a:off x="311700" y="116515"/>
            <a:ext cx="4601662" cy="219808"/>
          </a:xfrm>
          <a:prstGeom prst="roundRect">
            <a:avLst>
              <a:gd name="adj" fmla="val 16667"/>
            </a:avLst>
          </a:prstGeom>
          <a:solidFill>
            <a:srgbClr val="00B05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" name="Google Shape;92;p6">
            <a:extLst>
              <a:ext uri="{FF2B5EF4-FFF2-40B4-BE49-F238E27FC236}">
                <a16:creationId xmlns:a16="http://schemas.microsoft.com/office/drawing/2014/main" id="{A55FFC16-C32C-0BD6-CEB7-9CE76DE8D53D}"/>
              </a:ext>
            </a:extLst>
          </p:cNvPr>
          <p:cNvSpPr/>
          <p:nvPr/>
        </p:nvSpPr>
        <p:spPr>
          <a:xfrm>
            <a:off x="4230638" y="4812031"/>
            <a:ext cx="4601662" cy="219808"/>
          </a:xfrm>
          <a:prstGeom prst="roundRect">
            <a:avLst>
              <a:gd name="adj" fmla="val 16667"/>
            </a:avLst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" name="Picture 1" descr="A logo with blue and green text&#10;&#10;AI-generated content may be incorrect.">
            <a:extLst>
              <a:ext uri="{FF2B5EF4-FFF2-40B4-BE49-F238E27FC236}">
                <a16:creationId xmlns:a16="http://schemas.microsoft.com/office/drawing/2014/main" id="{9A13EF44-2CFB-E671-D2D7-C8DFFD1AB4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53880" y="15346"/>
            <a:ext cx="1266825" cy="46672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45BAAE11-DC0F-2C4D-4B00-8D2D2128424B}"/>
              </a:ext>
            </a:extLst>
          </p:cNvPr>
          <p:cNvSpPr txBox="1"/>
          <p:nvPr/>
        </p:nvSpPr>
        <p:spPr>
          <a:xfrm>
            <a:off x="179917" y="4804833"/>
            <a:ext cx="4572000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000" i="1">
                <a:solidFill>
                  <a:srgbClr val="595959"/>
                </a:solidFill>
                <a:latin typeface="Arial"/>
                <a:ea typeface="Arial"/>
                <a:cs typeface="Arial"/>
              </a:rPr>
              <a:t>© insanalytics</a:t>
            </a:r>
            <a:endParaRPr lang="en-US"/>
          </a:p>
          <a:p>
            <a:pPr algn="ctr"/>
            <a:endParaRPr lang="en-US"/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8B963F05-C84B-74AE-BD38-EBE8ABAC8A2F}"/>
              </a:ext>
            </a:extLst>
          </p:cNvPr>
          <p:cNvSpPr/>
          <p:nvPr/>
        </p:nvSpPr>
        <p:spPr>
          <a:xfrm>
            <a:off x="594360" y="1115568"/>
            <a:ext cx="7955280" cy="356616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800" dirty="0">
              <a:solidFill>
                <a:srgbClr val="1E293B"/>
              </a:solidFill>
              <a:latin typeface="Consolas"/>
            </a:endParaRPr>
          </a:p>
        </p:txBody>
      </p:sp>
      <p:sp>
        <p:nvSpPr>
          <p:cNvPr id="6" name="TextBox 4">
            <a:extLst>
              <a:ext uri="{FF2B5EF4-FFF2-40B4-BE49-F238E27FC236}">
                <a16:creationId xmlns:a16="http://schemas.microsoft.com/office/drawing/2014/main" id="{1E01D8BE-C18D-63A2-7A9C-692BAD8822BA}"/>
              </a:ext>
            </a:extLst>
          </p:cNvPr>
          <p:cNvSpPr txBox="1"/>
          <p:nvPr/>
        </p:nvSpPr>
        <p:spPr>
          <a:xfrm>
            <a:off x="454980" y="800531"/>
            <a:ext cx="3662039" cy="386259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700" dirty="0">
                <a:ea typeface="+mn-lt"/>
                <a:cs typeface="+mn-lt"/>
              </a:rPr>
              <a:t>Sub </a:t>
            </a:r>
            <a:r>
              <a:rPr lang="en-US" sz="700" err="1">
                <a:ea typeface="+mn-lt"/>
                <a:cs typeface="+mn-lt"/>
              </a:rPr>
              <a:t>HPCLFuelInventorySystem</a:t>
            </a:r>
            <a:r>
              <a:rPr lang="en-US" sz="700" dirty="0">
                <a:ea typeface="+mn-lt"/>
                <a:cs typeface="+mn-lt"/>
              </a:rPr>
              <a:t>()</a:t>
            </a:r>
          </a:p>
          <a:p>
            <a:r>
              <a:rPr lang="en-US" sz="700" dirty="0">
                <a:ea typeface="+mn-lt"/>
                <a:cs typeface="+mn-lt"/>
              </a:rPr>
              <a:t>    Dim </a:t>
            </a:r>
            <a:r>
              <a:rPr lang="en-US" sz="700" err="1">
                <a:ea typeface="+mn-lt"/>
                <a:cs typeface="+mn-lt"/>
              </a:rPr>
              <a:t>lastRow</a:t>
            </a:r>
            <a:r>
              <a:rPr lang="en-US" sz="700" dirty="0">
                <a:ea typeface="+mn-lt"/>
                <a:cs typeface="+mn-lt"/>
              </a:rPr>
              <a:t> As Long, </a:t>
            </a:r>
            <a:r>
              <a:rPr lang="en-US" sz="700" err="1">
                <a:ea typeface="+mn-lt"/>
                <a:cs typeface="+mn-lt"/>
              </a:rPr>
              <a:t>i</a:t>
            </a:r>
            <a:r>
              <a:rPr lang="en-US" sz="700" dirty="0">
                <a:ea typeface="+mn-lt"/>
                <a:cs typeface="+mn-lt"/>
              </a:rPr>
              <a:t> As Long</a:t>
            </a:r>
          </a:p>
          <a:p>
            <a:r>
              <a:rPr lang="en-US" sz="700" dirty="0">
                <a:ea typeface="+mn-lt"/>
                <a:cs typeface="+mn-lt"/>
              </a:rPr>
              <a:t>    Dim </a:t>
            </a:r>
            <a:r>
              <a:rPr lang="en-US" sz="700" err="1">
                <a:ea typeface="+mn-lt"/>
                <a:cs typeface="+mn-lt"/>
              </a:rPr>
              <a:t>currentStock</a:t>
            </a:r>
            <a:r>
              <a:rPr lang="en-US" sz="700" dirty="0">
                <a:ea typeface="+mn-lt"/>
                <a:cs typeface="+mn-lt"/>
              </a:rPr>
              <a:t> As Double, </a:t>
            </a:r>
            <a:r>
              <a:rPr lang="en-US" sz="700" err="1">
                <a:ea typeface="+mn-lt"/>
                <a:cs typeface="+mn-lt"/>
              </a:rPr>
              <a:t>minLevel</a:t>
            </a:r>
            <a:r>
              <a:rPr lang="en-US" sz="700" dirty="0">
                <a:ea typeface="+mn-lt"/>
                <a:cs typeface="+mn-lt"/>
              </a:rPr>
              <a:t> As Double, </a:t>
            </a:r>
            <a:r>
              <a:rPr lang="en-US" sz="700" err="1">
                <a:ea typeface="+mn-lt"/>
                <a:cs typeface="+mn-lt"/>
              </a:rPr>
              <a:t>maxCapacity</a:t>
            </a:r>
            <a:r>
              <a:rPr lang="en-US" sz="700" dirty="0">
                <a:ea typeface="+mn-lt"/>
                <a:cs typeface="+mn-lt"/>
              </a:rPr>
              <a:t> As Double</a:t>
            </a:r>
          </a:p>
          <a:p>
            <a:r>
              <a:rPr lang="en-US" sz="700" dirty="0">
                <a:ea typeface="+mn-lt"/>
                <a:cs typeface="+mn-lt"/>
              </a:rPr>
              <a:t>    Dim </a:t>
            </a:r>
            <a:r>
              <a:rPr lang="en-US" sz="700" err="1">
                <a:ea typeface="+mn-lt"/>
                <a:cs typeface="+mn-lt"/>
              </a:rPr>
              <a:t>dailySales</a:t>
            </a:r>
            <a:r>
              <a:rPr lang="en-US" sz="700" dirty="0">
                <a:ea typeface="+mn-lt"/>
                <a:cs typeface="+mn-lt"/>
              </a:rPr>
              <a:t> As Double, price As Double</a:t>
            </a:r>
          </a:p>
          <a:p>
            <a:r>
              <a:rPr lang="en-US" sz="700" dirty="0">
                <a:ea typeface="+mn-lt"/>
                <a:cs typeface="+mn-lt"/>
              </a:rPr>
              <a:t>    Dim </a:t>
            </a:r>
            <a:r>
              <a:rPr lang="en-US" sz="700" err="1">
                <a:ea typeface="+mn-lt"/>
                <a:cs typeface="+mn-lt"/>
              </a:rPr>
              <a:t>daysUntilStockout</a:t>
            </a:r>
            <a:r>
              <a:rPr lang="en-US" sz="700" dirty="0">
                <a:ea typeface="+mn-lt"/>
                <a:cs typeface="+mn-lt"/>
              </a:rPr>
              <a:t> As Double, </a:t>
            </a:r>
            <a:r>
              <a:rPr lang="en-US" sz="700" err="1">
                <a:ea typeface="+mn-lt"/>
                <a:cs typeface="+mn-lt"/>
              </a:rPr>
              <a:t>reorderQty</a:t>
            </a:r>
            <a:r>
              <a:rPr lang="en-US" sz="700" dirty="0">
                <a:ea typeface="+mn-lt"/>
                <a:cs typeface="+mn-lt"/>
              </a:rPr>
              <a:t> As Double, </a:t>
            </a:r>
            <a:r>
              <a:rPr lang="en-US" sz="700" err="1">
                <a:ea typeface="+mn-lt"/>
                <a:cs typeface="+mn-lt"/>
              </a:rPr>
              <a:t>reorderCost</a:t>
            </a:r>
            <a:r>
              <a:rPr lang="en-US" sz="700" dirty="0">
                <a:ea typeface="+mn-lt"/>
                <a:cs typeface="+mn-lt"/>
              </a:rPr>
              <a:t> As Double</a:t>
            </a:r>
          </a:p>
          <a:p>
            <a:r>
              <a:rPr lang="en-US" sz="700" dirty="0">
                <a:ea typeface="+mn-lt"/>
                <a:cs typeface="+mn-lt"/>
              </a:rPr>
              <a:t>    Dim status As String</a:t>
            </a:r>
          </a:p>
          <a:p>
            <a:r>
              <a:rPr lang="en-US" sz="700" dirty="0">
                <a:ea typeface="+mn-lt"/>
                <a:cs typeface="+mn-lt"/>
              </a:rPr>
              <a:t>    ' Turn off screen updating for speed</a:t>
            </a:r>
          </a:p>
          <a:p>
            <a:r>
              <a:rPr lang="en-US" sz="700" dirty="0">
                <a:ea typeface="+mn-lt"/>
                <a:cs typeface="+mn-lt"/>
              </a:rPr>
              <a:t>    </a:t>
            </a:r>
            <a:r>
              <a:rPr lang="en-US" sz="700" err="1">
                <a:ea typeface="+mn-lt"/>
                <a:cs typeface="+mn-lt"/>
              </a:rPr>
              <a:t>Application.ScreenUpdating</a:t>
            </a:r>
            <a:r>
              <a:rPr lang="en-US" sz="700" dirty="0">
                <a:ea typeface="+mn-lt"/>
                <a:cs typeface="+mn-lt"/>
              </a:rPr>
              <a:t> = False</a:t>
            </a:r>
          </a:p>
          <a:p>
            <a:r>
              <a:rPr lang="en-US" sz="700" dirty="0">
                <a:ea typeface="+mn-lt"/>
                <a:cs typeface="+mn-lt"/>
              </a:rPr>
              <a:t>    ' Find last row with data</a:t>
            </a:r>
          </a:p>
          <a:p>
            <a:r>
              <a:rPr lang="en-US" sz="700" dirty="0">
                <a:ea typeface="+mn-lt"/>
                <a:cs typeface="+mn-lt"/>
              </a:rPr>
              <a:t>    </a:t>
            </a:r>
            <a:r>
              <a:rPr lang="en-US" sz="700" err="1">
                <a:ea typeface="+mn-lt"/>
                <a:cs typeface="+mn-lt"/>
              </a:rPr>
              <a:t>lastRow</a:t>
            </a:r>
            <a:r>
              <a:rPr lang="en-US" sz="700" dirty="0">
                <a:ea typeface="+mn-lt"/>
                <a:cs typeface="+mn-lt"/>
              </a:rPr>
              <a:t> = Cells(</a:t>
            </a:r>
            <a:r>
              <a:rPr lang="en-US" sz="700" err="1">
                <a:ea typeface="+mn-lt"/>
                <a:cs typeface="+mn-lt"/>
              </a:rPr>
              <a:t>Rows.Count</a:t>
            </a:r>
            <a:r>
              <a:rPr lang="en-US" sz="700" dirty="0">
                <a:ea typeface="+mn-lt"/>
                <a:cs typeface="+mn-lt"/>
              </a:rPr>
              <a:t>, "A").End(</a:t>
            </a:r>
            <a:r>
              <a:rPr lang="en-US" sz="700" err="1">
                <a:ea typeface="+mn-lt"/>
                <a:cs typeface="+mn-lt"/>
              </a:rPr>
              <a:t>xlUp</a:t>
            </a:r>
            <a:r>
              <a:rPr lang="en-US" sz="700" dirty="0">
                <a:ea typeface="+mn-lt"/>
                <a:cs typeface="+mn-lt"/>
              </a:rPr>
              <a:t>).Row</a:t>
            </a:r>
          </a:p>
          <a:p>
            <a:r>
              <a:rPr lang="en-US" sz="700" dirty="0">
                <a:ea typeface="+mn-lt"/>
                <a:cs typeface="+mn-lt"/>
              </a:rPr>
              <a:t>    ' Add headers for calculated columns</a:t>
            </a:r>
          </a:p>
          <a:p>
            <a:r>
              <a:rPr lang="en-US" sz="700" dirty="0">
                <a:ea typeface="+mn-lt"/>
                <a:cs typeface="+mn-lt"/>
              </a:rPr>
              <a:t>    Range("G1").Value = "Days to Stockout"</a:t>
            </a:r>
          </a:p>
          <a:p>
            <a:r>
              <a:rPr lang="en-US" sz="700" dirty="0">
                <a:ea typeface="+mn-lt"/>
                <a:cs typeface="+mn-lt"/>
              </a:rPr>
              <a:t>    Range("H1").Value = "Reorder Qty (L)"</a:t>
            </a:r>
          </a:p>
          <a:p>
            <a:r>
              <a:rPr lang="en-US" sz="700" dirty="0">
                <a:ea typeface="+mn-lt"/>
                <a:cs typeface="+mn-lt"/>
              </a:rPr>
              <a:t>    Range("I1").Value = "Reorder Cost (₹)"</a:t>
            </a:r>
          </a:p>
          <a:p>
            <a:r>
              <a:rPr lang="en-US" sz="700" dirty="0">
                <a:ea typeface="+mn-lt"/>
                <a:cs typeface="+mn-lt"/>
              </a:rPr>
              <a:t>    Range("J1").Value = "Status"</a:t>
            </a:r>
          </a:p>
          <a:p>
            <a:r>
              <a:rPr lang="en-US" sz="700" dirty="0">
                <a:ea typeface="+mn-lt"/>
                <a:cs typeface="+mn-lt"/>
              </a:rPr>
              <a:t>    Range("G1:J1").</a:t>
            </a:r>
            <a:r>
              <a:rPr lang="en-US" sz="700" err="1">
                <a:ea typeface="+mn-lt"/>
                <a:cs typeface="+mn-lt"/>
              </a:rPr>
              <a:t>Font.Bold</a:t>
            </a:r>
            <a:r>
              <a:rPr lang="en-US" sz="700" dirty="0">
                <a:ea typeface="+mn-lt"/>
                <a:cs typeface="+mn-lt"/>
              </a:rPr>
              <a:t> = True</a:t>
            </a:r>
          </a:p>
          <a:p>
            <a:r>
              <a:rPr lang="en-US" sz="700" dirty="0">
                <a:ea typeface="Calibri" panose="020F0502020204030204"/>
                <a:cs typeface="Calibri" panose="020F0502020204030204"/>
              </a:rPr>
              <a:t> </a:t>
            </a:r>
            <a:r>
              <a:rPr lang="en-US" sz="700" dirty="0">
                <a:ea typeface="+mn-lt"/>
                <a:cs typeface="+mn-lt"/>
              </a:rPr>
              <a:t>   ' Process each fuel type</a:t>
            </a:r>
          </a:p>
          <a:p>
            <a:r>
              <a:rPr lang="en-US" sz="700" dirty="0">
                <a:ea typeface="+mn-lt"/>
                <a:cs typeface="+mn-lt"/>
              </a:rPr>
              <a:t>    For </a:t>
            </a:r>
            <a:r>
              <a:rPr lang="en-US" sz="700" err="1">
                <a:ea typeface="+mn-lt"/>
                <a:cs typeface="+mn-lt"/>
              </a:rPr>
              <a:t>i</a:t>
            </a:r>
            <a:r>
              <a:rPr lang="en-US" sz="700" dirty="0">
                <a:ea typeface="+mn-lt"/>
                <a:cs typeface="+mn-lt"/>
              </a:rPr>
              <a:t> = 2 To </a:t>
            </a:r>
            <a:r>
              <a:rPr lang="en-US" sz="700" err="1">
                <a:ea typeface="+mn-lt"/>
                <a:cs typeface="+mn-lt"/>
              </a:rPr>
              <a:t>lastRow</a:t>
            </a:r>
            <a:endParaRPr lang="en-US" sz="700">
              <a:cs typeface="Arial"/>
            </a:endParaRPr>
          </a:p>
          <a:p>
            <a:r>
              <a:rPr lang="en-US" sz="700" dirty="0">
                <a:ea typeface="+mn-lt"/>
                <a:cs typeface="+mn-lt"/>
              </a:rPr>
              <a:t>        ' Get values</a:t>
            </a:r>
          </a:p>
          <a:p>
            <a:r>
              <a:rPr lang="en-US" sz="700" dirty="0">
                <a:ea typeface="+mn-lt"/>
                <a:cs typeface="+mn-lt"/>
              </a:rPr>
              <a:t>        </a:t>
            </a:r>
            <a:r>
              <a:rPr lang="en-US" sz="700" err="1">
                <a:ea typeface="+mn-lt"/>
                <a:cs typeface="+mn-lt"/>
              </a:rPr>
              <a:t>currentStock</a:t>
            </a:r>
            <a:r>
              <a:rPr lang="en-US" sz="700" dirty="0">
                <a:ea typeface="+mn-lt"/>
                <a:cs typeface="+mn-lt"/>
              </a:rPr>
              <a:t> = Range("B" &amp; </a:t>
            </a:r>
            <a:r>
              <a:rPr lang="en-US" sz="700" err="1">
                <a:ea typeface="+mn-lt"/>
                <a:cs typeface="+mn-lt"/>
              </a:rPr>
              <a:t>i</a:t>
            </a:r>
            <a:r>
              <a:rPr lang="en-US" sz="700" dirty="0">
                <a:ea typeface="+mn-lt"/>
                <a:cs typeface="+mn-lt"/>
              </a:rPr>
              <a:t>).Value</a:t>
            </a:r>
          </a:p>
          <a:p>
            <a:r>
              <a:rPr lang="en-US" sz="700" dirty="0">
                <a:ea typeface="+mn-lt"/>
                <a:cs typeface="+mn-lt"/>
              </a:rPr>
              <a:t>        </a:t>
            </a:r>
            <a:r>
              <a:rPr lang="en-US" sz="700" err="1">
                <a:ea typeface="+mn-lt"/>
                <a:cs typeface="+mn-lt"/>
              </a:rPr>
              <a:t>minLevel</a:t>
            </a:r>
            <a:r>
              <a:rPr lang="en-US" sz="700" dirty="0">
                <a:ea typeface="+mn-lt"/>
                <a:cs typeface="+mn-lt"/>
              </a:rPr>
              <a:t> = Range("C" &amp; </a:t>
            </a:r>
            <a:r>
              <a:rPr lang="en-US" sz="700" err="1">
                <a:ea typeface="+mn-lt"/>
                <a:cs typeface="+mn-lt"/>
              </a:rPr>
              <a:t>i</a:t>
            </a:r>
            <a:r>
              <a:rPr lang="en-US" sz="700" dirty="0">
                <a:ea typeface="+mn-lt"/>
                <a:cs typeface="+mn-lt"/>
              </a:rPr>
              <a:t>).Value</a:t>
            </a:r>
          </a:p>
          <a:p>
            <a:r>
              <a:rPr lang="en-US" sz="700" dirty="0">
                <a:ea typeface="+mn-lt"/>
                <a:cs typeface="+mn-lt"/>
              </a:rPr>
              <a:t>        </a:t>
            </a:r>
            <a:r>
              <a:rPr lang="en-US" sz="700" err="1">
                <a:ea typeface="+mn-lt"/>
                <a:cs typeface="+mn-lt"/>
              </a:rPr>
              <a:t>maxCapacity</a:t>
            </a:r>
            <a:r>
              <a:rPr lang="en-US" sz="700" dirty="0">
                <a:ea typeface="+mn-lt"/>
                <a:cs typeface="+mn-lt"/>
              </a:rPr>
              <a:t> = Range("D" &amp; </a:t>
            </a:r>
            <a:r>
              <a:rPr lang="en-US" sz="700" err="1">
                <a:ea typeface="+mn-lt"/>
                <a:cs typeface="+mn-lt"/>
              </a:rPr>
              <a:t>i</a:t>
            </a:r>
            <a:r>
              <a:rPr lang="en-US" sz="700" dirty="0">
                <a:ea typeface="+mn-lt"/>
                <a:cs typeface="+mn-lt"/>
              </a:rPr>
              <a:t>).Value</a:t>
            </a:r>
          </a:p>
          <a:p>
            <a:r>
              <a:rPr lang="en-US" sz="700" dirty="0">
                <a:ea typeface="+mn-lt"/>
                <a:cs typeface="+mn-lt"/>
              </a:rPr>
              <a:t>        </a:t>
            </a:r>
            <a:r>
              <a:rPr lang="en-US" sz="700" err="1">
                <a:ea typeface="+mn-lt"/>
                <a:cs typeface="+mn-lt"/>
              </a:rPr>
              <a:t>dailySales</a:t>
            </a:r>
            <a:r>
              <a:rPr lang="en-US" sz="700" dirty="0">
                <a:ea typeface="+mn-lt"/>
                <a:cs typeface="+mn-lt"/>
              </a:rPr>
              <a:t> = Range("E" &amp; </a:t>
            </a:r>
            <a:r>
              <a:rPr lang="en-US" sz="700" err="1">
                <a:ea typeface="+mn-lt"/>
                <a:cs typeface="+mn-lt"/>
              </a:rPr>
              <a:t>i</a:t>
            </a:r>
            <a:r>
              <a:rPr lang="en-US" sz="700" dirty="0">
                <a:ea typeface="+mn-lt"/>
                <a:cs typeface="+mn-lt"/>
              </a:rPr>
              <a:t>).Value</a:t>
            </a:r>
          </a:p>
          <a:p>
            <a:r>
              <a:rPr lang="en-US" sz="700" dirty="0">
                <a:ea typeface="+mn-lt"/>
                <a:cs typeface="+mn-lt"/>
              </a:rPr>
              <a:t>        price = Range("F" &amp; </a:t>
            </a:r>
            <a:r>
              <a:rPr lang="en-US" sz="700" err="1">
                <a:ea typeface="+mn-lt"/>
                <a:cs typeface="+mn-lt"/>
              </a:rPr>
              <a:t>i</a:t>
            </a:r>
            <a:r>
              <a:rPr lang="en-US" sz="700" dirty="0">
                <a:ea typeface="+mn-lt"/>
                <a:cs typeface="+mn-lt"/>
              </a:rPr>
              <a:t>).Value</a:t>
            </a:r>
          </a:p>
          <a:p>
            <a:r>
              <a:rPr lang="en-US" sz="700" dirty="0">
                <a:ea typeface="+mn-lt"/>
                <a:cs typeface="+mn-lt"/>
              </a:rPr>
              <a:t>        ' Calculate days until stockout</a:t>
            </a:r>
          </a:p>
          <a:p>
            <a:r>
              <a:rPr lang="en-US" sz="700" dirty="0">
                <a:ea typeface="+mn-lt"/>
                <a:cs typeface="+mn-lt"/>
              </a:rPr>
              <a:t>        If </a:t>
            </a:r>
            <a:r>
              <a:rPr lang="en-US" sz="700" err="1">
                <a:ea typeface="+mn-lt"/>
                <a:cs typeface="+mn-lt"/>
              </a:rPr>
              <a:t>dailySales</a:t>
            </a:r>
            <a:r>
              <a:rPr lang="en-US" sz="700" dirty="0">
                <a:ea typeface="+mn-lt"/>
                <a:cs typeface="+mn-lt"/>
              </a:rPr>
              <a:t> &gt; 0 Then</a:t>
            </a:r>
          </a:p>
          <a:p>
            <a:r>
              <a:rPr lang="en-US" sz="700" dirty="0">
                <a:ea typeface="+mn-lt"/>
                <a:cs typeface="+mn-lt"/>
              </a:rPr>
              <a:t>            </a:t>
            </a:r>
            <a:r>
              <a:rPr lang="en-US" sz="700" err="1">
                <a:ea typeface="+mn-lt"/>
                <a:cs typeface="+mn-lt"/>
              </a:rPr>
              <a:t>daysUntilStockout</a:t>
            </a:r>
            <a:r>
              <a:rPr lang="en-US" sz="700" dirty="0">
                <a:ea typeface="+mn-lt"/>
                <a:cs typeface="+mn-lt"/>
              </a:rPr>
              <a:t> = </a:t>
            </a:r>
            <a:r>
              <a:rPr lang="en-US" sz="700" err="1">
                <a:ea typeface="+mn-lt"/>
                <a:cs typeface="+mn-lt"/>
              </a:rPr>
              <a:t>currentStock</a:t>
            </a:r>
            <a:r>
              <a:rPr lang="en-US" sz="700" dirty="0">
                <a:ea typeface="+mn-lt"/>
                <a:cs typeface="+mn-lt"/>
              </a:rPr>
              <a:t> / </a:t>
            </a:r>
            <a:r>
              <a:rPr lang="en-US" sz="700" err="1">
                <a:ea typeface="+mn-lt"/>
                <a:cs typeface="+mn-lt"/>
              </a:rPr>
              <a:t>dailySales</a:t>
            </a:r>
            <a:endParaRPr lang="en-US" sz="700">
              <a:ea typeface="+mn-lt"/>
              <a:cs typeface="+mn-lt"/>
            </a:endParaRPr>
          </a:p>
          <a:p>
            <a:r>
              <a:rPr lang="en-US" sz="700" dirty="0">
                <a:ea typeface="+mn-lt"/>
                <a:cs typeface="+mn-lt"/>
              </a:rPr>
              <a:t>        Else</a:t>
            </a:r>
          </a:p>
          <a:p>
            <a:r>
              <a:rPr lang="en-US" sz="700" dirty="0">
                <a:ea typeface="+mn-lt"/>
                <a:cs typeface="+mn-lt"/>
              </a:rPr>
              <a:t>            </a:t>
            </a:r>
            <a:r>
              <a:rPr lang="en-US" sz="700" err="1">
                <a:ea typeface="+mn-lt"/>
                <a:cs typeface="+mn-lt"/>
              </a:rPr>
              <a:t>daysUntilStockout</a:t>
            </a:r>
            <a:r>
              <a:rPr lang="en-US" sz="700" dirty="0">
                <a:ea typeface="+mn-lt"/>
                <a:cs typeface="+mn-lt"/>
              </a:rPr>
              <a:t> = 999</a:t>
            </a:r>
          </a:p>
          <a:p>
            <a:r>
              <a:rPr lang="en-US" sz="700" dirty="0">
                <a:ea typeface="+mn-lt"/>
                <a:cs typeface="+mn-lt"/>
              </a:rPr>
              <a:t>        End If</a:t>
            </a:r>
          </a:p>
          <a:p>
            <a:r>
              <a:rPr lang="en-US" sz="700" dirty="0">
                <a:ea typeface="+mn-lt"/>
                <a:cs typeface="+mn-lt"/>
              </a:rPr>
              <a:t>        Range("G" &amp; </a:t>
            </a:r>
            <a:r>
              <a:rPr lang="en-US" sz="700" err="1">
                <a:ea typeface="+mn-lt"/>
                <a:cs typeface="+mn-lt"/>
              </a:rPr>
              <a:t>i</a:t>
            </a:r>
            <a:r>
              <a:rPr lang="en-US" sz="700" dirty="0">
                <a:ea typeface="+mn-lt"/>
                <a:cs typeface="+mn-lt"/>
              </a:rPr>
              <a:t>).Value = Round(</a:t>
            </a:r>
            <a:r>
              <a:rPr lang="en-US" sz="700" err="1">
                <a:ea typeface="+mn-lt"/>
                <a:cs typeface="+mn-lt"/>
              </a:rPr>
              <a:t>daysUntilStockout</a:t>
            </a:r>
            <a:r>
              <a:rPr lang="en-US" sz="700" dirty="0">
                <a:ea typeface="+mn-lt"/>
                <a:cs typeface="+mn-lt"/>
              </a:rPr>
              <a:t>, 1)</a:t>
            </a:r>
          </a:p>
          <a:p>
            <a:r>
              <a:rPr lang="en-US" sz="700" dirty="0">
                <a:ea typeface="+mn-lt"/>
                <a:cs typeface="+mn-lt"/>
              </a:rPr>
              <a:t>        ' Calculate reorder quantity</a:t>
            </a:r>
          </a:p>
          <a:p>
            <a:r>
              <a:rPr lang="en-US" sz="700" dirty="0">
                <a:ea typeface="+mn-lt"/>
                <a:cs typeface="+mn-lt"/>
              </a:rPr>
              <a:t>        </a:t>
            </a:r>
            <a:r>
              <a:rPr lang="en-US" sz="700" err="1">
                <a:ea typeface="+mn-lt"/>
                <a:cs typeface="+mn-lt"/>
              </a:rPr>
              <a:t>reorderQty</a:t>
            </a:r>
            <a:r>
              <a:rPr lang="en-US" sz="700" dirty="0">
                <a:ea typeface="+mn-lt"/>
                <a:cs typeface="+mn-lt"/>
              </a:rPr>
              <a:t> = </a:t>
            </a:r>
            <a:r>
              <a:rPr lang="en-US" sz="700" err="1">
                <a:ea typeface="+mn-lt"/>
                <a:cs typeface="+mn-lt"/>
              </a:rPr>
              <a:t>maxCapacity</a:t>
            </a:r>
            <a:r>
              <a:rPr lang="en-US" sz="700" dirty="0">
                <a:ea typeface="+mn-lt"/>
                <a:cs typeface="+mn-lt"/>
              </a:rPr>
              <a:t> - </a:t>
            </a:r>
            <a:r>
              <a:rPr lang="en-US" sz="700" err="1">
                <a:ea typeface="+mn-lt"/>
                <a:cs typeface="+mn-lt"/>
              </a:rPr>
              <a:t>currentStock</a:t>
            </a:r>
            <a:endParaRPr lang="en-US" sz="700">
              <a:ea typeface="+mn-lt"/>
              <a:cs typeface="+mn-lt"/>
            </a:endParaRPr>
          </a:p>
          <a:p>
            <a:r>
              <a:rPr lang="en-US" sz="700" dirty="0">
                <a:ea typeface="+mn-lt"/>
                <a:cs typeface="+mn-lt"/>
              </a:rPr>
              <a:t>        Range("H" &amp; </a:t>
            </a:r>
            <a:r>
              <a:rPr lang="en-US" sz="700" dirty="0" err="1">
                <a:ea typeface="+mn-lt"/>
                <a:cs typeface="+mn-lt"/>
              </a:rPr>
              <a:t>i</a:t>
            </a:r>
            <a:r>
              <a:rPr lang="en-US" sz="700" dirty="0">
                <a:ea typeface="+mn-lt"/>
                <a:cs typeface="+mn-lt"/>
              </a:rPr>
              <a:t>).Value = </a:t>
            </a:r>
            <a:r>
              <a:rPr lang="en-US" sz="700" dirty="0" err="1">
                <a:ea typeface="+mn-lt"/>
                <a:cs typeface="+mn-lt"/>
              </a:rPr>
              <a:t>reorderQty</a:t>
            </a:r>
          </a:p>
          <a:p>
            <a:endParaRPr lang="en-US" sz="700" dirty="0">
              <a:ea typeface="+mn-lt"/>
              <a:cs typeface="+mn-lt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82BB538-ABE4-F803-B016-C294F33DB09F}"/>
              </a:ext>
            </a:extLst>
          </p:cNvPr>
          <p:cNvSpPr txBox="1"/>
          <p:nvPr/>
        </p:nvSpPr>
        <p:spPr>
          <a:xfrm>
            <a:off x="4118150" y="800531"/>
            <a:ext cx="4572000" cy="386259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700" dirty="0">
              <a:ea typeface="+mn-lt"/>
              <a:cs typeface="+mn-lt"/>
            </a:endParaRPr>
          </a:p>
          <a:p>
            <a:r>
              <a:rPr lang="en-US" sz="700" dirty="0">
                <a:ea typeface="+mn-lt"/>
                <a:cs typeface="+mn-lt"/>
              </a:rPr>
              <a:t>        ' Calculate reorder cost</a:t>
            </a:r>
          </a:p>
          <a:p>
            <a:r>
              <a:rPr lang="en-US" sz="700" dirty="0">
                <a:ea typeface="+mn-lt"/>
                <a:cs typeface="+mn-lt"/>
              </a:rPr>
              <a:t>        </a:t>
            </a:r>
            <a:r>
              <a:rPr lang="en-US" sz="700" dirty="0" err="1">
                <a:ea typeface="+mn-lt"/>
                <a:cs typeface="+mn-lt"/>
              </a:rPr>
              <a:t>reorderCost</a:t>
            </a:r>
            <a:r>
              <a:rPr lang="en-US" sz="700" dirty="0">
                <a:ea typeface="+mn-lt"/>
                <a:cs typeface="+mn-lt"/>
              </a:rPr>
              <a:t> = </a:t>
            </a:r>
            <a:r>
              <a:rPr lang="en-US" sz="700" dirty="0" err="1">
                <a:ea typeface="+mn-lt"/>
                <a:cs typeface="+mn-lt"/>
              </a:rPr>
              <a:t>reorderQty</a:t>
            </a:r>
            <a:r>
              <a:rPr lang="en-US" sz="700" dirty="0">
                <a:ea typeface="+mn-lt"/>
                <a:cs typeface="+mn-lt"/>
              </a:rPr>
              <a:t> * price</a:t>
            </a:r>
          </a:p>
          <a:p>
            <a:r>
              <a:rPr lang="en-US" sz="700" dirty="0">
                <a:ea typeface="+mn-lt"/>
                <a:cs typeface="+mn-lt"/>
              </a:rPr>
              <a:t>        Range("I" &amp; </a:t>
            </a:r>
            <a:r>
              <a:rPr lang="en-US" sz="700" dirty="0" err="1">
                <a:ea typeface="+mn-lt"/>
                <a:cs typeface="+mn-lt"/>
              </a:rPr>
              <a:t>i</a:t>
            </a:r>
            <a:r>
              <a:rPr lang="en-US" sz="700" dirty="0">
                <a:ea typeface="+mn-lt"/>
                <a:cs typeface="+mn-lt"/>
              </a:rPr>
              <a:t>).Value = </a:t>
            </a:r>
            <a:r>
              <a:rPr lang="en-US" sz="700" dirty="0" err="1">
                <a:ea typeface="+mn-lt"/>
                <a:cs typeface="+mn-lt"/>
              </a:rPr>
              <a:t>reorderCost</a:t>
            </a:r>
            <a:r>
              <a:rPr lang="en-US" sz="700" dirty="0">
                <a:ea typeface="+mn-lt"/>
                <a:cs typeface="+mn-lt"/>
              </a:rPr>
              <a:t>        </a:t>
            </a:r>
            <a:endParaRPr lang="en-US" dirty="0"/>
          </a:p>
          <a:p>
            <a:r>
              <a:rPr lang="en-US" sz="700" dirty="0">
                <a:ea typeface="+mn-lt"/>
                <a:cs typeface="+mn-lt"/>
              </a:rPr>
              <a:t>        ' Determine status and color code</a:t>
            </a:r>
            <a:endParaRPr lang="en-US" dirty="0"/>
          </a:p>
          <a:p>
            <a:r>
              <a:rPr lang="en-US" sz="700" dirty="0">
                <a:ea typeface="+mn-lt"/>
                <a:cs typeface="+mn-lt"/>
              </a:rPr>
              <a:t>        If </a:t>
            </a:r>
            <a:r>
              <a:rPr lang="en-US" sz="700" err="1">
                <a:ea typeface="+mn-lt"/>
                <a:cs typeface="+mn-lt"/>
              </a:rPr>
              <a:t>currentStock</a:t>
            </a:r>
            <a:r>
              <a:rPr lang="en-US" sz="700" dirty="0">
                <a:ea typeface="+mn-lt"/>
                <a:cs typeface="+mn-lt"/>
              </a:rPr>
              <a:t> &lt; </a:t>
            </a:r>
            <a:r>
              <a:rPr lang="en-US" sz="700" err="1">
                <a:ea typeface="+mn-lt"/>
                <a:cs typeface="+mn-lt"/>
              </a:rPr>
              <a:t>minLevel</a:t>
            </a:r>
            <a:r>
              <a:rPr lang="en-US" sz="700" dirty="0">
                <a:ea typeface="+mn-lt"/>
                <a:cs typeface="+mn-lt"/>
              </a:rPr>
              <a:t> Then</a:t>
            </a:r>
          </a:p>
          <a:p>
            <a:r>
              <a:rPr lang="en-US" sz="700" dirty="0">
                <a:ea typeface="+mn-lt"/>
                <a:cs typeface="+mn-lt"/>
              </a:rPr>
              <a:t>            status = "CRITICAL"</a:t>
            </a:r>
          </a:p>
          <a:p>
            <a:r>
              <a:rPr lang="en-US" sz="700" dirty="0">
                <a:ea typeface="+mn-lt"/>
                <a:cs typeface="+mn-lt"/>
              </a:rPr>
              <a:t>            Range("J" &amp; </a:t>
            </a:r>
            <a:r>
              <a:rPr lang="en-US" sz="700" err="1">
                <a:ea typeface="+mn-lt"/>
                <a:cs typeface="+mn-lt"/>
              </a:rPr>
              <a:t>i</a:t>
            </a:r>
            <a:r>
              <a:rPr lang="en-US" sz="700" dirty="0">
                <a:ea typeface="+mn-lt"/>
                <a:cs typeface="+mn-lt"/>
              </a:rPr>
              <a:t>).</a:t>
            </a:r>
            <a:r>
              <a:rPr lang="en-US" sz="700" err="1">
                <a:ea typeface="+mn-lt"/>
                <a:cs typeface="+mn-lt"/>
              </a:rPr>
              <a:t>Interior.Color</a:t>
            </a:r>
            <a:r>
              <a:rPr lang="en-US" sz="700" dirty="0">
                <a:ea typeface="+mn-lt"/>
                <a:cs typeface="+mn-lt"/>
              </a:rPr>
              <a:t> = RGB(239, 68, 68)   ' Red</a:t>
            </a:r>
          </a:p>
          <a:p>
            <a:r>
              <a:rPr lang="en-US" sz="700" dirty="0">
                <a:ea typeface="+mn-lt"/>
                <a:cs typeface="+mn-lt"/>
              </a:rPr>
              <a:t>            Range("J" &amp; </a:t>
            </a:r>
            <a:r>
              <a:rPr lang="en-US" sz="700" err="1">
                <a:ea typeface="+mn-lt"/>
                <a:cs typeface="+mn-lt"/>
              </a:rPr>
              <a:t>i</a:t>
            </a:r>
            <a:r>
              <a:rPr lang="en-US" sz="700" dirty="0">
                <a:ea typeface="+mn-lt"/>
                <a:cs typeface="+mn-lt"/>
              </a:rPr>
              <a:t>).</a:t>
            </a:r>
            <a:r>
              <a:rPr lang="en-US" sz="700" err="1">
                <a:ea typeface="+mn-lt"/>
                <a:cs typeface="+mn-lt"/>
              </a:rPr>
              <a:t>Font.Color</a:t>
            </a:r>
            <a:r>
              <a:rPr lang="en-US" sz="700" dirty="0">
                <a:ea typeface="+mn-lt"/>
                <a:cs typeface="+mn-lt"/>
              </a:rPr>
              <a:t> = RGB(255, 255, 255)</a:t>
            </a:r>
          </a:p>
          <a:p>
            <a:r>
              <a:rPr lang="en-US" sz="700" dirty="0">
                <a:ea typeface="+mn-lt"/>
                <a:cs typeface="+mn-lt"/>
              </a:rPr>
              <a:t>        </a:t>
            </a:r>
            <a:r>
              <a:rPr lang="en-US" sz="700" err="1">
                <a:ea typeface="+mn-lt"/>
                <a:cs typeface="+mn-lt"/>
              </a:rPr>
              <a:t>ElseIf</a:t>
            </a:r>
            <a:r>
              <a:rPr lang="en-US" sz="700" dirty="0">
                <a:ea typeface="+mn-lt"/>
                <a:cs typeface="+mn-lt"/>
              </a:rPr>
              <a:t> </a:t>
            </a:r>
            <a:r>
              <a:rPr lang="en-US" sz="700" err="1">
                <a:ea typeface="+mn-lt"/>
                <a:cs typeface="+mn-lt"/>
              </a:rPr>
              <a:t>daysUntilStockout</a:t>
            </a:r>
            <a:r>
              <a:rPr lang="en-US" sz="700" dirty="0">
                <a:ea typeface="+mn-lt"/>
                <a:cs typeface="+mn-lt"/>
              </a:rPr>
              <a:t> &lt; 10 Then</a:t>
            </a:r>
          </a:p>
          <a:p>
            <a:r>
              <a:rPr lang="en-US" sz="700" dirty="0">
                <a:ea typeface="+mn-lt"/>
                <a:cs typeface="+mn-lt"/>
              </a:rPr>
              <a:t>            status = "WARNING"</a:t>
            </a:r>
          </a:p>
          <a:p>
            <a:r>
              <a:rPr lang="en-US" sz="700" dirty="0">
                <a:ea typeface="+mn-lt"/>
                <a:cs typeface="+mn-lt"/>
              </a:rPr>
              <a:t>            Range("J" &amp; </a:t>
            </a:r>
            <a:r>
              <a:rPr lang="en-US" sz="700" err="1">
                <a:ea typeface="+mn-lt"/>
                <a:cs typeface="+mn-lt"/>
              </a:rPr>
              <a:t>i</a:t>
            </a:r>
            <a:r>
              <a:rPr lang="en-US" sz="700" dirty="0">
                <a:ea typeface="+mn-lt"/>
                <a:cs typeface="+mn-lt"/>
              </a:rPr>
              <a:t>).</a:t>
            </a:r>
            <a:r>
              <a:rPr lang="en-US" sz="700" err="1">
                <a:ea typeface="+mn-lt"/>
                <a:cs typeface="+mn-lt"/>
              </a:rPr>
              <a:t>Interior.Color</a:t>
            </a:r>
            <a:r>
              <a:rPr lang="en-US" sz="700" dirty="0">
                <a:ea typeface="+mn-lt"/>
                <a:cs typeface="+mn-lt"/>
              </a:rPr>
              <a:t> = RGB(245, 158, 11)  ' Yellow</a:t>
            </a:r>
          </a:p>
          <a:p>
            <a:r>
              <a:rPr lang="en-US" sz="700" dirty="0">
                <a:ea typeface="+mn-lt"/>
                <a:cs typeface="+mn-lt"/>
              </a:rPr>
              <a:t>            Range("J" &amp; </a:t>
            </a:r>
            <a:r>
              <a:rPr lang="en-US" sz="700" err="1">
                <a:ea typeface="+mn-lt"/>
                <a:cs typeface="+mn-lt"/>
              </a:rPr>
              <a:t>i</a:t>
            </a:r>
            <a:r>
              <a:rPr lang="en-US" sz="700" dirty="0">
                <a:ea typeface="+mn-lt"/>
                <a:cs typeface="+mn-lt"/>
              </a:rPr>
              <a:t>).</a:t>
            </a:r>
            <a:r>
              <a:rPr lang="en-US" sz="700" err="1">
                <a:ea typeface="+mn-lt"/>
                <a:cs typeface="+mn-lt"/>
              </a:rPr>
              <a:t>Font.Color</a:t>
            </a:r>
            <a:r>
              <a:rPr lang="en-US" sz="700" dirty="0">
                <a:ea typeface="+mn-lt"/>
                <a:cs typeface="+mn-lt"/>
              </a:rPr>
              <a:t> = RGB(0, 0, 0)</a:t>
            </a:r>
          </a:p>
          <a:p>
            <a:r>
              <a:rPr lang="en-US" sz="700" dirty="0">
                <a:ea typeface="+mn-lt"/>
                <a:cs typeface="+mn-lt"/>
              </a:rPr>
              <a:t>        Else</a:t>
            </a:r>
          </a:p>
          <a:p>
            <a:r>
              <a:rPr lang="en-US" sz="700" dirty="0">
                <a:ea typeface="+mn-lt"/>
                <a:cs typeface="+mn-lt"/>
              </a:rPr>
              <a:t>            status = "OK"</a:t>
            </a:r>
          </a:p>
          <a:p>
            <a:r>
              <a:rPr lang="en-US" sz="700" dirty="0">
                <a:ea typeface="+mn-lt"/>
                <a:cs typeface="+mn-lt"/>
              </a:rPr>
              <a:t>            Range("J" &amp; </a:t>
            </a:r>
            <a:r>
              <a:rPr lang="en-US" sz="700" err="1">
                <a:ea typeface="+mn-lt"/>
                <a:cs typeface="+mn-lt"/>
              </a:rPr>
              <a:t>i</a:t>
            </a:r>
            <a:r>
              <a:rPr lang="en-US" sz="700" dirty="0">
                <a:ea typeface="+mn-lt"/>
                <a:cs typeface="+mn-lt"/>
              </a:rPr>
              <a:t>).</a:t>
            </a:r>
            <a:r>
              <a:rPr lang="en-US" sz="700" err="1">
                <a:ea typeface="+mn-lt"/>
                <a:cs typeface="+mn-lt"/>
              </a:rPr>
              <a:t>Interior.Color</a:t>
            </a:r>
            <a:r>
              <a:rPr lang="en-US" sz="700" dirty="0">
                <a:ea typeface="+mn-lt"/>
                <a:cs typeface="+mn-lt"/>
              </a:rPr>
              <a:t> = RGB(16, 185, 129)  ' Green</a:t>
            </a:r>
          </a:p>
          <a:p>
            <a:r>
              <a:rPr lang="en-US" sz="700" dirty="0">
                <a:ea typeface="+mn-lt"/>
                <a:cs typeface="+mn-lt"/>
              </a:rPr>
              <a:t>            Range("J" &amp; </a:t>
            </a:r>
            <a:r>
              <a:rPr lang="en-US" sz="700" err="1">
                <a:ea typeface="+mn-lt"/>
                <a:cs typeface="+mn-lt"/>
              </a:rPr>
              <a:t>i</a:t>
            </a:r>
            <a:r>
              <a:rPr lang="en-US" sz="700" dirty="0">
                <a:ea typeface="+mn-lt"/>
                <a:cs typeface="+mn-lt"/>
              </a:rPr>
              <a:t>).</a:t>
            </a:r>
            <a:r>
              <a:rPr lang="en-US" sz="700" err="1">
                <a:ea typeface="+mn-lt"/>
                <a:cs typeface="+mn-lt"/>
              </a:rPr>
              <a:t>Font.Color</a:t>
            </a:r>
            <a:r>
              <a:rPr lang="en-US" sz="700" dirty="0">
                <a:ea typeface="+mn-lt"/>
                <a:cs typeface="+mn-lt"/>
              </a:rPr>
              <a:t> = RGB(255, 255, 255)</a:t>
            </a:r>
          </a:p>
          <a:p>
            <a:r>
              <a:rPr lang="en-US" sz="700" dirty="0">
                <a:ea typeface="+mn-lt"/>
                <a:cs typeface="+mn-lt"/>
              </a:rPr>
              <a:t>        End If</a:t>
            </a:r>
          </a:p>
          <a:p>
            <a:r>
              <a:rPr lang="en-US" sz="700" dirty="0">
                <a:ea typeface="+mn-lt"/>
                <a:cs typeface="+mn-lt"/>
              </a:rPr>
              <a:t>        Range("J" &amp; </a:t>
            </a:r>
            <a:r>
              <a:rPr lang="en-US" sz="700" err="1">
                <a:ea typeface="+mn-lt"/>
                <a:cs typeface="+mn-lt"/>
              </a:rPr>
              <a:t>i</a:t>
            </a:r>
            <a:r>
              <a:rPr lang="en-US" sz="700" dirty="0">
                <a:ea typeface="+mn-lt"/>
                <a:cs typeface="+mn-lt"/>
              </a:rPr>
              <a:t>).Value = status</a:t>
            </a:r>
          </a:p>
          <a:p>
            <a:r>
              <a:rPr lang="en-US" sz="700" dirty="0">
                <a:ea typeface="+mn-lt"/>
                <a:cs typeface="+mn-lt"/>
              </a:rPr>
              <a:t>        Range("J" &amp; </a:t>
            </a:r>
            <a:r>
              <a:rPr lang="en-US" sz="700" err="1">
                <a:ea typeface="+mn-lt"/>
                <a:cs typeface="+mn-lt"/>
              </a:rPr>
              <a:t>i</a:t>
            </a:r>
            <a:r>
              <a:rPr lang="en-US" sz="700" dirty="0">
                <a:ea typeface="+mn-lt"/>
                <a:cs typeface="+mn-lt"/>
              </a:rPr>
              <a:t>).</a:t>
            </a:r>
            <a:r>
              <a:rPr lang="en-US" sz="700" err="1">
                <a:ea typeface="+mn-lt"/>
                <a:cs typeface="+mn-lt"/>
              </a:rPr>
              <a:t>Font.Bold</a:t>
            </a:r>
            <a:r>
              <a:rPr lang="en-US" sz="700" dirty="0">
                <a:ea typeface="+mn-lt"/>
                <a:cs typeface="+mn-lt"/>
              </a:rPr>
              <a:t> = True</a:t>
            </a:r>
          </a:p>
          <a:p>
            <a:r>
              <a:rPr lang="en-US" sz="700" dirty="0">
                <a:ea typeface="+mn-lt"/>
                <a:cs typeface="+mn-lt"/>
              </a:rPr>
              <a:t>        Range("J" &amp; </a:t>
            </a:r>
            <a:r>
              <a:rPr lang="en-US" sz="700" dirty="0" err="1">
                <a:ea typeface="+mn-lt"/>
                <a:cs typeface="+mn-lt"/>
              </a:rPr>
              <a:t>i</a:t>
            </a:r>
            <a:r>
              <a:rPr lang="en-US" sz="700" dirty="0">
                <a:ea typeface="+mn-lt"/>
                <a:cs typeface="+mn-lt"/>
              </a:rPr>
              <a:t>).</a:t>
            </a:r>
            <a:r>
              <a:rPr lang="en-US" sz="700" dirty="0" err="1">
                <a:ea typeface="+mn-lt"/>
                <a:cs typeface="+mn-lt"/>
              </a:rPr>
              <a:t>HorizontalAlignment</a:t>
            </a:r>
            <a:r>
              <a:rPr lang="en-US" sz="700" dirty="0">
                <a:ea typeface="+mn-lt"/>
                <a:cs typeface="+mn-lt"/>
              </a:rPr>
              <a:t> = </a:t>
            </a:r>
            <a:r>
              <a:rPr lang="en-US" sz="700" dirty="0" err="1">
                <a:ea typeface="+mn-lt"/>
                <a:cs typeface="+mn-lt"/>
              </a:rPr>
              <a:t>xlCenter</a:t>
            </a:r>
            <a:endParaRPr lang="en-US" sz="700" dirty="0">
              <a:ea typeface="+mn-lt"/>
              <a:cs typeface="+mn-lt"/>
            </a:endParaRPr>
          </a:p>
          <a:p>
            <a:r>
              <a:rPr lang="en-US" sz="700" dirty="0">
                <a:ea typeface="+mn-lt"/>
                <a:cs typeface="+mn-lt"/>
              </a:rPr>
              <a:t>    Next </a:t>
            </a:r>
            <a:r>
              <a:rPr lang="en-US" sz="700" dirty="0" err="1">
                <a:ea typeface="+mn-lt"/>
                <a:cs typeface="+mn-lt"/>
              </a:rPr>
              <a:t>i</a:t>
            </a:r>
            <a:endParaRPr lang="en-US" sz="700" dirty="0">
              <a:ea typeface="+mn-lt"/>
              <a:cs typeface="+mn-lt"/>
            </a:endParaRPr>
          </a:p>
          <a:p>
            <a:endParaRPr lang="en-US" sz="700" dirty="0">
              <a:ea typeface="+mn-lt"/>
              <a:cs typeface="+mn-lt"/>
            </a:endParaRPr>
          </a:p>
          <a:p>
            <a:r>
              <a:rPr lang="en-US" sz="700" dirty="0">
                <a:ea typeface="+mn-lt"/>
                <a:cs typeface="+mn-lt"/>
              </a:rPr>
              <a:t>    ' Format columns</a:t>
            </a:r>
          </a:p>
          <a:p>
            <a:r>
              <a:rPr lang="en-US" sz="700" dirty="0">
                <a:ea typeface="+mn-lt"/>
                <a:cs typeface="+mn-lt"/>
              </a:rPr>
              <a:t>    Range("B2:B" &amp; </a:t>
            </a:r>
            <a:r>
              <a:rPr lang="en-US" sz="700" err="1">
                <a:ea typeface="+mn-lt"/>
                <a:cs typeface="+mn-lt"/>
              </a:rPr>
              <a:t>lastRow</a:t>
            </a:r>
            <a:r>
              <a:rPr lang="en-US" sz="700" dirty="0">
                <a:ea typeface="+mn-lt"/>
                <a:cs typeface="+mn-lt"/>
              </a:rPr>
              <a:t>).</a:t>
            </a:r>
            <a:r>
              <a:rPr lang="en-US" sz="700" err="1">
                <a:ea typeface="+mn-lt"/>
                <a:cs typeface="+mn-lt"/>
              </a:rPr>
              <a:t>NumberFormat</a:t>
            </a:r>
            <a:r>
              <a:rPr lang="en-US" sz="700" dirty="0">
                <a:ea typeface="+mn-lt"/>
                <a:cs typeface="+mn-lt"/>
              </a:rPr>
              <a:t> = "#,##0"</a:t>
            </a:r>
          </a:p>
          <a:p>
            <a:r>
              <a:rPr lang="en-US" sz="700" dirty="0">
                <a:ea typeface="+mn-lt"/>
                <a:cs typeface="+mn-lt"/>
              </a:rPr>
              <a:t>    Range("C2:F" &amp; </a:t>
            </a:r>
            <a:r>
              <a:rPr lang="en-US" sz="700" err="1">
                <a:ea typeface="+mn-lt"/>
                <a:cs typeface="+mn-lt"/>
              </a:rPr>
              <a:t>lastRow</a:t>
            </a:r>
            <a:r>
              <a:rPr lang="en-US" sz="700" dirty="0">
                <a:ea typeface="+mn-lt"/>
                <a:cs typeface="+mn-lt"/>
              </a:rPr>
              <a:t>).</a:t>
            </a:r>
            <a:r>
              <a:rPr lang="en-US" sz="700" err="1">
                <a:ea typeface="+mn-lt"/>
                <a:cs typeface="+mn-lt"/>
              </a:rPr>
              <a:t>NumberFormat</a:t>
            </a:r>
            <a:r>
              <a:rPr lang="en-US" sz="700" dirty="0">
                <a:ea typeface="+mn-lt"/>
                <a:cs typeface="+mn-lt"/>
              </a:rPr>
              <a:t> = "#,##0.00"</a:t>
            </a:r>
          </a:p>
          <a:p>
            <a:r>
              <a:rPr lang="en-US" sz="700" dirty="0">
                <a:ea typeface="+mn-lt"/>
                <a:cs typeface="+mn-lt"/>
              </a:rPr>
              <a:t>    Range("G2:G" &amp; </a:t>
            </a:r>
            <a:r>
              <a:rPr lang="en-US" sz="700" err="1">
                <a:ea typeface="+mn-lt"/>
                <a:cs typeface="+mn-lt"/>
              </a:rPr>
              <a:t>lastRow</a:t>
            </a:r>
            <a:r>
              <a:rPr lang="en-US" sz="700" dirty="0">
                <a:ea typeface="+mn-lt"/>
                <a:cs typeface="+mn-lt"/>
              </a:rPr>
              <a:t>).</a:t>
            </a:r>
            <a:r>
              <a:rPr lang="en-US" sz="700" err="1">
                <a:ea typeface="+mn-lt"/>
                <a:cs typeface="+mn-lt"/>
              </a:rPr>
              <a:t>NumberFormat</a:t>
            </a:r>
            <a:r>
              <a:rPr lang="en-US" sz="700" dirty="0">
                <a:ea typeface="+mn-lt"/>
                <a:cs typeface="+mn-lt"/>
              </a:rPr>
              <a:t> = "0.0"</a:t>
            </a:r>
          </a:p>
          <a:p>
            <a:r>
              <a:rPr lang="en-US" sz="700" dirty="0">
                <a:ea typeface="+mn-lt"/>
                <a:cs typeface="+mn-lt"/>
              </a:rPr>
              <a:t>    Range("H2:H" &amp; </a:t>
            </a:r>
            <a:r>
              <a:rPr lang="en-US" sz="700" err="1">
                <a:ea typeface="+mn-lt"/>
                <a:cs typeface="+mn-lt"/>
              </a:rPr>
              <a:t>lastRow</a:t>
            </a:r>
            <a:r>
              <a:rPr lang="en-US" sz="700" dirty="0">
                <a:ea typeface="+mn-lt"/>
                <a:cs typeface="+mn-lt"/>
              </a:rPr>
              <a:t>).</a:t>
            </a:r>
            <a:r>
              <a:rPr lang="en-US" sz="700" err="1">
                <a:ea typeface="+mn-lt"/>
                <a:cs typeface="+mn-lt"/>
              </a:rPr>
              <a:t>NumberFormat</a:t>
            </a:r>
            <a:r>
              <a:rPr lang="en-US" sz="700" dirty="0">
                <a:ea typeface="+mn-lt"/>
                <a:cs typeface="+mn-lt"/>
              </a:rPr>
              <a:t> = "#,##0"</a:t>
            </a:r>
          </a:p>
          <a:p>
            <a:r>
              <a:rPr lang="en-US" sz="700" dirty="0">
                <a:ea typeface="+mn-lt"/>
                <a:cs typeface="+mn-lt"/>
              </a:rPr>
              <a:t>    Range("I2:I" &amp; </a:t>
            </a:r>
            <a:r>
              <a:rPr lang="en-US" sz="700" err="1">
                <a:ea typeface="+mn-lt"/>
                <a:cs typeface="+mn-lt"/>
              </a:rPr>
              <a:t>lastRow</a:t>
            </a:r>
            <a:r>
              <a:rPr lang="en-US" sz="700" dirty="0">
                <a:ea typeface="+mn-lt"/>
                <a:cs typeface="+mn-lt"/>
              </a:rPr>
              <a:t>).</a:t>
            </a:r>
            <a:r>
              <a:rPr lang="en-US" sz="700" err="1">
                <a:ea typeface="+mn-lt"/>
                <a:cs typeface="+mn-lt"/>
              </a:rPr>
              <a:t>NumberFormat</a:t>
            </a:r>
            <a:r>
              <a:rPr lang="en-US" sz="700" dirty="0">
                <a:ea typeface="+mn-lt"/>
                <a:cs typeface="+mn-lt"/>
              </a:rPr>
              <a:t> = "₹#,##0.00"</a:t>
            </a:r>
          </a:p>
          <a:p>
            <a:endParaRPr lang="en-US" sz="700" dirty="0">
              <a:cs typeface="Arial"/>
            </a:endParaRPr>
          </a:p>
          <a:p>
            <a:r>
              <a:rPr lang="en-US" sz="700" dirty="0">
                <a:ea typeface="+mn-lt"/>
                <a:cs typeface="+mn-lt"/>
              </a:rPr>
              <a:t>    </a:t>
            </a:r>
            <a:r>
              <a:rPr lang="en-US" sz="700" err="1">
                <a:ea typeface="+mn-lt"/>
                <a:cs typeface="+mn-lt"/>
              </a:rPr>
              <a:t>Application.ScreenUpdating</a:t>
            </a:r>
            <a:r>
              <a:rPr lang="en-US" sz="700" dirty="0">
                <a:ea typeface="+mn-lt"/>
                <a:cs typeface="+mn-lt"/>
              </a:rPr>
              <a:t> = True</a:t>
            </a:r>
          </a:p>
          <a:p>
            <a:r>
              <a:rPr lang="en-US" sz="700" dirty="0">
                <a:ea typeface="+mn-lt"/>
                <a:cs typeface="+mn-lt"/>
              </a:rPr>
              <a:t>    </a:t>
            </a:r>
            <a:r>
              <a:rPr lang="en-US" sz="700" err="1">
                <a:ea typeface="+mn-lt"/>
                <a:cs typeface="+mn-lt"/>
              </a:rPr>
              <a:t>MsgBox</a:t>
            </a:r>
            <a:r>
              <a:rPr lang="en-US" sz="700" dirty="0">
                <a:ea typeface="+mn-lt"/>
                <a:cs typeface="+mn-lt"/>
              </a:rPr>
              <a:t> "Inventory analysis complete!" &amp; </a:t>
            </a:r>
            <a:r>
              <a:rPr lang="en-US" sz="700" err="1">
                <a:ea typeface="+mn-lt"/>
                <a:cs typeface="+mn-lt"/>
              </a:rPr>
              <a:t>vbCrLf</a:t>
            </a:r>
            <a:r>
              <a:rPr lang="en-US" sz="700" dirty="0">
                <a:ea typeface="+mn-lt"/>
                <a:cs typeface="+mn-lt"/>
              </a:rPr>
              <a:t> &amp; _</a:t>
            </a:r>
          </a:p>
          <a:p>
            <a:r>
              <a:rPr lang="en-US" sz="700" dirty="0">
                <a:ea typeface="+mn-lt"/>
                <a:cs typeface="+mn-lt"/>
              </a:rPr>
              <a:t>           "Processed " &amp; (</a:t>
            </a:r>
            <a:r>
              <a:rPr lang="en-US" sz="700" dirty="0" err="1">
                <a:ea typeface="+mn-lt"/>
                <a:cs typeface="+mn-lt"/>
              </a:rPr>
              <a:t>lastRow</a:t>
            </a:r>
            <a:r>
              <a:rPr lang="en-US" sz="700" dirty="0">
                <a:ea typeface="+mn-lt"/>
                <a:cs typeface="+mn-lt"/>
              </a:rPr>
              <a:t> - 1) &amp; " fuel types.", </a:t>
            </a:r>
            <a:r>
              <a:rPr lang="en-US" sz="700" dirty="0" err="1">
                <a:ea typeface="+mn-lt"/>
                <a:cs typeface="+mn-lt"/>
              </a:rPr>
              <a:t>vbInformation</a:t>
            </a:r>
            <a:r>
              <a:rPr lang="en-US" sz="700" dirty="0">
                <a:ea typeface="+mn-lt"/>
                <a:cs typeface="+mn-lt"/>
              </a:rPr>
              <a:t>, "HPCL System"</a:t>
            </a:r>
          </a:p>
          <a:p>
            <a:r>
              <a:rPr lang="en-US" sz="700" dirty="0">
                <a:ea typeface="+mn-lt"/>
                <a:cs typeface="+mn-lt"/>
              </a:rPr>
              <a:t>End Sub</a:t>
            </a:r>
          </a:p>
        </p:txBody>
      </p:sp>
    </p:spTree>
    <p:extLst>
      <p:ext uri="{BB962C8B-B14F-4D97-AF65-F5344CB8AC3E}">
        <p14:creationId xmlns:p14="http://schemas.microsoft.com/office/powerpoint/2010/main" val="82672050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>
          <a:extLst>
            <a:ext uri="{FF2B5EF4-FFF2-40B4-BE49-F238E27FC236}">
              <a16:creationId xmlns:a16="http://schemas.microsoft.com/office/drawing/2014/main" id="{5AD59AB7-4BBC-2853-055F-4491475324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6">
            <a:extLst>
              <a:ext uri="{FF2B5EF4-FFF2-40B4-BE49-F238E27FC236}">
                <a16:creationId xmlns:a16="http://schemas.microsoft.com/office/drawing/2014/main" id="{9CAE648D-765A-A4C7-2C29-47E065F5620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48080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 fontScale="90000"/>
          </a:bodyPr>
          <a:lstStyle/>
          <a:p>
            <a:r>
              <a:rPr lang="en-US" sz="3200" b="1" dirty="0">
                <a:solidFill>
                  <a:srgbClr val="1E2761"/>
                </a:solidFill>
                <a:latin typeface="Arial Black"/>
              </a:rPr>
              <a:t>Assignment: Expected Output</a:t>
            </a:r>
            <a:endParaRPr lang="en-US" sz="3200" dirty="0">
              <a:latin typeface="Arial Black"/>
            </a:endParaRPr>
          </a:p>
          <a:p>
            <a:pPr marL="0" lv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endParaRPr b="1" dirty="0"/>
          </a:p>
        </p:txBody>
      </p:sp>
      <p:sp>
        <p:nvSpPr>
          <p:cNvPr id="89" name="Google Shape;89;p6">
            <a:extLst>
              <a:ext uri="{FF2B5EF4-FFF2-40B4-BE49-F238E27FC236}">
                <a16:creationId xmlns:a16="http://schemas.microsoft.com/office/drawing/2014/main" id="{5CD026B9-479E-9B89-D651-5544B815D492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SzPts val="900"/>
              <a:buNone/>
            </a:pPr>
            <a:endParaRPr sz="900"/>
          </a:p>
        </p:txBody>
      </p:sp>
      <p:sp>
        <p:nvSpPr>
          <p:cNvPr id="91" name="Google Shape;91;p6">
            <a:extLst>
              <a:ext uri="{FF2B5EF4-FFF2-40B4-BE49-F238E27FC236}">
                <a16:creationId xmlns:a16="http://schemas.microsoft.com/office/drawing/2014/main" id="{49ADE8DE-F316-A031-7805-93E6C5FE115B}"/>
              </a:ext>
            </a:extLst>
          </p:cNvPr>
          <p:cNvSpPr/>
          <p:nvPr/>
        </p:nvSpPr>
        <p:spPr>
          <a:xfrm>
            <a:off x="311700" y="116515"/>
            <a:ext cx="4601662" cy="219808"/>
          </a:xfrm>
          <a:prstGeom prst="roundRect">
            <a:avLst>
              <a:gd name="adj" fmla="val 16667"/>
            </a:avLst>
          </a:prstGeom>
          <a:solidFill>
            <a:srgbClr val="00B05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" name="Google Shape;92;p6">
            <a:extLst>
              <a:ext uri="{FF2B5EF4-FFF2-40B4-BE49-F238E27FC236}">
                <a16:creationId xmlns:a16="http://schemas.microsoft.com/office/drawing/2014/main" id="{93D43BD1-245D-D5ED-9FD8-B3BBDB47ECBD}"/>
              </a:ext>
            </a:extLst>
          </p:cNvPr>
          <p:cNvSpPr/>
          <p:nvPr/>
        </p:nvSpPr>
        <p:spPr>
          <a:xfrm>
            <a:off x="4230638" y="4812031"/>
            <a:ext cx="4601662" cy="219808"/>
          </a:xfrm>
          <a:prstGeom prst="roundRect">
            <a:avLst>
              <a:gd name="adj" fmla="val 16667"/>
            </a:avLst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" name="Picture 1" descr="A logo with blue and green text&#10;&#10;AI-generated content may be incorrect.">
            <a:extLst>
              <a:ext uri="{FF2B5EF4-FFF2-40B4-BE49-F238E27FC236}">
                <a16:creationId xmlns:a16="http://schemas.microsoft.com/office/drawing/2014/main" id="{7FDBED36-567A-1F6E-1B4E-7A9F377E01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53880" y="15346"/>
            <a:ext cx="1266825" cy="46672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74529A30-7F2E-8255-9E70-55F4919F2F09}"/>
              </a:ext>
            </a:extLst>
          </p:cNvPr>
          <p:cNvSpPr txBox="1"/>
          <p:nvPr/>
        </p:nvSpPr>
        <p:spPr>
          <a:xfrm>
            <a:off x="179917" y="4804833"/>
            <a:ext cx="4572000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000" i="1">
                <a:solidFill>
                  <a:srgbClr val="595959"/>
                </a:solidFill>
                <a:latin typeface="Arial"/>
                <a:ea typeface="Arial"/>
                <a:cs typeface="Arial"/>
              </a:rPr>
              <a:t>© insanalytics</a:t>
            </a:r>
            <a:endParaRPr lang="en-US"/>
          </a:p>
          <a:p>
            <a:pPr algn="ctr"/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FFD50AEF-D658-ED10-2E66-A55122216B14}"/>
              </a:ext>
            </a:extLst>
          </p:cNvPr>
          <p:cNvSpPr/>
          <p:nvPr/>
        </p:nvSpPr>
        <p:spPr>
          <a:xfrm>
            <a:off x="457200" y="96012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2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After running the macro, your spreadsheet should look like this:</a:t>
            </a:r>
            <a:endParaRPr lang="en-US" sz="1200" dirty="0"/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794CD189-4F4A-D2C6-1534-BB4E9C58B7A7}"/>
              </a:ext>
            </a:extLst>
          </p:cNvPr>
          <p:cNvSpPr/>
          <p:nvPr/>
        </p:nvSpPr>
        <p:spPr>
          <a:xfrm>
            <a:off x="457200" y="29260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Insights from Output:</a:t>
            </a:r>
            <a:endParaRPr lang="en-US" sz="1400" dirty="0"/>
          </a:p>
        </p:txBody>
      </p:sp>
      <p:pic>
        <p:nvPicPr>
          <p:cNvPr id="6" name="Image 0">
            <a:extLst>
              <a:ext uri="{FF2B5EF4-FFF2-40B4-BE49-F238E27FC236}">
                <a16:creationId xmlns:a16="http://schemas.microsoft.com/office/drawing/2014/main" id="{BA4A8636-C9CB-F738-E013-8E6A782B788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360" y="3360420"/>
            <a:ext cx="274320" cy="274320"/>
          </a:xfrm>
          <a:prstGeom prst="rect">
            <a:avLst/>
          </a:prstGeom>
        </p:spPr>
      </p:pic>
      <p:sp>
        <p:nvSpPr>
          <p:cNvPr id="7" name="Text 4">
            <a:extLst>
              <a:ext uri="{FF2B5EF4-FFF2-40B4-BE49-F238E27FC236}">
                <a16:creationId xmlns:a16="http://schemas.microsoft.com/office/drawing/2014/main" id="{FB56CF69-8794-27EF-0930-4AAABA54FE1D}"/>
              </a:ext>
            </a:extLst>
          </p:cNvPr>
          <p:cNvSpPr/>
          <p:nvPr/>
        </p:nvSpPr>
        <p:spPr>
          <a:xfrm>
            <a:off x="960120" y="3337560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Critical Alert!</a:t>
            </a:r>
            <a:endParaRPr lang="en-US" sz="1100" dirty="0"/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AC3F19F6-677D-E48E-09C0-DC5EF24FA02D}"/>
              </a:ext>
            </a:extLst>
          </p:cNvPr>
          <p:cNvSpPr/>
          <p:nvPr/>
        </p:nvSpPr>
        <p:spPr>
          <a:xfrm>
            <a:off x="3291840" y="3337560"/>
            <a:ext cx="5212080" cy="32004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fuel types below minimum stock - immediate reorder required</a:t>
            </a:r>
            <a:endParaRPr lang="en-US" sz="1000" dirty="0"/>
          </a:p>
        </p:txBody>
      </p:sp>
      <p:pic>
        <p:nvPicPr>
          <p:cNvPr id="9" name="Image 1">
            <a:extLst>
              <a:ext uri="{FF2B5EF4-FFF2-40B4-BE49-F238E27FC236}">
                <a16:creationId xmlns:a16="http://schemas.microsoft.com/office/drawing/2014/main" id="{84C7C9AE-A67A-27F7-7042-EE49500E1FE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4360" y="3863340"/>
            <a:ext cx="274320" cy="274320"/>
          </a:xfrm>
          <a:prstGeom prst="rect">
            <a:avLst/>
          </a:prstGeom>
        </p:spPr>
      </p:pic>
      <p:sp>
        <p:nvSpPr>
          <p:cNvPr id="10" name="Text 7">
            <a:extLst>
              <a:ext uri="{FF2B5EF4-FFF2-40B4-BE49-F238E27FC236}">
                <a16:creationId xmlns:a16="http://schemas.microsoft.com/office/drawing/2014/main" id="{CB1AF817-78EF-1A0D-5D15-47DDB48AD34D}"/>
              </a:ext>
            </a:extLst>
          </p:cNvPr>
          <p:cNvSpPr/>
          <p:nvPr/>
        </p:nvSpPr>
        <p:spPr>
          <a:xfrm>
            <a:off x="960120" y="3840480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Reorder Cost:</a:t>
            </a:r>
            <a:endParaRPr lang="en-US" sz="1100" dirty="0"/>
          </a:p>
        </p:txBody>
      </p:sp>
      <p:sp>
        <p:nvSpPr>
          <p:cNvPr id="11" name="Text 8">
            <a:extLst>
              <a:ext uri="{FF2B5EF4-FFF2-40B4-BE49-F238E27FC236}">
                <a16:creationId xmlns:a16="http://schemas.microsoft.com/office/drawing/2014/main" id="{9C6A0982-C2C8-7F2C-8259-6272ECE32610}"/>
              </a:ext>
            </a:extLst>
          </p:cNvPr>
          <p:cNvSpPr/>
          <p:nvPr/>
        </p:nvSpPr>
        <p:spPr>
          <a:xfrm>
            <a:off x="3291840" y="3840480"/>
            <a:ext cx="5212080" cy="32004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₹5,11,65,250 needed to refill all tanks to maximum capacity</a:t>
            </a:r>
            <a:endParaRPr lang="en-US" sz="1000" dirty="0"/>
          </a:p>
        </p:txBody>
      </p:sp>
      <p:pic>
        <p:nvPicPr>
          <p:cNvPr id="12" name="Image 2">
            <a:extLst>
              <a:ext uri="{FF2B5EF4-FFF2-40B4-BE49-F238E27FC236}">
                <a16:creationId xmlns:a16="http://schemas.microsoft.com/office/drawing/2014/main" id="{692AC914-CD0A-E651-9D3F-363E532A6BA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4360" y="4366260"/>
            <a:ext cx="274320" cy="274320"/>
          </a:xfrm>
          <a:prstGeom prst="rect">
            <a:avLst/>
          </a:prstGeom>
        </p:spPr>
      </p:pic>
      <p:sp>
        <p:nvSpPr>
          <p:cNvPr id="13" name="Text 10">
            <a:extLst>
              <a:ext uri="{FF2B5EF4-FFF2-40B4-BE49-F238E27FC236}">
                <a16:creationId xmlns:a16="http://schemas.microsoft.com/office/drawing/2014/main" id="{4081E56B-2ECC-BF45-72A6-DDA75DBB47A3}"/>
              </a:ext>
            </a:extLst>
          </p:cNvPr>
          <p:cNvSpPr/>
          <p:nvPr/>
        </p:nvSpPr>
        <p:spPr>
          <a:xfrm>
            <a:off x="960120" y="4343400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Action Required:</a:t>
            </a:r>
            <a:endParaRPr lang="en-US" sz="1100" dirty="0"/>
          </a:p>
        </p:txBody>
      </p:sp>
      <p:sp>
        <p:nvSpPr>
          <p:cNvPr id="14" name="Text 11">
            <a:extLst>
              <a:ext uri="{FF2B5EF4-FFF2-40B4-BE49-F238E27FC236}">
                <a16:creationId xmlns:a16="http://schemas.microsoft.com/office/drawing/2014/main" id="{D5E2B314-75C7-A2B4-6A90-D7B751FF5E4C}"/>
              </a:ext>
            </a:extLst>
          </p:cNvPr>
          <p:cNvSpPr/>
          <p:nvPr/>
        </p:nvSpPr>
        <p:spPr>
          <a:xfrm>
            <a:off x="3291840" y="4343400"/>
            <a:ext cx="5212080" cy="32004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Diesel has only 7.1 days of stock - schedule delivery within 3 days</a:t>
            </a:r>
            <a:endParaRPr lang="en-US" sz="1000" dirty="0"/>
          </a:p>
        </p:txBody>
      </p:sp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07548625-99FE-026C-8AB1-E0EA2A2B18E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23956530"/>
              </p:ext>
            </p:extLst>
          </p:nvPr>
        </p:nvGraphicFramePr>
        <p:xfrm>
          <a:off x="487362" y="1419013"/>
          <a:ext cx="8201025" cy="1310640"/>
        </p:xfrm>
        <a:graphic>
          <a:graphicData uri="http://schemas.openxmlformats.org/drawingml/2006/table">
            <a:tbl>
              <a:tblPr firstRow="1" bandRow="1">
                <a:tableStyleId>{08A1B857-8DE8-4F13-9AAE-FEED5DC71FBA}</a:tableStyleId>
              </a:tblPr>
              <a:tblGrid>
                <a:gridCol w="1171575">
                  <a:extLst>
                    <a:ext uri="{9D8B030D-6E8A-4147-A177-3AD203B41FA5}">
                      <a16:colId xmlns:a16="http://schemas.microsoft.com/office/drawing/2014/main" val="1970310651"/>
                    </a:ext>
                  </a:extLst>
                </a:gridCol>
                <a:gridCol w="1171575">
                  <a:extLst>
                    <a:ext uri="{9D8B030D-6E8A-4147-A177-3AD203B41FA5}">
                      <a16:colId xmlns:a16="http://schemas.microsoft.com/office/drawing/2014/main" val="3258375222"/>
                    </a:ext>
                  </a:extLst>
                </a:gridCol>
                <a:gridCol w="1171575">
                  <a:extLst>
                    <a:ext uri="{9D8B030D-6E8A-4147-A177-3AD203B41FA5}">
                      <a16:colId xmlns:a16="http://schemas.microsoft.com/office/drawing/2014/main" val="1371410026"/>
                    </a:ext>
                  </a:extLst>
                </a:gridCol>
                <a:gridCol w="1171575">
                  <a:extLst>
                    <a:ext uri="{9D8B030D-6E8A-4147-A177-3AD203B41FA5}">
                      <a16:colId xmlns:a16="http://schemas.microsoft.com/office/drawing/2014/main" val="2401062293"/>
                    </a:ext>
                  </a:extLst>
                </a:gridCol>
                <a:gridCol w="1171575">
                  <a:extLst>
                    <a:ext uri="{9D8B030D-6E8A-4147-A177-3AD203B41FA5}">
                      <a16:colId xmlns:a16="http://schemas.microsoft.com/office/drawing/2014/main" val="1247213765"/>
                    </a:ext>
                  </a:extLst>
                </a:gridCol>
                <a:gridCol w="1171575">
                  <a:extLst>
                    <a:ext uri="{9D8B030D-6E8A-4147-A177-3AD203B41FA5}">
                      <a16:colId xmlns:a16="http://schemas.microsoft.com/office/drawing/2014/main" val="2726894972"/>
                    </a:ext>
                  </a:extLst>
                </a:gridCol>
                <a:gridCol w="1171575">
                  <a:extLst>
                    <a:ext uri="{9D8B030D-6E8A-4147-A177-3AD203B41FA5}">
                      <a16:colId xmlns:a16="http://schemas.microsoft.com/office/drawing/2014/main" val="1171252803"/>
                    </a:ext>
                  </a:extLst>
                </a:gridCol>
              </a:tblGrid>
              <a:tr h="238125">
                <a:tc>
                  <a:txBody>
                    <a:bodyPr/>
                    <a:lstStyle/>
                    <a:p>
                      <a:pPr algn="ctr" fontAlgn="base">
                        <a:lnSpc>
                          <a:spcPts val="1200"/>
                        </a:lnSpc>
                        <a:buNone/>
                      </a:pPr>
                      <a:r>
                        <a:rPr lang="en-US" sz="1000" b="1" i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Fuel Type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anchor="ctr">
                    <a:lnL w="10897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897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897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897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32F2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1200"/>
                        </a:lnSpc>
                        <a:buNone/>
                      </a:pPr>
                      <a:r>
                        <a:rPr lang="en-US" sz="1000" b="1" i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Current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anchor="ctr">
                    <a:lnL w="10897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897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897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897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32F2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1200"/>
                        </a:lnSpc>
                        <a:buNone/>
                      </a:pPr>
                      <a:r>
                        <a:rPr lang="en-US" sz="1000" b="1" i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Min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anchor="ctr">
                    <a:lnL w="10897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897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897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897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32F2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1200"/>
                        </a:lnSpc>
                        <a:buNone/>
                      </a:pPr>
                      <a:r>
                        <a:rPr lang="en-US" sz="1000" b="1" i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Days Out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anchor="ctr">
                    <a:lnL w="10897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897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897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897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32F2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1200"/>
                        </a:lnSpc>
                        <a:buNone/>
                      </a:pPr>
                      <a:r>
                        <a:rPr lang="en-US" sz="1000" b="1" i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Reorder Qty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anchor="ctr">
                    <a:lnL w="10897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897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897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897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32F2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1200"/>
                        </a:lnSpc>
                        <a:buNone/>
                      </a:pPr>
                      <a:r>
                        <a:rPr lang="en-US" sz="1000" b="1" i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Cost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anchor="ctr">
                    <a:lnL w="10897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897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897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897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32F2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1200"/>
                        </a:lnSpc>
                        <a:buNone/>
                      </a:pPr>
                      <a:r>
                        <a:rPr lang="en-US" sz="1000" b="1" i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Status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anchor="ctr">
                    <a:lnL w="10897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897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897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897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32F2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95806482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algn="ctr" fontAlgn="base">
                        <a:lnSpc>
                          <a:spcPts val="1200"/>
                        </a:lnSpc>
                        <a:buNone/>
                      </a:pPr>
                      <a:r>
                        <a:rPr lang="en-US" sz="1000" b="0" i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Petrol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anchor="ctr">
                    <a:lnL w="10897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897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897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897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1200"/>
                        </a:lnSpc>
                        <a:buNone/>
                      </a:pPr>
                      <a:r>
                        <a:rPr lang="en-US" sz="1000" b="0" i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25,000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anchor="ctr">
                    <a:lnL w="10897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897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897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897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1200"/>
                        </a:lnSpc>
                        <a:buNone/>
                      </a:pPr>
                      <a:r>
                        <a:rPr lang="en-US" sz="1000" b="0" i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50,000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anchor="ctr">
                    <a:lnL w="10897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897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897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897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1200"/>
                        </a:lnSpc>
                        <a:buNone/>
                      </a:pPr>
                      <a:r>
                        <a:rPr lang="en-US" sz="1000" b="0" i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2.9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anchor="ctr">
                    <a:lnL w="10897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897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897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897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1200"/>
                        </a:lnSpc>
                        <a:buNone/>
                      </a:pPr>
                      <a:r>
                        <a:rPr lang="en-US" sz="1000" b="0" i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175,000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anchor="ctr">
                    <a:lnL w="10897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897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897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897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1200"/>
                        </a:lnSpc>
                        <a:buNone/>
                      </a:pPr>
                      <a:r>
                        <a:rPr lang="en-US" sz="1000" b="0" i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₹1,79,37,500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anchor="ctr">
                    <a:lnL w="10897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897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897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897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1200"/>
                        </a:lnSpc>
                        <a:buNone/>
                      </a:pPr>
                      <a:r>
                        <a:rPr lang="en-US" sz="1000" b="1" i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CRITICAL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anchor="ctr">
                    <a:lnL w="10897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897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897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897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44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7602914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algn="ctr" fontAlgn="base">
                        <a:lnSpc>
                          <a:spcPts val="1200"/>
                        </a:lnSpc>
                        <a:buNone/>
                      </a:pPr>
                      <a:r>
                        <a:rPr lang="en-US" sz="1000" b="0" i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Diesel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anchor="ctr">
                    <a:lnL w="10897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897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897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897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1200"/>
                        </a:lnSpc>
                        <a:buNone/>
                      </a:pPr>
                      <a:r>
                        <a:rPr lang="en-US" sz="1000" b="0" i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85,000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anchor="ctr">
                    <a:lnL w="10897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897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897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897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1200"/>
                        </a:lnSpc>
                        <a:buNone/>
                      </a:pPr>
                      <a:r>
                        <a:rPr lang="en-US" sz="1000" b="0" i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60,000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anchor="ctr">
                    <a:lnL w="10897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897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897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897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1200"/>
                        </a:lnSpc>
                        <a:buNone/>
                      </a:pPr>
                      <a:r>
                        <a:rPr lang="en-US" sz="1000" b="0" i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7.1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anchor="ctr">
                    <a:lnL w="10897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897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897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897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1200"/>
                        </a:lnSpc>
                        <a:buNone/>
                      </a:pPr>
                      <a:r>
                        <a:rPr lang="en-US" sz="1000" b="0" i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165,000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anchor="ctr">
                    <a:lnL w="10897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897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897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897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1200"/>
                        </a:lnSpc>
                        <a:buNone/>
                      </a:pPr>
                      <a:r>
                        <a:rPr lang="en-US" sz="1000" b="0" i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₹1,48,08,750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anchor="ctr">
                    <a:lnL w="10897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897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897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897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1200"/>
                        </a:lnSpc>
                        <a:buNone/>
                      </a:pPr>
                      <a:r>
                        <a:rPr lang="en-US" sz="1000" b="1" i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WARNING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anchor="ctr">
                    <a:lnL w="10897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897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897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897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9E0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28226330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algn="ctr" fontAlgn="base">
                        <a:lnSpc>
                          <a:spcPts val="1200"/>
                        </a:lnSpc>
                        <a:buNone/>
                      </a:pPr>
                      <a:r>
                        <a:rPr lang="en-US" sz="1000" b="0" i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Aviation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anchor="ctr">
                    <a:lnL w="10897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897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897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897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1200"/>
                        </a:lnSpc>
                        <a:buNone/>
                      </a:pPr>
                      <a:r>
                        <a:rPr lang="en-US" sz="1000" b="0" i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15,000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anchor="ctr">
                    <a:lnL w="10897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897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897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897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1200"/>
                        </a:lnSpc>
                        <a:buNone/>
                      </a:pPr>
                      <a:r>
                        <a:rPr lang="en-US" sz="1000" b="0" i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20,000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anchor="ctr">
                    <a:lnL w="10897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897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897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897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1200"/>
                        </a:lnSpc>
                        <a:buNone/>
                      </a:pPr>
                      <a:r>
                        <a:rPr lang="en-US" sz="1000" b="0" i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4.7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anchor="ctr">
                    <a:lnL w="10897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897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897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897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1200"/>
                        </a:lnSpc>
                        <a:buNone/>
                      </a:pPr>
                      <a:r>
                        <a:rPr lang="en-US" sz="1000" b="0" i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85,000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anchor="ctr">
                    <a:lnL w="10897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897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897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897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1200"/>
                        </a:lnSpc>
                        <a:buNone/>
                      </a:pPr>
                      <a:r>
                        <a:rPr lang="en-US" sz="1000" b="0" i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₹1,06,25,000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anchor="ctr">
                    <a:lnL w="10897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897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897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897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1200"/>
                        </a:lnSpc>
                        <a:buNone/>
                      </a:pPr>
                      <a:r>
                        <a:rPr lang="en-US" sz="1000" b="1" i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CRITICAL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anchor="ctr">
                    <a:lnL w="10897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897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897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897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44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39067847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algn="ctr" fontAlgn="base">
                        <a:lnSpc>
                          <a:spcPts val="1200"/>
                        </a:lnSpc>
                        <a:buNone/>
                      </a:pPr>
                      <a:r>
                        <a:rPr lang="en-US" sz="1000" b="0" i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Premium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anchor="ctr">
                    <a:lnL w="10897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897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897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897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1200"/>
                        </a:lnSpc>
                        <a:buNone/>
                      </a:pPr>
                      <a:r>
                        <a:rPr lang="en-US" sz="1000" b="0" i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8,000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anchor="ctr">
                    <a:lnL w="10897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897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897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897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1200"/>
                        </a:lnSpc>
                        <a:buNone/>
                      </a:pPr>
                      <a:r>
                        <a:rPr lang="en-US" sz="1000" b="0" i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15,000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anchor="ctr">
                    <a:lnL w="10897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897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897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897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1200"/>
                        </a:lnSpc>
                        <a:buNone/>
                      </a:pPr>
                      <a:r>
                        <a:rPr lang="en-US" sz="1000" b="0" i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3.8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anchor="ctr">
                    <a:lnL w="10897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897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897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897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1200"/>
                        </a:lnSpc>
                        <a:buNone/>
                      </a:pPr>
                      <a:r>
                        <a:rPr lang="en-US" sz="1000" b="0" i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72,000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anchor="ctr">
                    <a:lnL w="10897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897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897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897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1200"/>
                        </a:lnSpc>
                        <a:buNone/>
                      </a:pPr>
                      <a:r>
                        <a:rPr lang="en-US" sz="1000" b="0" i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₹77,94,000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anchor="ctr">
                    <a:lnL w="10897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897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897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897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1200"/>
                        </a:lnSpc>
                        <a:buNone/>
                      </a:pPr>
                      <a:r>
                        <a:rPr lang="en-US" sz="1000" b="1" i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CRITICAL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anchor="ctr">
                    <a:lnL w="10897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897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897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897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44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513916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9456039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>
          <a:extLst>
            <a:ext uri="{FF2B5EF4-FFF2-40B4-BE49-F238E27FC236}">
              <a16:creationId xmlns:a16="http://schemas.microsoft.com/office/drawing/2014/main" id="{A1029C5F-CED4-BD2A-D864-5ECDDB6AA6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6">
            <a:extLst>
              <a:ext uri="{FF2B5EF4-FFF2-40B4-BE49-F238E27FC236}">
                <a16:creationId xmlns:a16="http://schemas.microsoft.com/office/drawing/2014/main" id="{86210769-5933-D5E2-52E2-33657286DB6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618388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 fontScale="90000"/>
          </a:bodyPr>
          <a:lstStyle/>
          <a:p>
            <a:r>
              <a:rPr lang="en-US" sz="4000" b="1" dirty="0">
                <a:solidFill>
                  <a:srgbClr val="1E2761"/>
                </a:solidFill>
                <a:latin typeface="Arial Black"/>
              </a:rPr>
              <a:t>Common Mistakes to Avoid</a:t>
            </a:r>
            <a:endParaRPr lang="en-US" sz="4000" dirty="0">
              <a:latin typeface="Arial Black"/>
            </a:endParaRPr>
          </a:p>
          <a:p>
            <a:pPr marL="0" lv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endParaRPr b="1" dirty="0"/>
          </a:p>
        </p:txBody>
      </p:sp>
      <p:sp>
        <p:nvSpPr>
          <p:cNvPr id="89" name="Google Shape;89;p6">
            <a:extLst>
              <a:ext uri="{FF2B5EF4-FFF2-40B4-BE49-F238E27FC236}">
                <a16:creationId xmlns:a16="http://schemas.microsoft.com/office/drawing/2014/main" id="{EC8E49FD-E1D9-308A-1C68-513BC47BCEA2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SzPts val="900"/>
              <a:buNone/>
            </a:pPr>
            <a:endParaRPr sz="900"/>
          </a:p>
        </p:txBody>
      </p:sp>
      <p:sp>
        <p:nvSpPr>
          <p:cNvPr id="91" name="Google Shape;91;p6">
            <a:extLst>
              <a:ext uri="{FF2B5EF4-FFF2-40B4-BE49-F238E27FC236}">
                <a16:creationId xmlns:a16="http://schemas.microsoft.com/office/drawing/2014/main" id="{7FA9FDEF-A193-132E-7F84-76806678787F}"/>
              </a:ext>
            </a:extLst>
          </p:cNvPr>
          <p:cNvSpPr/>
          <p:nvPr/>
        </p:nvSpPr>
        <p:spPr>
          <a:xfrm>
            <a:off x="311700" y="116515"/>
            <a:ext cx="4601662" cy="219808"/>
          </a:xfrm>
          <a:prstGeom prst="roundRect">
            <a:avLst>
              <a:gd name="adj" fmla="val 16667"/>
            </a:avLst>
          </a:prstGeom>
          <a:solidFill>
            <a:srgbClr val="00B05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" name="Google Shape;92;p6">
            <a:extLst>
              <a:ext uri="{FF2B5EF4-FFF2-40B4-BE49-F238E27FC236}">
                <a16:creationId xmlns:a16="http://schemas.microsoft.com/office/drawing/2014/main" id="{AA9883A8-1886-38BC-D744-6944D292A6A9}"/>
              </a:ext>
            </a:extLst>
          </p:cNvPr>
          <p:cNvSpPr/>
          <p:nvPr/>
        </p:nvSpPr>
        <p:spPr>
          <a:xfrm>
            <a:off x="4230638" y="4812031"/>
            <a:ext cx="4601662" cy="219808"/>
          </a:xfrm>
          <a:prstGeom prst="roundRect">
            <a:avLst>
              <a:gd name="adj" fmla="val 16667"/>
            </a:avLst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" name="Picture 1" descr="A logo with blue and green text&#10;&#10;AI-generated content may be incorrect.">
            <a:extLst>
              <a:ext uri="{FF2B5EF4-FFF2-40B4-BE49-F238E27FC236}">
                <a16:creationId xmlns:a16="http://schemas.microsoft.com/office/drawing/2014/main" id="{B61544FB-9BC1-2AA6-5754-8960FD572C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53880" y="15346"/>
            <a:ext cx="1266825" cy="46672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27F786BA-1981-F08F-4F1D-F6CF96035564}"/>
              </a:ext>
            </a:extLst>
          </p:cNvPr>
          <p:cNvSpPr txBox="1"/>
          <p:nvPr/>
        </p:nvSpPr>
        <p:spPr>
          <a:xfrm>
            <a:off x="179917" y="4804833"/>
            <a:ext cx="4572000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000" i="1">
                <a:solidFill>
                  <a:srgbClr val="595959"/>
                </a:solidFill>
                <a:latin typeface="Arial"/>
                <a:ea typeface="Arial"/>
                <a:cs typeface="Arial"/>
              </a:rPr>
              <a:t>© insanalytics</a:t>
            </a:r>
            <a:endParaRPr lang="en-US"/>
          </a:p>
          <a:p>
            <a:pPr algn="ctr"/>
            <a:endParaRPr lang="en-US"/>
          </a:p>
        </p:txBody>
      </p:sp>
      <p:sp>
        <p:nvSpPr>
          <p:cNvPr id="3" name="Text 2">
            <a:extLst>
              <a:ext uri="{FF2B5EF4-FFF2-40B4-BE49-F238E27FC236}">
                <a16:creationId xmlns:a16="http://schemas.microsoft.com/office/drawing/2014/main" id="{AE952B1D-69CD-F474-F7BE-495967D2DE3A}"/>
              </a:ext>
            </a:extLst>
          </p:cNvPr>
          <p:cNvSpPr/>
          <p:nvPr/>
        </p:nvSpPr>
        <p:spPr>
          <a:xfrm>
            <a:off x="822960" y="1188720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Using Option Explicit</a:t>
            </a:r>
            <a:endParaRPr lang="en-US" sz="1200" dirty="0"/>
          </a:p>
        </p:txBody>
      </p:sp>
      <p:sp>
        <p:nvSpPr>
          <p:cNvPr id="5" name="Text 4">
            <a:extLst>
              <a:ext uri="{FF2B5EF4-FFF2-40B4-BE49-F238E27FC236}">
                <a16:creationId xmlns:a16="http://schemas.microsoft.com/office/drawing/2014/main" id="{1D266AAF-FE2A-E112-BF27-9D9F6F7084F5}"/>
              </a:ext>
            </a:extLst>
          </p:cNvPr>
          <p:cNvSpPr/>
          <p:nvPr/>
        </p:nvSpPr>
        <p:spPr>
          <a:xfrm>
            <a:off x="4297680" y="1261872"/>
            <a:ext cx="2011680" cy="411480"/>
          </a:xfrm>
          <a:prstGeom prst="rect">
            <a:avLst/>
          </a:prstGeom>
          <a:solidFill>
            <a:srgbClr val="FCE3B1"/>
          </a:solidFill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9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Why: </a:t>
            </a: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Allows typos in variable names to create silent bugs</a:t>
            </a:r>
            <a:endParaRPr lang="en-US" sz="900" dirty="0"/>
          </a:p>
        </p:txBody>
      </p:sp>
      <p:sp>
        <p:nvSpPr>
          <p:cNvPr id="6" name="Text 6">
            <a:extLst>
              <a:ext uri="{FF2B5EF4-FFF2-40B4-BE49-F238E27FC236}">
                <a16:creationId xmlns:a16="http://schemas.microsoft.com/office/drawing/2014/main" id="{2EAC01D1-A3FC-FB87-D468-2EF46B73EFB6}"/>
              </a:ext>
            </a:extLst>
          </p:cNvPr>
          <p:cNvSpPr/>
          <p:nvPr/>
        </p:nvSpPr>
        <p:spPr>
          <a:xfrm>
            <a:off x="6583680" y="1261872"/>
            <a:ext cx="2011680" cy="411480"/>
          </a:xfrm>
          <a:prstGeom prst="rect">
            <a:avLst/>
          </a:prstGeom>
          <a:solidFill>
            <a:srgbClr val="D2FADD"/>
          </a:solidFill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9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Fix: </a:t>
            </a: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'Option Explicit' at top of module</a:t>
            </a:r>
            <a:endParaRPr lang="en-US" sz="900" dirty="0"/>
          </a:p>
        </p:txBody>
      </p:sp>
      <p:sp>
        <p:nvSpPr>
          <p:cNvPr id="7" name="Text 8">
            <a:extLst>
              <a:ext uri="{FF2B5EF4-FFF2-40B4-BE49-F238E27FC236}">
                <a16:creationId xmlns:a16="http://schemas.microsoft.com/office/drawing/2014/main" id="{0BF2D418-8DA1-C8C5-39E6-FCDF7148164E}"/>
              </a:ext>
            </a:extLst>
          </p:cNvPr>
          <p:cNvSpPr/>
          <p:nvPr/>
        </p:nvSpPr>
        <p:spPr>
          <a:xfrm>
            <a:off x="822960" y="1874520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Hardcoding Cell References</a:t>
            </a:r>
            <a:endParaRPr lang="en-US" sz="1200" dirty="0"/>
          </a:p>
        </p:txBody>
      </p:sp>
      <p:sp>
        <p:nvSpPr>
          <p:cNvPr id="8" name="Text 10">
            <a:extLst>
              <a:ext uri="{FF2B5EF4-FFF2-40B4-BE49-F238E27FC236}">
                <a16:creationId xmlns:a16="http://schemas.microsoft.com/office/drawing/2014/main" id="{FEE8FDFA-2134-CFF8-0EFD-877EA6F0CB88}"/>
              </a:ext>
            </a:extLst>
          </p:cNvPr>
          <p:cNvSpPr/>
          <p:nvPr/>
        </p:nvSpPr>
        <p:spPr>
          <a:xfrm>
            <a:off x="4297680" y="1947672"/>
            <a:ext cx="2011680" cy="411480"/>
          </a:xfrm>
          <a:prstGeom prst="rect">
            <a:avLst/>
          </a:prstGeom>
          <a:solidFill>
            <a:srgbClr val="FCE3B1"/>
          </a:solidFill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9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Why: </a:t>
            </a: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Breaks if data moves or sheet structure changes</a:t>
            </a:r>
            <a:endParaRPr lang="en-US" sz="900" dirty="0"/>
          </a:p>
        </p:txBody>
      </p:sp>
      <p:sp>
        <p:nvSpPr>
          <p:cNvPr id="9" name="Text 12">
            <a:extLst>
              <a:ext uri="{FF2B5EF4-FFF2-40B4-BE49-F238E27FC236}">
                <a16:creationId xmlns:a16="http://schemas.microsoft.com/office/drawing/2014/main" id="{483A5874-D0AB-F25F-B2CB-03935C8C5F0A}"/>
              </a:ext>
            </a:extLst>
          </p:cNvPr>
          <p:cNvSpPr/>
          <p:nvPr/>
        </p:nvSpPr>
        <p:spPr>
          <a:xfrm>
            <a:off x="6583680" y="1947672"/>
            <a:ext cx="2011680" cy="411480"/>
          </a:xfrm>
          <a:prstGeom prst="rect">
            <a:avLst/>
          </a:prstGeom>
          <a:solidFill>
            <a:srgbClr val="D2FADD"/>
          </a:solidFill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9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Fix: </a:t>
            </a: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named ranges or dynamic references</a:t>
            </a:r>
            <a:endParaRPr lang="en-US" sz="900" dirty="0"/>
          </a:p>
        </p:txBody>
      </p:sp>
      <p:sp>
        <p:nvSpPr>
          <p:cNvPr id="10" name="Text 14">
            <a:extLst>
              <a:ext uri="{FF2B5EF4-FFF2-40B4-BE49-F238E27FC236}">
                <a16:creationId xmlns:a16="http://schemas.microsoft.com/office/drawing/2014/main" id="{62812B56-A3F9-238D-FC8E-3DAAF76C1D98}"/>
              </a:ext>
            </a:extLst>
          </p:cNvPr>
          <p:cNvSpPr/>
          <p:nvPr/>
        </p:nvSpPr>
        <p:spPr>
          <a:xfrm>
            <a:off x="822960" y="2560320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Selecting Cells Unnecessarily</a:t>
            </a:r>
            <a:endParaRPr lang="en-US" sz="1200" dirty="0"/>
          </a:p>
        </p:txBody>
      </p:sp>
      <p:sp>
        <p:nvSpPr>
          <p:cNvPr id="11" name="Text 16">
            <a:extLst>
              <a:ext uri="{FF2B5EF4-FFF2-40B4-BE49-F238E27FC236}">
                <a16:creationId xmlns:a16="http://schemas.microsoft.com/office/drawing/2014/main" id="{1C691FEA-7F50-47D6-DFF5-B3BF3BE0852D}"/>
              </a:ext>
            </a:extLst>
          </p:cNvPr>
          <p:cNvSpPr/>
          <p:nvPr/>
        </p:nvSpPr>
        <p:spPr>
          <a:xfrm>
            <a:off x="4297680" y="2633472"/>
            <a:ext cx="2011680" cy="411480"/>
          </a:xfrm>
          <a:prstGeom prst="rect">
            <a:avLst/>
          </a:prstGeom>
          <a:solidFill>
            <a:srgbClr val="FCE3B1"/>
          </a:solidFill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9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Why: </a:t>
            </a: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Slows down macros and causes screen flicker</a:t>
            </a:r>
            <a:endParaRPr lang="en-US" sz="900" dirty="0"/>
          </a:p>
        </p:txBody>
      </p:sp>
      <p:sp>
        <p:nvSpPr>
          <p:cNvPr id="12" name="Text 18">
            <a:extLst>
              <a:ext uri="{FF2B5EF4-FFF2-40B4-BE49-F238E27FC236}">
                <a16:creationId xmlns:a16="http://schemas.microsoft.com/office/drawing/2014/main" id="{E0F13E7D-F381-9127-3D84-8DAE665FCD9A}"/>
              </a:ext>
            </a:extLst>
          </p:cNvPr>
          <p:cNvSpPr/>
          <p:nvPr/>
        </p:nvSpPr>
        <p:spPr>
          <a:xfrm>
            <a:off x="6583680" y="2633472"/>
            <a:ext cx="2011680" cy="411480"/>
          </a:xfrm>
          <a:prstGeom prst="rect">
            <a:avLst/>
          </a:prstGeom>
          <a:solidFill>
            <a:srgbClr val="D2FADD"/>
          </a:solidFill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9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Fix: </a:t>
            </a: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 with ranges directly without selecting</a:t>
            </a:r>
            <a:endParaRPr lang="en-US" sz="900" dirty="0"/>
          </a:p>
        </p:txBody>
      </p:sp>
      <p:sp>
        <p:nvSpPr>
          <p:cNvPr id="13" name="Text 20">
            <a:extLst>
              <a:ext uri="{FF2B5EF4-FFF2-40B4-BE49-F238E27FC236}">
                <a16:creationId xmlns:a16="http://schemas.microsoft.com/office/drawing/2014/main" id="{C337602E-7581-F457-E093-96470986A890}"/>
              </a:ext>
            </a:extLst>
          </p:cNvPr>
          <p:cNvSpPr/>
          <p:nvPr/>
        </p:nvSpPr>
        <p:spPr>
          <a:xfrm>
            <a:off x="822960" y="3246120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Screen Updating Control</a:t>
            </a:r>
            <a:endParaRPr lang="en-US" sz="1200" dirty="0"/>
          </a:p>
        </p:txBody>
      </p:sp>
      <p:sp>
        <p:nvSpPr>
          <p:cNvPr id="14" name="Text 22">
            <a:extLst>
              <a:ext uri="{FF2B5EF4-FFF2-40B4-BE49-F238E27FC236}">
                <a16:creationId xmlns:a16="http://schemas.microsoft.com/office/drawing/2014/main" id="{91AF9D98-D7FC-7FCD-EA0A-8DCEA9839FB3}"/>
              </a:ext>
            </a:extLst>
          </p:cNvPr>
          <p:cNvSpPr/>
          <p:nvPr/>
        </p:nvSpPr>
        <p:spPr>
          <a:xfrm>
            <a:off x="4297680" y="3319272"/>
            <a:ext cx="2011680" cy="411480"/>
          </a:xfrm>
          <a:prstGeom prst="rect">
            <a:avLst/>
          </a:prstGeom>
          <a:solidFill>
            <a:srgbClr val="FCE3B1"/>
          </a:solidFill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9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Why: </a:t>
            </a: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Makes macros appear slow and causes flicker</a:t>
            </a:r>
            <a:endParaRPr lang="en-US" sz="900" dirty="0"/>
          </a:p>
        </p:txBody>
      </p:sp>
      <p:sp>
        <p:nvSpPr>
          <p:cNvPr id="15" name="Text 24">
            <a:extLst>
              <a:ext uri="{FF2B5EF4-FFF2-40B4-BE49-F238E27FC236}">
                <a16:creationId xmlns:a16="http://schemas.microsoft.com/office/drawing/2014/main" id="{9803DA21-D648-2067-CAA9-5A4FAC5C59ED}"/>
              </a:ext>
            </a:extLst>
          </p:cNvPr>
          <p:cNvSpPr/>
          <p:nvPr/>
        </p:nvSpPr>
        <p:spPr>
          <a:xfrm>
            <a:off x="6583680" y="3319272"/>
            <a:ext cx="2011680" cy="411480"/>
          </a:xfrm>
          <a:prstGeom prst="rect">
            <a:avLst/>
          </a:prstGeom>
          <a:solidFill>
            <a:srgbClr val="D2FADD"/>
          </a:solidFill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9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Fix: </a:t>
            </a: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Application.ScreenUpdating = False</a:t>
            </a:r>
            <a:endParaRPr lang="en-US" sz="900" dirty="0"/>
          </a:p>
        </p:txBody>
      </p:sp>
      <p:sp>
        <p:nvSpPr>
          <p:cNvPr id="16" name="Text 26">
            <a:extLst>
              <a:ext uri="{FF2B5EF4-FFF2-40B4-BE49-F238E27FC236}">
                <a16:creationId xmlns:a16="http://schemas.microsoft.com/office/drawing/2014/main" id="{7185AB1C-3482-0E18-41EB-65C2EB110D95}"/>
              </a:ext>
            </a:extLst>
          </p:cNvPr>
          <p:cNvSpPr/>
          <p:nvPr/>
        </p:nvSpPr>
        <p:spPr>
          <a:xfrm>
            <a:off x="822960" y="3931920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Ignoring Calculation Mode</a:t>
            </a:r>
            <a:endParaRPr lang="en-US" sz="1200" dirty="0"/>
          </a:p>
        </p:txBody>
      </p:sp>
      <p:sp>
        <p:nvSpPr>
          <p:cNvPr id="17" name="Text 28">
            <a:extLst>
              <a:ext uri="{FF2B5EF4-FFF2-40B4-BE49-F238E27FC236}">
                <a16:creationId xmlns:a16="http://schemas.microsoft.com/office/drawing/2014/main" id="{CFF693D4-585A-E21F-231B-4CD1501A791D}"/>
              </a:ext>
            </a:extLst>
          </p:cNvPr>
          <p:cNvSpPr/>
          <p:nvPr/>
        </p:nvSpPr>
        <p:spPr>
          <a:xfrm>
            <a:off x="4297680" y="4005072"/>
            <a:ext cx="2011680" cy="411480"/>
          </a:xfrm>
          <a:prstGeom prst="rect">
            <a:avLst/>
          </a:prstGeom>
          <a:solidFill>
            <a:srgbClr val="FCE3B1"/>
          </a:solidFill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9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Why: </a:t>
            </a: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Slow performance with large spreadsheets</a:t>
            </a:r>
            <a:endParaRPr lang="en-US" sz="900" dirty="0"/>
          </a:p>
        </p:txBody>
      </p:sp>
      <p:sp>
        <p:nvSpPr>
          <p:cNvPr id="18" name="Text 30">
            <a:extLst>
              <a:ext uri="{FF2B5EF4-FFF2-40B4-BE49-F238E27FC236}">
                <a16:creationId xmlns:a16="http://schemas.microsoft.com/office/drawing/2014/main" id="{DA5E8667-EACD-6EE0-3EC3-1221AAE5AB14}"/>
              </a:ext>
            </a:extLst>
          </p:cNvPr>
          <p:cNvSpPr/>
          <p:nvPr/>
        </p:nvSpPr>
        <p:spPr>
          <a:xfrm>
            <a:off x="6583680" y="4005072"/>
            <a:ext cx="2011680" cy="411480"/>
          </a:xfrm>
          <a:prstGeom prst="rect">
            <a:avLst/>
          </a:prstGeom>
          <a:solidFill>
            <a:srgbClr val="D2FADD"/>
          </a:solidFill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9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Fix: </a:t>
            </a: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 to Manual during macro, restore after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396387540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>
          <a:extLst>
            <a:ext uri="{FF2B5EF4-FFF2-40B4-BE49-F238E27FC236}">
              <a16:creationId xmlns:a16="http://schemas.microsoft.com/office/drawing/2014/main" id="{40A94540-5617-EA2A-E544-420DFD3298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6">
            <a:extLst>
              <a:ext uri="{FF2B5EF4-FFF2-40B4-BE49-F238E27FC236}">
                <a16:creationId xmlns:a16="http://schemas.microsoft.com/office/drawing/2014/main" id="{4A4A4F99-7635-20F8-D192-056FBD67625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48080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 fontScale="90000"/>
          </a:bodyPr>
          <a:lstStyle/>
          <a:p>
            <a:r>
              <a:rPr lang="en-US" sz="4000" b="1" dirty="0">
                <a:solidFill>
                  <a:srgbClr val="1E2761"/>
                </a:solidFill>
                <a:latin typeface="Arial Black"/>
              </a:rPr>
              <a:t>Best Practices</a:t>
            </a:r>
            <a:endParaRPr lang="en-US" sz="4000" dirty="0">
              <a:latin typeface="Arial Black"/>
            </a:endParaRPr>
          </a:p>
          <a:p>
            <a:pPr marL="0" lv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endParaRPr b="1" dirty="0"/>
          </a:p>
        </p:txBody>
      </p:sp>
      <p:sp>
        <p:nvSpPr>
          <p:cNvPr id="89" name="Google Shape;89;p6">
            <a:extLst>
              <a:ext uri="{FF2B5EF4-FFF2-40B4-BE49-F238E27FC236}">
                <a16:creationId xmlns:a16="http://schemas.microsoft.com/office/drawing/2014/main" id="{AA306962-CAEF-3A91-E9D9-5BFAD7C4D693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SzPts val="900"/>
              <a:buNone/>
            </a:pPr>
            <a:endParaRPr sz="900"/>
          </a:p>
        </p:txBody>
      </p:sp>
      <p:sp>
        <p:nvSpPr>
          <p:cNvPr id="91" name="Google Shape;91;p6">
            <a:extLst>
              <a:ext uri="{FF2B5EF4-FFF2-40B4-BE49-F238E27FC236}">
                <a16:creationId xmlns:a16="http://schemas.microsoft.com/office/drawing/2014/main" id="{4B20DBCF-17D2-3967-4052-972DF6FDAA44}"/>
              </a:ext>
            </a:extLst>
          </p:cNvPr>
          <p:cNvSpPr/>
          <p:nvPr/>
        </p:nvSpPr>
        <p:spPr>
          <a:xfrm>
            <a:off x="311700" y="116515"/>
            <a:ext cx="4601662" cy="219808"/>
          </a:xfrm>
          <a:prstGeom prst="roundRect">
            <a:avLst>
              <a:gd name="adj" fmla="val 16667"/>
            </a:avLst>
          </a:prstGeom>
          <a:solidFill>
            <a:srgbClr val="00B05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" name="Google Shape;92;p6">
            <a:extLst>
              <a:ext uri="{FF2B5EF4-FFF2-40B4-BE49-F238E27FC236}">
                <a16:creationId xmlns:a16="http://schemas.microsoft.com/office/drawing/2014/main" id="{F8887BE3-C5FB-2033-16F4-D0B2BB69026F}"/>
              </a:ext>
            </a:extLst>
          </p:cNvPr>
          <p:cNvSpPr/>
          <p:nvPr/>
        </p:nvSpPr>
        <p:spPr>
          <a:xfrm>
            <a:off x="4230638" y="4812031"/>
            <a:ext cx="4601662" cy="219808"/>
          </a:xfrm>
          <a:prstGeom prst="roundRect">
            <a:avLst>
              <a:gd name="adj" fmla="val 16667"/>
            </a:avLst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" name="Picture 1" descr="A logo with blue and green text&#10;&#10;AI-generated content may be incorrect.">
            <a:extLst>
              <a:ext uri="{FF2B5EF4-FFF2-40B4-BE49-F238E27FC236}">
                <a16:creationId xmlns:a16="http://schemas.microsoft.com/office/drawing/2014/main" id="{31A6408E-F942-AFF2-1FA9-1E38F864DD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53880" y="15346"/>
            <a:ext cx="1266825" cy="46672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D23A5A96-F23A-590C-094A-4C82EA7373C8}"/>
              </a:ext>
            </a:extLst>
          </p:cNvPr>
          <p:cNvSpPr txBox="1"/>
          <p:nvPr/>
        </p:nvSpPr>
        <p:spPr>
          <a:xfrm>
            <a:off x="179917" y="4804833"/>
            <a:ext cx="4572000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000" i="1">
                <a:solidFill>
                  <a:srgbClr val="595959"/>
                </a:solidFill>
                <a:latin typeface="Arial"/>
                <a:ea typeface="Arial"/>
                <a:cs typeface="Arial"/>
              </a:rPr>
              <a:t>© insanalytics</a:t>
            </a:r>
            <a:endParaRPr lang="en-US"/>
          </a:p>
          <a:p>
            <a:pPr algn="ctr"/>
            <a:endParaRPr lang="en-US"/>
          </a:p>
        </p:txBody>
      </p:sp>
      <p:pic>
        <p:nvPicPr>
          <p:cNvPr id="3" name="Image 0">
            <a:extLst>
              <a:ext uri="{FF2B5EF4-FFF2-40B4-BE49-F238E27FC236}">
                <a16:creationId xmlns:a16="http://schemas.microsoft.com/office/drawing/2014/main" id="{5BA9AD05-2C87-D0F4-11E0-6C50972F5EE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1325880"/>
            <a:ext cx="411480" cy="411480"/>
          </a:xfrm>
          <a:prstGeom prst="rect">
            <a:avLst/>
          </a:prstGeom>
        </p:spPr>
      </p:pic>
      <p:sp>
        <p:nvSpPr>
          <p:cNvPr id="5" name="Text 2">
            <a:extLst>
              <a:ext uri="{FF2B5EF4-FFF2-40B4-BE49-F238E27FC236}">
                <a16:creationId xmlns:a16="http://schemas.microsoft.com/office/drawing/2014/main" id="{EC2DD39A-D60C-7792-1FB5-F98E0BDC9B3F}"/>
              </a:ext>
            </a:extLst>
          </p:cNvPr>
          <p:cNvSpPr/>
          <p:nvPr/>
        </p:nvSpPr>
        <p:spPr>
          <a:xfrm>
            <a:off x="1188720" y="1298448"/>
            <a:ext cx="3200400" cy="25603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Meaningful Names</a:t>
            </a:r>
            <a:endParaRPr lang="en-US" sz="1400" dirty="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C02AE7B8-5A31-1EBE-6A04-F08CDC3FB874}"/>
              </a:ext>
            </a:extLst>
          </p:cNvPr>
          <p:cNvSpPr/>
          <p:nvPr/>
        </p:nvSpPr>
        <p:spPr>
          <a:xfrm>
            <a:off x="1188720" y="1572768"/>
            <a:ext cx="3200400" cy="20116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Name macros and variables clearly</a:t>
            </a:r>
            <a:endParaRPr lang="en-US" sz="1100" dirty="0"/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D9560EE4-07BD-5DF8-AF44-E1CB3C18AE91}"/>
              </a:ext>
            </a:extLst>
          </p:cNvPr>
          <p:cNvSpPr/>
          <p:nvPr/>
        </p:nvSpPr>
        <p:spPr>
          <a:xfrm>
            <a:off x="640080" y="1847088"/>
            <a:ext cx="3749040" cy="36576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Good: CalculateTotalSales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Bad: Macro1, x, temp</a:t>
            </a:r>
            <a:endParaRPr lang="en-US" sz="900" dirty="0"/>
          </a:p>
        </p:txBody>
      </p:sp>
      <p:pic>
        <p:nvPicPr>
          <p:cNvPr id="8" name="Image 1">
            <a:extLst>
              <a:ext uri="{FF2B5EF4-FFF2-40B4-BE49-F238E27FC236}">
                <a16:creationId xmlns:a16="http://schemas.microsoft.com/office/drawing/2014/main" id="{0C0BF142-87D7-6374-C613-EF5AB6A18A4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83480" y="1325880"/>
            <a:ext cx="411480" cy="411480"/>
          </a:xfrm>
          <a:prstGeom prst="rect">
            <a:avLst/>
          </a:prstGeom>
        </p:spPr>
      </p:pic>
      <p:sp>
        <p:nvSpPr>
          <p:cNvPr id="9" name="Text 6">
            <a:extLst>
              <a:ext uri="{FF2B5EF4-FFF2-40B4-BE49-F238E27FC236}">
                <a16:creationId xmlns:a16="http://schemas.microsoft.com/office/drawing/2014/main" id="{B3EE2C52-D5A4-BD40-CAB6-820C5CAFF46A}"/>
              </a:ext>
            </a:extLst>
          </p:cNvPr>
          <p:cNvSpPr/>
          <p:nvPr/>
        </p:nvSpPr>
        <p:spPr>
          <a:xfrm>
            <a:off x="5532120" y="1298448"/>
            <a:ext cx="3200400" cy="2560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Comments</a:t>
            </a:r>
            <a:endParaRPr lang="en-US" sz="1400" dirty="0"/>
          </a:p>
        </p:txBody>
      </p:sp>
      <p:sp>
        <p:nvSpPr>
          <p:cNvPr id="10" name="Text 7">
            <a:extLst>
              <a:ext uri="{FF2B5EF4-FFF2-40B4-BE49-F238E27FC236}">
                <a16:creationId xmlns:a16="http://schemas.microsoft.com/office/drawing/2014/main" id="{A0CEEFB3-AD04-3224-080B-1E57D389B198}"/>
              </a:ext>
            </a:extLst>
          </p:cNvPr>
          <p:cNvSpPr/>
          <p:nvPr/>
        </p:nvSpPr>
        <p:spPr>
          <a:xfrm>
            <a:off x="5532120" y="1572768"/>
            <a:ext cx="3200400" cy="20116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Explain what your code does</a:t>
            </a:r>
            <a:endParaRPr lang="en-US" sz="1100" dirty="0"/>
          </a:p>
        </p:txBody>
      </p:sp>
      <p:sp>
        <p:nvSpPr>
          <p:cNvPr id="11" name="Text 8">
            <a:extLst>
              <a:ext uri="{FF2B5EF4-FFF2-40B4-BE49-F238E27FC236}">
                <a16:creationId xmlns:a16="http://schemas.microsoft.com/office/drawing/2014/main" id="{77F2C36F-833F-4BCC-F1B9-F37CAEB0AA91}"/>
              </a:ext>
            </a:extLst>
          </p:cNvPr>
          <p:cNvSpPr/>
          <p:nvPr/>
        </p:nvSpPr>
        <p:spPr>
          <a:xfrm>
            <a:off x="4983480" y="1847088"/>
            <a:ext cx="3749040" cy="36576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 Calculate monthly average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Avg = Total / 12</a:t>
            </a:r>
            <a:endParaRPr lang="en-US" sz="900" dirty="0"/>
          </a:p>
        </p:txBody>
      </p:sp>
      <p:pic>
        <p:nvPicPr>
          <p:cNvPr id="12" name="Image 2">
            <a:extLst>
              <a:ext uri="{FF2B5EF4-FFF2-40B4-BE49-F238E27FC236}">
                <a16:creationId xmlns:a16="http://schemas.microsoft.com/office/drawing/2014/main" id="{E286E50C-9D94-3E83-DBBD-A8761EA0675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0080" y="2560320"/>
            <a:ext cx="411480" cy="411480"/>
          </a:xfrm>
          <a:prstGeom prst="rect">
            <a:avLst/>
          </a:prstGeom>
        </p:spPr>
      </p:pic>
      <p:sp>
        <p:nvSpPr>
          <p:cNvPr id="13" name="Text 10">
            <a:extLst>
              <a:ext uri="{FF2B5EF4-FFF2-40B4-BE49-F238E27FC236}">
                <a16:creationId xmlns:a16="http://schemas.microsoft.com/office/drawing/2014/main" id="{16D26D01-FE1C-2F86-9030-FE2F46E489D5}"/>
              </a:ext>
            </a:extLst>
          </p:cNvPr>
          <p:cNvSpPr/>
          <p:nvPr/>
        </p:nvSpPr>
        <p:spPr>
          <a:xfrm>
            <a:off x="1188720" y="2532888"/>
            <a:ext cx="3200400" cy="256032"/>
          </a:xfrm>
          <a:prstGeom prst="rect">
            <a:avLst/>
          </a:prstGeom>
          <a:solidFill>
            <a:srgbClr val="D2FADD"/>
          </a:solidFill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Include Error Handling</a:t>
            </a:r>
            <a:endParaRPr lang="en-US" sz="1400" dirty="0"/>
          </a:p>
        </p:txBody>
      </p:sp>
      <p:sp>
        <p:nvSpPr>
          <p:cNvPr id="14" name="Text 11">
            <a:extLst>
              <a:ext uri="{FF2B5EF4-FFF2-40B4-BE49-F238E27FC236}">
                <a16:creationId xmlns:a16="http://schemas.microsoft.com/office/drawing/2014/main" id="{59E65CAD-C1C0-1177-BD58-F38965E940FF}"/>
              </a:ext>
            </a:extLst>
          </p:cNvPr>
          <p:cNvSpPr/>
          <p:nvPr/>
        </p:nvSpPr>
        <p:spPr>
          <a:xfrm>
            <a:off x="1188720" y="2807208"/>
            <a:ext cx="3200400" cy="201168"/>
          </a:xfrm>
          <a:prstGeom prst="rect">
            <a:avLst/>
          </a:prstGeom>
          <a:solidFill>
            <a:srgbClr val="D2FADD"/>
          </a:solidFill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Always use On Error statements</a:t>
            </a:r>
            <a:endParaRPr lang="en-US" sz="1100" dirty="0"/>
          </a:p>
        </p:txBody>
      </p:sp>
      <p:sp>
        <p:nvSpPr>
          <p:cNvPr id="15" name="Text 12">
            <a:extLst>
              <a:ext uri="{FF2B5EF4-FFF2-40B4-BE49-F238E27FC236}">
                <a16:creationId xmlns:a16="http://schemas.microsoft.com/office/drawing/2014/main" id="{8D82386F-E324-2534-D467-D61B4455DE4A}"/>
              </a:ext>
            </a:extLst>
          </p:cNvPr>
          <p:cNvSpPr/>
          <p:nvPr/>
        </p:nvSpPr>
        <p:spPr>
          <a:xfrm>
            <a:off x="640080" y="3081528"/>
            <a:ext cx="3749040" cy="365760"/>
          </a:xfrm>
          <a:prstGeom prst="rect">
            <a:avLst/>
          </a:prstGeom>
          <a:solidFill>
            <a:srgbClr val="D2FADD"/>
          </a:solidFill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Prevents crashes and provides feedback</a:t>
            </a:r>
            <a:endParaRPr lang="en-US" sz="900" dirty="0"/>
          </a:p>
        </p:txBody>
      </p:sp>
      <p:pic>
        <p:nvPicPr>
          <p:cNvPr id="16" name="Image 3">
            <a:extLst>
              <a:ext uri="{FF2B5EF4-FFF2-40B4-BE49-F238E27FC236}">
                <a16:creationId xmlns:a16="http://schemas.microsoft.com/office/drawing/2014/main" id="{BD83EF84-AD70-BC94-E48A-24ABF6DAAE2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83480" y="2560320"/>
            <a:ext cx="411480" cy="411480"/>
          </a:xfrm>
          <a:prstGeom prst="rect">
            <a:avLst/>
          </a:prstGeom>
        </p:spPr>
      </p:pic>
      <p:sp>
        <p:nvSpPr>
          <p:cNvPr id="17" name="Text 14">
            <a:extLst>
              <a:ext uri="{FF2B5EF4-FFF2-40B4-BE49-F238E27FC236}">
                <a16:creationId xmlns:a16="http://schemas.microsoft.com/office/drawing/2014/main" id="{B99087A0-C743-6EF4-E1D5-C99524F49C8A}"/>
              </a:ext>
            </a:extLst>
          </p:cNvPr>
          <p:cNvSpPr/>
          <p:nvPr/>
        </p:nvSpPr>
        <p:spPr>
          <a:xfrm>
            <a:off x="5532120" y="2532888"/>
            <a:ext cx="3200400" cy="256032"/>
          </a:xfrm>
          <a:prstGeom prst="rect">
            <a:avLst/>
          </a:prstGeom>
          <a:solidFill>
            <a:schemeClr val="accent2">
              <a:lumMod val="10000"/>
              <a:lumOff val="90000"/>
            </a:schemeClr>
          </a:solidFill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Save as Macro-Enabled</a:t>
            </a:r>
            <a:endParaRPr lang="en-US" sz="1400" dirty="0"/>
          </a:p>
        </p:txBody>
      </p:sp>
      <p:sp>
        <p:nvSpPr>
          <p:cNvPr id="18" name="Text 15">
            <a:extLst>
              <a:ext uri="{FF2B5EF4-FFF2-40B4-BE49-F238E27FC236}">
                <a16:creationId xmlns:a16="http://schemas.microsoft.com/office/drawing/2014/main" id="{DE3B78E7-6310-3B10-E266-004CDD95591D}"/>
              </a:ext>
            </a:extLst>
          </p:cNvPr>
          <p:cNvSpPr/>
          <p:nvPr/>
        </p:nvSpPr>
        <p:spPr>
          <a:xfrm>
            <a:off x="5532120" y="2807208"/>
            <a:ext cx="3200400" cy="201168"/>
          </a:xfrm>
          <a:prstGeom prst="rect">
            <a:avLst/>
          </a:prstGeom>
          <a:solidFill>
            <a:schemeClr val="accent2">
              <a:lumMod val="10000"/>
              <a:lumOff val="90000"/>
            </a:schemeClr>
          </a:solidFill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.xlsm format to preserve macros</a:t>
            </a:r>
            <a:endParaRPr lang="en-US" sz="1100" dirty="0"/>
          </a:p>
        </p:txBody>
      </p:sp>
      <p:sp>
        <p:nvSpPr>
          <p:cNvPr id="19" name="Text 16">
            <a:extLst>
              <a:ext uri="{FF2B5EF4-FFF2-40B4-BE49-F238E27FC236}">
                <a16:creationId xmlns:a16="http://schemas.microsoft.com/office/drawing/2014/main" id="{976BD0E2-5979-EBD7-542A-F281C2C6A473}"/>
              </a:ext>
            </a:extLst>
          </p:cNvPr>
          <p:cNvSpPr/>
          <p:nvPr/>
        </p:nvSpPr>
        <p:spPr>
          <a:xfrm>
            <a:off x="4983480" y="3081528"/>
            <a:ext cx="3749040" cy="365760"/>
          </a:xfrm>
          <a:prstGeom prst="rect">
            <a:avLst/>
          </a:prstGeom>
          <a:solidFill>
            <a:schemeClr val="accent2">
              <a:lumMod val="10000"/>
              <a:lumOff val="90000"/>
            </a:schemeClr>
          </a:solidFill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File → Save As → Excel Macro-Enabled</a:t>
            </a:r>
            <a:endParaRPr lang="en-US" sz="900" dirty="0"/>
          </a:p>
        </p:txBody>
      </p:sp>
      <p:pic>
        <p:nvPicPr>
          <p:cNvPr id="20" name="Image 4">
            <a:extLst>
              <a:ext uri="{FF2B5EF4-FFF2-40B4-BE49-F238E27FC236}">
                <a16:creationId xmlns:a16="http://schemas.microsoft.com/office/drawing/2014/main" id="{EC8321E2-F0DF-3055-459F-AEA92D2B87C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0080" y="3794760"/>
            <a:ext cx="411480" cy="411480"/>
          </a:xfrm>
          <a:prstGeom prst="rect">
            <a:avLst/>
          </a:prstGeom>
        </p:spPr>
      </p:pic>
      <p:sp>
        <p:nvSpPr>
          <p:cNvPr id="21" name="Text 18">
            <a:extLst>
              <a:ext uri="{FF2B5EF4-FFF2-40B4-BE49-F238E27FC236}">
                <a16:creationId xmlns:a16="http://schemas.microsoft.com/office/drawing/2014/main" id="{515D853B-2B36-F0F3-1C4E-1CEFD98FB7C2}"/>
              </a:ext>
            </a:extLst>
          </p:cNvPr>
          <p:cNvSpPr/>
          <p:nvPr/>
        </p:nvSpPr>
        <p:spPr>
          <a:xfrm>
            <a:off x="1188720" y="3767328"/>
            <a:ext cx="3200400" cy="256032"/>
          </a:xfrm>
          <a:prstGeom prst="rect">
            <a:avLst/>
          </a:prstGeom>
          <a:solidFill>
            <a:srgbClr val="FCE3B1"/>
          </a:solidFill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Thoroughly</a:t>
            </a:r>
            <a:endParaRPr lang="en-US" sz="1400" dirty="0"/>
          </a:p>
        </p:txBody>
      </p:sp>
      <p:sp>
        <p:nvSpPr>
          <p:cNvPr id="22" name="Text 19">
            <a:extLst>
              <a:ext uri="{FF2B5EF4-FFF2-40B4-BE49-F238E27FC236}">
                <a16:creationId xmlns:a16="http://schemas.microsoft.com/office/drawing/2014/main" id="{1D605140-387C-116D-2C80-C74EE8951D68}"/>
              </a:ext>
            </a:extLst>
          </p:cNvPr>
          <p:cNvSpPr/>
          <p:nvPr/>
        </p:nvSpPr>
        <p:spPr>
          <a:xfrm>
            <a:off x="1188720" y="4041648"/>
            <a:ext cx="3200400" cy="201168"/>
          </a:xfrm>
          <a:prstGeom prst="rect">
            <a:avLst/>
          </a:prstGeom>
          <a:solidFill>
            <a:srgbClr val="FCE3B1"/>
          </a:solidFill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with different data scenarios</a:t>
            </a:r>
            <a:endParaRPr lang="en-US" sz="1100" dirty="0"/>
          </a:p>
        </p:txBody>
      </p:sp>
      <p:sp>
        <p:nvSpPr>
          <p:cNvPr id="23" name="Text 20">
            <a:extLst>
              <a:ext uri="{FF2B5EF4-FFF2-40B4-BE49-F238E27FC236}">
                <a16:creationId xmlns:a16="http://schemas.microsoft.com/office/drawing/2014/main" id="{EFE2CF2F-85BF-99B3-55B8-C15C5B700767}"/>
              </a:ext>
            </a:extLst>
          </p:cNvPr>
          <p:cNvSpPr/>
          <p:nvPr/>
        </p:nvSpPr>
        <p:spPr>
          <a:xfrm>
            <a:off x="640080" y="4315968"/>
            <a:ext cx="3749040" cy="365760"/>
          </a:xfrm>
          <a:prstGeom prst="rect">
            <a:avLst/>
          </a:prstGeom>
          <a:solidFill>
            <a:srgbClr val="FCE3B1"/>
          </a:solidFill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Empty cells, large datasets, edge cases</a:t>
            </a:r>
            <a:endParaRPr lang="en-US" sz="900" dirty="0"/>
          </a:p>
        </p:txBody>
      </p:sp>
      <p:pic>
        <p:nvPicPr>
          <p:cNvPr id="24" name="Image 5">
            <a:extLst>
              <a:ext uri="{FF2B5EF4-FFF2-40B4-BE49-F238E27FC236}">
                <a16:creationId xmlns:a16="http://schemas.microsoft.com/office/drawing/2014/main" id="{E7CCA49E-3C55-CC78-0BE2-C0B63E211018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983480" y="3794760"/>
            <a:ext cx="411480" cy="411480"/>
          </a:xfrm>
          <a:prstGeom prst="rect">
            <a:avLst/>
          </a:prstGeom>
        </p:spPr>
      </p:pic>
      <p:sp>
        <p:nvSpPr>
          <p:cNvPr id="25" name="Text 22">
            <a:extLst>
              <a:ext uri="{FF2B5EF4-FFF2-40B4-BE49-F238E27FC236}">
                <a16:creationId xmlns:a16="http://schemas.microsoft.com/office/drawing/2014/main" id="{F2520B4D-7965-BF29-BDCE-AB2A6BC7F8EF}"/>
              </a:ext>
            </a:extLst>
          </p:cNvPr>
          <p:cNvSpPr/>
          <p:nvPr/>
        </p:nvSpPr>
        <p:spPr>
          <a:xfrm>
            <a:off x="5532120" y="3767328"/>
            <a:ext cx="3200400" cy="256032"/>
          </a:xfrm>
          <a:prstGeom prst="rect">
            <a:avLst/>
          </a:prstGeom>
          <a:solidFill>
            <a:srgbClr val="FFD9E6"/>
          </a:solidFill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Keyboard Shortcuts</a:t>
            </a:r>
            <a:endParaRPr lang="en-US" sz="1400" dirty="0"/>
          </a:p>
        </p:txBody>
      </p:sp>
      <p:sp>
        <p:nvSpPr>
          <p:cNvPr id="26" name="Text 23">
            <a:extLst>
              <a:ext uri="{FF2B5EF4-FFF2-40B4-BE49-F238E27FC236}">
                <a16:creationId xmlns:a16="http://schemas.microsoft.com/office/drawing/2014/main" id="{9CA194F5-2EA7-79A4-F120-39A861200B86}"/>
              </a:ext>
            </a:extLst>
          </p:cNvPr>
          <p:cNvSpPr/>
          <p:nvPr/>
        </p:nvSpPr>
        <p:spPr>
          <a:xfrm>
            <a:off x="5532120" y="4041648"/>
            <a:ext cx="3200400" cy="201168"/>
          </a:xfrm>
          <a:prstGeom prst="rect">
            <a:avLst/>
          </a:prstGeom>
          <a:solidFill>
            <a:srgbClr val="FFD9E6"/>
          </a:solidFill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Assign shortcuts for frequent macros</a:t>
            </a:r>
            <a:endParaRPr lang="en-US" sz="1100" dirty="0"/>
          </a:p>
        </p:txBody>
      </p:sp>
      <p:sp>
        <p:nvSpPr>
          <p:cNvPr id="27" name="Text 24">
            <a:extLst>
              <a:ext uri="{FF2B5EF4-FFF2-40B4-BE49-F238E27FC236}">
                <a16:creationId xmlns:a16="http://schemas.microsoft.com/office/drawing/2014/main" id="{479CBE8D-0EB4-58E2-7494-D19BBDD849FB}"/>
              </a:ext>
            </a:extLst>
          </p:cNvPr>
          <p:cNvSpPr/>
          <p:nvPr/>
        </p:nvSpPr>
        <p:spPr>
          <a:xfrm>
            <a:off x="4983480" y="4315968"/>
            <a:ext cx="3749040" cy="365760"/>
          </a:xfrm>
          <a:prstGeom prst="rect">
            <a:avLst/>
          </a:prstGeom>
          <a:solidFill>
            <a:srgbClr val="FFD9E6"/>
          </a:solidFill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Ctrl+Shift+Letter for quick access</a:t>
            </a:r>
            <a:endParaRPr lang="en-US" sz="900" dirty="0"/>
          </a:p>
        </p:txBody>
      </p:sp>
      <p:pic>
        <p:nvPicPr>
          <p:cNvPr id="28" name="Image 0">
            <a:extLst>
              <a:ext uri="{FF2B5EF4-FFF2-40B4-BE49-F238E27FC236}">
                <a16:creationId xmlns:a16="http://schemas.microsoft.com/office/drawing/2014/main" id="{495E70C3-D7FE-42AB-4BC5-DD895F483B5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1325880"/>
            <a:ext cx="411480" cy="411480"/>
          </a:xfrm>
          <a:prstGeom prst="rect">
            <a:avLst/>
          </a:prstGeom>
        </p:spPr>
      </p:pic>
      <p:sp>
        <p:nvSpPr>
          <p:cNvPr id="29" name="Text 2">
            <a:extLst>
              <a:ext uri="{FF2B5EF4-FFF2-40B4-BE49-F238E27FC236}">
                <a16:creationId xmlns:a16="http://schemas.microsoft.com/office/drawing/2014/main" id="{D921AEAA-3AA8-34BA-D5ED-89919953E938}"/>
              </a:ext>
            </a:extLst>
          </p:cNvPr>
          <p:cNvSpPr/>
          <p:nvPr/>
        </p:nvSpPr>
        <p:spPr>
          <a:xfrm>
            <a:off x="1188720" y="1298448"/>
            <a:ext cx="3200400" cy="25603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Meaningful Names</a:t>
            </a:r>
            <a:endParaRPr lang="en-US" sz="1400" dirty="0"/>
          </a:p>
        </p:txBody>
      </p:sp>
      <p:sp>
        <p:nvSpPr>
          <p:cNvPr id="30" name="Text 3">
            <a:extLst>
              <a:ext uri="{FF2B5EF4-FFF2-40B4-BE49-F238E27FC236}">
                <a16:creationId xmlns:a16="http://schemas.microsoft.com/office/drawing/2014/main" id="{4C7AE87D-A3BD-D0A5-CC86-70D840CB3DC8}"/>
              </a:ext>
            </a:extLst>
          </p:cNvPr>
          <p:cNvSpPr/>
          <p:nvPr/>
        </p:nvSpPr>
        <p:spPr>
          <a:xfrm>
            <a:off x="1188720" y="1572768"/>
            <a:ext cx="3200400" cy="20116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Name macros and variables clearly</a:t>
            </a:r>
            <a:endParaRPr lang="en-US" sz="1100" dirty="0"/>
          </a:p>
        </p:txBody>
      </p:sp>
      <p:sp>
        <p:nvSpPr>
          <p:cNvPr id="31" name="Text 4">
            <a:extLst>
              <a:ext uri="{FF2B5EF4-FFF2-40B4-BE49-F238E27FC236}">
                <a16:creationId xmlns:a16="http://schemas.microsoft.com/office/drawing/2014/main" id="{67004634-51C5-B6CC-CF35-1E8F446187FC}"/>
              </a:ext>
            </a:extLst>
          </p:cNvPr>
          <p:cNvSpPr/>
          <p:nvPr/>
        </p:nvSpPr>
        <p:spPr>
          <a:xfrm>
            <a:off x="640080" y="1847088"/>
            <a:ext cx="3749040" cy="36576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Good: CalculateTotalSales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Bad: Macro1, x, temp</a:t>
            </a:r>
            <a:endParaRPr lang="en-US" sz="900" dirty="0"/>
          </a:p>
        </p:txBody>
      </p:sp>
      <p:pic>
        <p:nvPicPr>
          <p:cNvPr id="32" name="Image 1">
            <a:extLst>
              <a:ext uri="{FF2B5EF4-FFF2-40B4-BE49-F238E27FC236}">
                <a16:creationId xmlns:a16="http://schemas.microsoft.com/office/drawing/2014/main" id="{DA4FA1C7-CA5B-C54C-7AF5-BF54AB57F8B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83480" y="1325880"/>
            <a:ext cx="411480" cy="411480"/>
          </a:xfrm>
          <a:prstGeom prst="rect">
            <a:avLst/>
          </a:prstGeom>
        </p:spPr>
      </p:pic>
      <p:sp>
        <p:nvSpPr>
          <p:cNvPr id="33" name="Text 6">
            <a:extLst>
              <a:ext uri="{FF2B5EF4-FFF2-40B4-BE49-F238E27FC236}">
                <a16:creationId xmlns:a16="http://schemas.microsoft.com/office/drawing/2014/main" id="{66FD80A9-3A77-EC57-0FF7-40E0AB0D0F92}"/>
              </a:ext>
            </a:extLst>
          </p:cNvPr>
          <p:cNvSpPr/>
          <p:nvPr/>
        </p:nvSpPr>
        <p:spPr>
          <a:xfrm>
            <a:off x="5532120" y="1298448"/>
            <a:ext cx="3200400" cy="2560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Comments</a:t>
            </a:r>
            <a:endParaRPr lang="en-US" sz="1400" dirty="0"/>
          </a:p>
        </p:txBody>
      </p:sp>
      <p:sp>
        <p:nvSpPr>
          <p:cNvPr id="34" name="Text 7">
            <a:extLst>
              <a:ext uri="{FF2B5EF4-FFF2-40B4-BE49-F238E27FC236}">
                <a16:creationId xmlns:a16="http://schemas.microsoft.com/office/drawing/2014/main" id="{DA2F823C-6A5C-116F-7256-C1949F54EA58}"/>
              </a:ext>
            </a:extLst>
          </p:cNvPr>
          <p:cNvSpPr/>
          <p:nvPr/>
        </p:nvSpPr>
        <p:spPr>
          <a:xfrm>
            <a:off x="5532120" y="1572768"/>
            <a:ext cx="3200400" cy="20116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Explain what your code does</a:t>
            </a:r>
            <a:endParaRPr lang="en-US" sz="1100" dirty="0"/>
          </a:p>
        </p:txBody>
      </p:sp>
      <p:sp>
        <p:nvSpPr>
          <p:cNvPr id="35" name="Text 8">
            <a:extLst>
              <a:ext uri="{FF2B5EF4-FFF2-40B4-BE49-F238E27FC236}">
                <a16:creationId xmlns:a16="http://schemas.microsoft.com/office/drawing/2014/main" id="{69CAD4F4-23D3-4820-4987-6A287ABCAF2A}"/>
              </a:ext>
            </a:extLst>
          </p:cNvPr>
          <p:cNvSpPr/>
          <p:nvPr/>
        </p:nvSpPr>
        <p:spPr>
          <a:xfrm>
            <a:off x="4983480" y="1847088"/>
            <a:ext cx="3749040" cy="36576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 Calculate monthly average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Avg = Total / 12</a:t>
            </a:r>
            <a:endParaRPr lang="en-US" sz="900" dirty="0"/>
          </a:p>
        </p:txBody>
      </p:sp>
      <p:pic>
        <p:nvPicPr>
          <p:cNvPr id="36" name="Image 2">
            <a:extLst>
              <a:ext uri="{FF2B5EF4-FFF2-40B4-BE49-F238E27FC236}">
                <a16:creationId xmlns:a16="http://schemas.microsoft.com/office/drawing/2014/main" id="{6DD87179-6B9C-8F78-2E28-F3B303A4F02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0080" y="2560320"/>
            <a:ext cx="411480" cy="411480"/>
          </a:xfrm>
          <a:prstGeom prst="rect">
            <a:avLst/>
          </a:prstGeom>
        </p:spPr>
      </p:pic>
      <p:sp>
        <p:nvSpPr>
          <p:cNvPr id="37" name="Text 10">
            <a:extLst>
              <a:ext uri="{FF2B5EF4-FFF2-40B4-BE49-F238E27FC236}">
                <a16:creationId xmlns:a16="http://schemas.microsoft.com/office/drawing/2014/main" id="{C0CF40FE-D1AB-37DD-F74D-A2A26F5163DD}"/>
              </a:ext>
            </a:extLst>
          </p:cNvPr>
          <p:cNvSpPr/>
          <p:nvPr/>
        </p:nvSpPr>
        <p:spPr>
          <a:xfrm>
            <a:off x="1188720" y="2532888"/>
            <a:ext cx="3200400" cy="256032"/>
          </a:xfrm>
          <a:prstGeom prst="rect">
            <a:avLst/>
          </a:prstGeom>
          <a:solidFill>
            <a:srgbClr val="D2FADD"/>
          </a:solidFill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Include Error Handling</a:t>
            </a:r>
            <a:endParaRPr lang="en-US" sz="1400" dirty="0"/>
          </a:p>
        </p:txBody>
      </p:sp>
      <p:sp>
        <p:nvSpPr>
          <p:cNvPr id="38" name="Text 11">
            <a:extLst>
              <a:ext uri="{FF2B5EF4-FFF2-40B4-BE49-F238E27FC236}">
                <a16:creationId xmlns:a16="http://schemas.microsoft.com/office/drawing/2014/main" id="{30D6590D-805D-3AB8-BA10-00ACD5B4874B}"/>
              </a:ext>
            </a:extLst>
          </p:cNvPr>
          <p:cNvSpPr/>
          <p:nvPr/>
        </p:nvSpPr>
        <p:spPr>
          <a:xfrm>
            <a:off x="1188720" y="2807208"/>
            <a:ext cx="3200400" cy="201168"/>
          </a:xfrm>
          <a:prstGeom prst="rect">
            <a:avLst/>
          </a:prstGeom>
          <a:solidFill>
            <a:srgbClr val="D2FADD"/>
          </a:solidFill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Always use On Error statements</a:t>
            </a:r>
            <a:endParaRPr lang="en-US" sz="1100" dirty="0"/>
          </a:p>
        </p:txBody>
      </p:sp>
      <p:sp>
        <p:nvSpPr>
          <p:cNvPr id="39" name="Text 12">
            <a:extLst>
              <a:ext uri="{FF2B5EF4-FFF2-40B4-BE49-F238E27FC236}">
                <a16:creationId xmlns:a16="http://schemas.microsoft.com/office/drawing/2014/main" id="{D66CF36F-301A-1488-0851-42D58DA66F2C}"/>
              </a:ext>
            </a:extLst>
          </p:cNvPr>
          <p:cNvSpPr/>
          <p:nvPr/>
        </p:nvSpPr>
        <p:spPr>
          <a:xfrm>
            <a:off x="640080" y="3081528"/>
            <a:ext cx="3749040" cy="365760"/>
          </a:xfrm>
          <a:prstGeom prst="rect">
            <a:avLst/>
          </a:prstGeom>
          <a:solidFill>
            <a:srgbClr val="D2FADD"/>
          </a:solidFill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Prevents crashes and provides feedback</a:t>
            </a:r>
            <a:endParaRPr lang="en-US" sz="900" dirty="0"/>
          </a:p>
        </p:txBody>
      </p:sp>
      <p:pic>
        <p:nvPicPr>
          <p:cNvPr id="40" name="Image 3">
            <a:extLst>
              <a:ext uri="{FF2B5EF4-FFF2-40B4-BE49-F238E27FC236}">
                <a16:creationId xmlns:a16="http://schemas.microsoft.com/office/drawing/2014/main" id="{05F432B2-CD5C-8C86-CD9E-321E1DE2C96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83480" y="2560320"/>
            <a:ext cx="411480" cy="411480"/>
          </a:xfrm>
          <a:prstGeom prst="rect">
            <a:avLst/>
          </a:prstGeom>
        </p:spPr>
      </p:pic>
      <p:sp>
        <p:nvSpPr>
          <p:cNvPr id="41" name="Text 14">
            <a:extLst>
              <a:ext uri="{FF2B5EF4-FFF2-40B4-BE49-F238E27FC236}">
                <a16:creationId xmlns:a16="http://schemas.microsoft.com/office/drawing/2014/main" id="{A744EA04-EBD3-1178-072A-8817A1CF69F2}"/>
              </a:ext>
            </a:extLst>
          </p:cNvPr>
          <p:cNvSpPr/>
          <p:nvPr/>
        </p:nvSpPr>
        <p:spPr>
          <a:xfrm>
            <a:off x="5532120" y="2532888"/>
            <a:ext cx="3200400" cy="256032"/>
          </a:xfrm>
          <a:prstGeom prst="rect">
            <a:avLst/>
          </a:prstGeom>
          <a:solidFill>
            <a:schemeClr val="accent2">
              <a:lumMod val="10000"/>
              <a:lumOff val="90000"/>
            </a:schemeClr>
          </a:solidFill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Save as Macro-Enabled</a:t>
            </a:r>
            <a:endParaRPr lang="en-US" sz="1400" dirty="0"/>
          </a:p>
        </p:txBody>
      </p:sp>
      <p:sp>
        <p:nvSpPr>
          <p:cNvPr id="42" name="Text 15">
            <a:extLst>
              <a:ext uri="{FF2B5EF4-FFF2-40B4-BE49-F238E27FC236}">
                <a16:creationId xmlns:a16="http://schemas.microsoft.com/office/drawing/2014/main" id="{C9210C8A-81A1-A881-AE0D-8968C295C3D4}"/>
              </a:ext>
            </a:extLst>
          </p:cNvPr>
          <p:cNvSpPr/>
          <p:nvPr/>
        </p:nvSpPr>
        <p:spPr>
          <a:xfrm>
            <a:off x="5532120" y="2807208"/>
            <a:ext cx="3200400" cy="201168"/>
          </a:xfrm>
          <a:prstGeom prst="rect">
            <a:avLst/>
          </a:prstGeom>
          <a:solidFill>
            <a:schemeClr val="accent2">
              <a:lumMod val="10000"/>
              <a:lumOff val="90000"/>
            </a:schemeClr>
          </a:solidFill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.xlsm format to preserve macros</a:t>
            </a:r>
            <a:endParaRPr lang="en-US" sz="1100" dirty="0"/>
          </a:p>
        </p:txBody>
      </p:sp>
      <p:sp>
        <p:nvSpPr>
          <p:cNvPr id="43" name="Text 16">
            <a:extLst>
              <a:ext uri="{FF2B5EF4-FFF2-40B4-BE49-F238E27FC236}">
                <a16:creationId xmlns:a16="http://schemas.microsoft.com/office/drawing/2014/main" id="{8EC8832C-9C6E-884B-E70A-D41281AC15F6}"/>
              </a:ext>
            </a:extLst>
          </p:cNvPr>
          <p:cNvSpPr/>
          <p:nvPr/>
        </p:nvSpPr>
        <p:spPr>
          <a:xfrm>
            <a:off x="4983480" y="3081528"/>
            <a:ext cx="3749040" cy="365760"/>
          </a:xfrm>
          <a:prstGeom prst="rect">
            <a:avLst/>
          </a:prstGeom>
          <a:solidFill>
            <a:schemeClr val="accent2">
              <a:lumMod val="10000"/>
              <a:lumOff val="90000"/>
            </a:schemeClr>
          </a:solidFill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File → Save As → Excel Macro-Enabled</a:t>
            </a:r>
            <a:endParaRPr lang="en-US" sz="900" dirty="0"/>
          </a:p>
        </p:txBody>
      </p:sp>
      <p:pic>
        <p:nvPicPr>
          <p:cNvPr id="44" name="Image 4">
            <a:extLst>
              <a:ext uri="{FF2B5EF4-FFF2-40B4-BE49-F238E27FC236}">
                <a16:creationId xmlns:a16="http://schemas.microsoft.com/office/drawing/2014/main" id="{CAFC4AF3-1761-74FC-D833-98B817167844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0080" y="3794760"/>
            <a:ext cx="411480" cy="411480"/>
          </a:xfrm>
          <a:prstGeom prst="rect">
            <a:avLst/>
          </a:prstGeom>
        </p:spPr>
      </p:pic>
      <p:sp>
        <p:nvSpPr>
          <p:cNvPr id="45" name="Text 18">
            <a:extLst>
              <a:ext uri="{FF2B5EF4-FFF2-40B4-BE49-F238E27FC236}">
                <a16:creationId xmlns:a16="http://schemas.microsoft.com/office/drawing/2014/main" id="{E88549B9-370C-BB01-443E-8D8F70AE0B14}"/>
              </a:ext>
            </a:extLst>
          </p:cNvPr>
          <p:cNvSpPr/>
          <p:nvPr/>
        </p:nvSpPr>
        <p:spPr>
          <a:xfrm>
            <a:off x="1188720" y="3767328"/>
            <a:ext cx="3200400" cy="256032"/>
          </a:xfrm>
          <a:prstGeom prst="rect">
            <a:avLst/>
          </a:prstGeom>
          <a:solidFill>
            <a:srgbClr val="FCE3B1"/>
          </a:solidFill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Thoroughly</a:t>
            </a:r>
            <a:endParaRPr lang="en-US" sz="1400" dirty="0"/>
          </a:p>
        </p:txBody>
      </p:sp>
      <p:sp>
        <p:nvSpPr>
          <p:cNvPr id="46" name="Text 19">
            <a:extLst>
              <a:ext uri="{FF2B5EF4-FFF2-40B4-BE49-F238E27FC236}">
                <a16:creationId xmlns:a16="http://schemas.microsoft.com/office/drawing/2014/main" id="{45D07FFB-6F3A-AC3E-4750-B6207DF3E812}"/>
              </a:ext>
            </a:extLst>
          </p:cNvPr>
          <p:cNvSpPr/>
          <p:nvPr/>
        </p:nvSpPr>
        <p:spPr>
          <a:xfrm>
            <a:off x="1188720" y="4041648"/>
            <a:ext cx="3200400" cy="201168"/>
          </a:xfrm>
          <a:prstGeom prst="rect">
            <a:avLst/>
          </a:prstGeom>
          <a:solidFill>
            <a:srgbClr val="FCE3B1"/>
          </a:solidFill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with different data scenarios</a:t>
            </a:r>
            <a:endParaRPr lang="en-US" sz="1100" dirty="0"/>
          </a:p>
        </p:txBody>
      </p:sp>
      <p:sp>
        <p:nvSpPr>
          <p:cNvPr id="47" name="Text 20">
            <a:extLst>
              <a:ext uri="{FF2B5EF4-FFF2-40B4-BE49-F238E27FC236}">
                <a16:creationId xmlns:a16="http://schemas.microsoft.com/office/drawing/2014/main" id="{51591BCD-7A48-1C10-F51A-E6FF61D8E0DD}"/>
              </a:ext>
            </a:extLst>
          </p:cNvPr>
          <p:cNvSpPr/>
          <p:nvPr/>
        </p:nvSpPr>
        <p:spPr>
          <a:xfrm>
            <a:off x="640080" y="4315968"/>
            <a:ext cx="3749040" cy="365760"/>
          </a:xfrm>
          <a:prstGeom prst="rect">
            <a:avLst/>
          </a:prstGeom>
          <a:solidFill>
            <a:srgbClr val="FCE3B1"/>
          </a:solidFill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Empty cells, large datasets, edge cases</a:t>
            </a:r>
            <a:endParaRPr lang="en-US" sz="900" dirty="0"/>
          </a:p>
        </p:txBody>
      </p:sp>
      <p:pic>
        <p:nvPicPr>
          <p:cNvPr id="48" name="Image 5">
            <a:extLst>
              <a:ext uri="{FF2B5EF4-FFF2-40B4-BE49-F238E27FC236}">
                <a16:creationId xmlns:a16="http://schemas.microsoft.com/office/drawing/2014/main" id="{FACBC078-8F51-D940-0A1F-E6256305FE34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983480" y="3794760"/>
            <a:ext cx="411480" cy="411480"/>
          </a:xfrm>
          <a:prstGeom prst="rect">
            <a:avLst/>
          </a:prstGeom>
        </p:spPr>
      </p:pic>
      <p:sp>
        <p:nvSpPr>
          <p:cNvPr id="49" name="Text 22">
            <a:extLst>
              <a:ext uri="{FF2B5EF4-FFF2-40B4-BE49-F238E27FC236}">
                <a16:creationId xmlns:a16="http://schemas.microsoft.com/office/drawing/2014/main" id="{263F655E-5AAE-73A5-C974-5D9C49AC1BAD}"/>
              </a:ext>
            </a:extLst>
          </p:cNvPr>
          <p:cNvSpPr/>
          <p:nvPr/>
        </p:nvSpPr>
        <p:spPr>
          <a:xfrm>
            <a:off x="5532120" y="3767328"/>
            <a:ext cx="3200400" cy="256032"/>
          </a:xfrm>
          <a:prstGeom prst="rect">
            <a:avLst/>
          </a:prstGeom>
          <a:solidFill>
            <a:srgbClr val="FFD9E6"/>
          </a:solidFill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Keyboard Shortcuts</a:t>
            </a:r>
            <a:endParaRPr lang="en-US" sz="1400" dirty="0"/>
          </a:p>
        </p:txBody>
      </p:sp>
      <p:sp>
        <p:nvSpPr>
          <p:cNvPr id="50" name="Text 23">
            <a:extLst>
              <a:ext uri="{FF2B5EF4-FFF2-40B4-BE49-F238E27FC236}">
                <a16:creationId xmlns:a16="http://schemas.microsoft.com/office/drawing/2014/main" id="{C03FED71-940C-915D-670E-0A4CA5D984E0}"/>
              </a:ext>
            </a:extLst>
          </p:cNvPr>
          <p:cNvSpPr/>
          <p:nvPr/>
        </p:nvSpPr>
        <p:spPr>
          <a:xfrm>
            <a:off x="5532120" y="4041648"/>
            <a:ext cx="3200400" cy="201168"/>
          </a:xfrm>
          <a:prstGeom prst="rect">
            <a:avLst/>
          </a:prstGeom>
          <a:solidFill>
            <a:srgbClr val="FFD9E6"/>
          </a:solidFill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Assign shortcuts for frequent macros</a:t>
            </a:r>
            <a:endParaRPr lang="en-US" sz="1100" dirty="0"/>
          </a:p>
        </p:txBody>
      </p:sp>
      <p:sp>
        <p:nvSpPr>
          <p:cNvPr id="51" name="Text 24">
            <a:extLst>
              <a:ext uri="{FF2B5EF4-FFF2-40B4-BE49-F238E27FC236}">
                <a16:creationId xmlns:a16="http://schemas.microsoft.com/office/drawing/2014/main" id="{587DC8CE-FDED-2B84-4C20-3B672E7F8A5E}"/>
              </a:ext>
            </a:extLst>
          </p:cNvPr>
          <p:cNvSpPr/>
          <p:nvPr/>
        </p:nvSpPr>
        <p:spPr>
          <a:xfrm>
            <a:off x="4983480" y="4315968"/>
            <a:ext cx="3749040" cy="365760"/>
          </a:xfrm>
          <a:prstGeom prst="rect">
            <a:avLst/>
          </a:prstGeom>
          <a:solidFill>
            <a:srgbClr val="FFD9E6"/>
          </a:solidFill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Ctrl+Shift+Letter for quick access</a:t>
            </a:r>
            <a:endParaRPr lang="en-US" sz="900" dirty="0"/>
          </a:p>
        </p:txBody>
      </p:sp>
      <p:pic>
        <p:nvPicPr>
          <p:cNvPr id="52" name="Image 0">
            <a:extLst>
              <a:ext uri="{FF2B5EF4-FFF2-40B4-BE49-F238E27FC236}">
                <a16:creationId xmlns:a16="http://schemas.microsoft.com/office/drawing/2014/main" id="{2FDBB3B3-0D5B-8AFD-E499-59E5DC444B9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1325880"/>
            <a:ext cx="411480" cy="411480"/>
          </a:xfrm>
          <a:prstGeom prst="rect">
            <a:avLst/>
          </a:prstGeom>
        </p:spPr>
      </p:pic>
      <p:sp>
        <p:nvSpPr>
          <p:cNvPr id="53" name="Text 2">
            <a:extLst>
              <a:ext uri="{FF2B5EF4-FFF2-40B4-BE49-F238E27FC236}">
                <a16:creationId xmlns:a16="http://schemas.microsoft.com/office/drawing/2014/main" id="{E88E58C0-970A-6C51-D0C8-16FAE867FEAD}"/>
              </a:ext>
            </a:extLst>
          </p:cNvPr>
          <p:cNvSpPr/>
          <p:nvPr/>
        </p:nvSpPr>
        <p:spPr>
          <a:xfrm>
            <a:off x="1188720" y="1298448"/>
            <a:ext cx="3200400" cy="25603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Meaningful Names</a:t>
            </a:r>
            <a:endParaRPr lang="en-US" sz="1400" dirty="0"/>
          </a:p>
        </p:txBody>
      </p:sp>
      <p:sp>
        <p:nvSpPr>
          <p:cNvPr id="54" name="Text 3">
            <a:extLst>
              <a:ext uri="{FF2B5EF4-FFF2-40B4-BE49-F238E27FC236}">
                <a16:creationId xmlns:a16="http://schemas.microsoft.com/office/drawing/2014/main" id="{BD91A5DB-8D36-97E6-09F8-21B06B24149E}"/>
              </a:ext>
            </a:extLst>
          </p:cNvPr>
          <p:cNvSpPr/>
          <p:nvPr/>
        </p:nvSpPr>
        <p:spPr>
          <a:xfrm>
            <a:off x="1188720" y="1572768"/>
            <a:ext cx="3200400" cy="20116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Name macros and variables clearly</a:t>
            </a:r>
            <a:endParaRPr lang="en-US" sz="1100" dirty="0"/>
          </a:p>
        </p:txBody>
      </p:sp>
      <p:sp>
        <p:nvSpPr>
          <p:cNvPr id="55" name="Text 4">
            <a:extLst>
              <a:ext uri="{FF2B5EF4-FFF2-40B4-BE49-F238E27FC236}">
                <a16:creationId xmlns:a16="http://schemas.microsoft.com/office/drawing/2014/main" id="{B7AFB57D-D39F-7B25-BBAC-2FA21BF634B1}"/>
              </a:ext>
            </a:extLst>
          </p:cNvPr>
          <p:cNvSpPr/>
          <p:nvPr/>
        </p:nvSpPr>
        <p:spPr>
          <a:xfrm>
            <a:off x="640080" y="1847088"/>
            <a:ext cx="3749040" cy="36576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Good: CalculateTotalSales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Bad: Macro1, x, temp</a:t>
            </a:r>
            <a:endParaRPr lang="en-US" sz="900" dirty="0"/>
          </a:p>
        </p:txBody>
      </p:sp>
      <p:pic>
        <p:nvPicPr>
          <p:cNvPr id="56" name="Image 1">
            <a:extLst>
              <a:ext uri="{FF2B5EF4-FFF2-40B4-BE49-F238E27FC236}">
                <a16:creationId xmlns:a16="http://schemas.microsoft.com/office/drawing/2014/main" id="{A14CCF78-8C34-7926-67EF-B5FA6790399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83480" y="1325880"/>
            <a:ext cx="411480" cy="411480"/>
          </a:xfrm>
          <a:prstGeom prst="rect">
            <a:avLst/>
          </a:prstGeom>
        </p:spPr>
      </p:pic>
      <p:sp>
        <p:nvSpPr>
          <p:cNvPr id="57" name="Text 6">
            <a:extLst>
              <a:ext uri="{FF2B5EF4-FFF2-40B4-BE49-F238E27FC236}">
                <a16:creationId xmlns:a16="http://schemas.microsoft.com/office/drawing/2014/main" id="{790ECD83-2EEA-40D2-6A85-D944A383EEE8}"/>
              </a:ext>
            </a:extLst>
          </p:cNvPr>
          <p:cNvSpPr/>
          <p:nvPr/>
        </p:nvSpPr>
        <p:spPr>
          <a:xfrm>
            <a:off x="5532120" y="1298448"/>
            <a:ext cx="3200400" cy="2560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Comments</a:t>
            </a:r>
            <a:endParaRPr lang="en-US" sz="1400" dirty="0"/>
          </a:p>
        </p:txBody>
      </p:sp>
      <p:sp>
        <p:nvSpPr>
          <p:cNvPr id="58" name="Text 7">
            <a:extLst>
              <a:ext uri="{FF2B5EF4-FFF2-40B4-BE49-F238E27FC236}">
                <a16:creationId xmlns:a16="http://schemas.microsoft.com/office/drawing/2014/main" id="{64A6BBD3-BB20-C8D0-B145-BC0DE00F8507}"/>
              </a:ext>
            </a:extLst>
          </p:cNvPr>
          <p:cNvSpPr/>
          <p:nvPr/>
        </p:nvSpPr>
        <p:spPr>
          <a:xfrm>
            <a:off x="5532120" y="1572768"/>
            <a:ext cx="3200400" cy="20116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Explain what your code does</a:t>
            </a:r>
            <a:endParaRPr lang="en-US" sz="1100" dirty="0"/>
          </a:p>
        </p:txBody>
      </p:sp>
      <p:sp>
        <p:nvSpPr>
          <p:cNvPr id="59" name="Text 8">
            <a:extLst>
              <a:ext uri="{FF2B5EF4-FFF2-40B4-BE49-F238E27FC236}">
                <a16:creationId xmlns:a16="http://schemas.microsoft.com/office/drawing/2014/main" id="{06597AF6-067D-29CC-EE1A-91FCAF5642CD}"/>
              </a:ext>
            </a:extLst>
          </p:cNvPr>
          <p:cNvSpPr/>
          <p:nvPr/>
        </p:nvSpPr>
        <p:spPr>
          <a:xfrm>
            <a:off x="4983480" y="1847088"/>
            <a:ext cx="3749040" cy="36576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 Calculate monthly average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Avg = Total / 12</a:t>
            </a:r>
            <a:endParaRPr lang="en-US" sz="900" dirty="0"/>
          </a:p>
        </p:txBody>
      </p:sp>
      <p:pic>
        <p:nvPicPr>
          <p:cNvPr id="60" name="Image 2">
            <a:extLst>
              <a:ext uri="{FF2B5EF4-FFF2-40B4-BE49-F238E27FC236}">
                <a16:creationId xmlns:a16="http://schemas.microsoft.com/office/drawing/2014/main" id="{3F623BA5-611A-9F20-17A5-BD928B66342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0080" y="2560320"/>
            <a:ext cx="411480" cy="411480"/>
          </a:xfrm>
          <a:prstGeom prst="rect">
            <a:avLst/>
          </a:prstGeom>
        </p:spPr>
      </p:pic>
      <p:sp>
        <p:nvSpPr>
          <p:cNvPr id="61" name="Text 10">
            <a:extLst>
              <a:ext uri="{FF2B5EF4-FFF2-40B4-BE49-F238E27FC236}">
                <a16:creationId xmlns:a16="http://schemas.microsoft.com/office/drawing/2014/main" id="{1DEA5188-2097-7E43-5172-AE4554C565B3}"/>
              </a:ext>
            </a:extLst>
          </p:cNvPr>
          <p:cNvSpPr/>
          <p:nvPr/>
        </p:nvSpPr>
        <p:spPr>
          <a:xfrm>
            <a:off x="1188720" y="2532888"/>
            <a:ext cx="3200400" cy="256032"/>
          </a:xfrm>
          <a:prstGeom prst="rect">
            <a:avLst/>
          </a:prstGeom>
          <a:solidFill>
            <a:srgbClr val="D2FADD"/>
          </a:solidFill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Include Error Handling</a:t>
            </a:r>
            <a:endParaRPr lang="en-US" sz="1400" dirty="0"/>
          </a:p>
        </p:txBody>
      </p:sp>
      <p:sp>
        <p:nvSpPr>
          <p:cNvPr id="62" name="Text 11">
            <a:extLst>
              <a:ext uri="{FF2B5EF4-FFF2-40B4-BE49-F238E27FC236}">
                <a16:creationId xmlns:a16="http://schemas.microsoft.com/office/drawing/2014/main" id="{9E249F54-48D6-136D-FF42-386D218E8F1E}"/>
              </a:ext>
            </a:extLst>
          </p:cNvPr>
          <p:cNvSpPr/>
          <p:nvPr/>
        </p:nvSpPr>
        <p:spPr>
          <a:xfrm>
            <a:off x="1188720" y="2807208"/>
            <a:ext cx="3200400" cy="201168"/>
          </a:xfrm>
          <a:prstGeom prst="rect">
            <a:avLst/>
          </a:prstGeom>
          <a:solidFill>
            <a:srgbClr val="D2FADD"/>
          </a:solidFill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Always use On Error statements</a:t>
            </a:r>
            <a:endParaRPr lang="en-US" sz="1100" dirty="0"/>
          </a:p>
        </p:txBody>
      </p:sp>
      <p:sp>
        <p:nvSpPr>
          <p:cNvPr id="63" name="Text 12">
            <a:extLst>
              <a:ext uri="{FF2B5EF4-FFF2-40B4-BE49-F238E27FC236}">
                <a16:creationId xmlns:a16="http://schemas.microsoft.com/office/drawing/2014/main" id="{432F96D3-1E95-3214-C6EB-12C0EFC9F85C}"/>
              </a:ext>
            </a:extLst>
          </p:cNvPr>
          <p:cNvSpPr/>
          <p:nvPr/>
        </p:nvSpPr>
        <p:spPr>
          <a:xfrm>
            <a:off x="640080" y="3081528"/>
            <a:ext cx="3749040" cy="365760"/>
          </a:xfrm>
          <a:prstGeom prst="rect">
            <a:avLst/>
          </a:prstGeom>
          <a:solidFill>
            <a:srgbClr val="D2FADD"/>
          </a:solidFill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Prevents crashes and provides feedback</a:t>
            </a:r>
            <a:endParaRPr lang="en-US" sz="900" dirty="0"/>
          </a:p>
        </p:txBody>
      </p:sp>
      <p:pic>
        <p:nvPicPr>
          <p:cNvPr id="64" name="Image 3">
            <a:extLst>
              <a:ext uri="{FF2B5EF4-FFF2-40B4-BE49-F238E27FC236}">
                <a16:creationId xmlns:a16="http://schemas.microsoft.com/office/drawing/2014/main" id="{6866DA64-A97F-E42F-1659-F07ADA3EB52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83480" y="2560320"/>
            <a:ext cx="411480" cy="411480"/>
          </a:xfrm>
          <a:prstGeom prst="rect">
            <a:avLst/>
          </a:prstGeom>
        </p:spPr>
      </p:pic>
      <p:sp>
        <p:nvSpPr>
          <p:cNvPr id="65" name="Text 14">
            <a:extLst>
              <a:ext uri="{FF2B5EF4-FFF2-40B4-BE49-F238E27FC236}">
                <a16:creationId xmlns:a16="http://schemas.microsoft.com/office/drawing/2014/main" id="{09F77698-E640-F8D5-177E-5DEF7516DEAE}"/>
              </a:ext>
            </a:extLst>
          </p:cNvPr>
          <p:cNvSpPr/>
          <p:nvPr/>
        </p:nvSpPr>
        <p:spPr>
          <a:xfrm>
            <a:off x="5532120" y="2532888"/>
            <a:ext cx="3200400" cy="256032"/>
          </a:xfrm>
          <a:prstGeom prst="rect">
            <a:avLst/>
          </a:prstGeom>
          <a:solidFill>
            <a:schemeClr val="accent2">
              <a:lumMod val="10000"/>
              <a:lumOff val="90000"/>
            </a:schemeClr>
          </a:solidFill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Save as Macro-Enabled</a:t>
            </a:r>
            <a:endParaRPr lang="en-US" sz="1400" dirty="0"/>
          </a:p>
        </p:txBody>
      </p:sp>
      <p:sp>
        <p:nvSpPr>
          <p:cNvPr id="66" name="Text 15">
            <a:extLst>
              <a:ext uri="{FF2B5EF4-FFF2-40B4-BE49-F238E27FC236}">
                <a16:creationId xmlns:a16="http://schemas.microsoft.com/office/drawing/2014/main" id="{6F81DC98-55A3-E391-2826-412E05682C14}"/>
              </a:ext>
            </a:extLst>
          </p:cNvPr>
          <p:cNvSpPr/>
          <p:nvPr/>
        </p:nvSpPr>
        <p:spPr>
          <a:xfrm>
            <a:off x="5532120" y="2807208"/>
            <a:ext cx="3200400" cy="201168"/>
          </a:xfrm>
          <a:prstGeom prst="rect">
            <a:avLst/>
          </a:prstGeom>
          <a:solidFill>
            <a:schemeClr val="accent2">
              <a:lumMod val="10000"/>
              <a:lumOff val="90000"/>
            </a:schemeClr>
          </a:solidFill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.xlsm format to preserve macros</a:t>
            </a:r>
            <a:endParaRPr lang="en-US" sz="1100" dirty="0"/>
          </a:p>
        </p:txBody>
      </p:sp>
      <p:sp>
        <p:nvSpPr>
          <p:cNvPr id="67" name="Text 16">
            <a:extLst>
              <a:ext uri="{FF2B5EF4-FFF2-40B4-BE49-F238E27FC236}">
                <a16:creationId xmlns:a16="http://schemas.microsoft.com/office/drawing/2014/main" id="{7AD50187-C532-224E-B024-E377BFB5DF31}"/>
              </a:ext>
            </a:extLst>
          </p:cNvPr>
          <p:cNvSpPr/>
          <p:nvPr/>
        </p:nvSpPr>
        <p:spPr>
          <a:xfrm>
            <a:off x="4983480" y="3081528"/>
            <a:ext cx="3749040" cy="365760"/>
          </a:xfrm>
          <a:prstGeom prst="rect">
            <a:avLst/>
          </a:prstGeom>
          <a:solidFill>
            <a:schemeClr val="accent2">
              <a:lumMod val="10000"/>
              <a:lumOff val="90000"/>
            </a:schemeClr>
          </a:solidFill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File → Save As → Excel Macro-Enabled</a:t>
            </a:r>
            <a:endParaRPr lang="en-US" sz="900" dirty="0"/>
          </a:p>
        </p:txBody>
      </p:sp>
      <p:pic>
        <p:nvPicPr>
          <p:cNvPr id="68" name="Image 4">
            <a:extLst>
              <a:ext uri="{FF2B5EF4-FFF2-40B4-BE49-F238E27FC236}">
                <a16:creationId xmlns:a16="http://schemas.microsoft.com/office/drawing/2014/main" id="{C8BB9BF4-1B4D-E979-7CB6-4F6B1DF7790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0080" y="3794760"/>
            <a:ext cx="411480" cy="411480"/>
          </a:xfrm>
          <a:prstGeom prst="rect">
            <a:avLst/>
          </a:prstGeom>
        </p:spPr>
      </p:pic>
      <p:sp>
        <p:nvSpPr>
          <p:cNvPr id="69" name="Text 18">
            <a:extLst>
              <a:ext uri="{FF2B5EF4-FFF2-40B4-BE49-F238E27FC236}">
                <a16:creationId xmlns:a16="http://schemas.microsoft.com/office/drawing/2014/main" id="{B238096C-9243-9642-E313-70195E8E3CCD}"/>
              </a:ext>
            </a:extLst>
          </p:cNvPr>
          <p:cNvSpPr/>
          <p:nvPr/>
        </p:nvSpPr>
        <p:spPr>
          <a:xfrm>
            <a:off x="1188720" y="3767328"/>
            <a:ext cx="3200400" cy="256032"/>
          </a:xfrm>
          <a:prstGeom prst="rect">
            <a:avLst/>
          </a:prstGeom>
          <a:solidFill>
            <a:srgbClr val="FCE3B1"/>
          </a:solidFill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Thoroughly</a:t>
            </a:r>
            <a:endParaRPr lang="en-US" sz="1400" dirty="0"/>
          </a:p>
        </p:txBody>
      </p:sp>
      <p:sp>
        <p:nvSpPr>
          <p:cNvPr id="70" name="Text 19">
            <a:extLst>
              <a:ext uri="{FF2B5EF4-FFF2-40B4-BE49-F238E27FC236}">
                <a16:creationId xmlns:a16="http://schemas.microsoft.com/office/drawing/2014/main" id="{2E4E9D9C-632B-6171-E332-373F1B39F836}"/>
              </a:ext>
            </a:extLst>
          </p:cNvPr>
          <p:cNvSpPr/>
          <p:nvPr/>
        </p:nvSpPr>
        <p:spPr>
          <a:xfrm>
            <a:off x="1188720" y="4041648"/>
            <a:ext cx="3200400" cy="201168"/>
          </a:xfrm>
          <a:prstGeom prst="rect">
            <a:avLst/>
          </a:prstGeom>
          <a:solidFill>
            <a:srgbClr val="FCE3B1"/>
          </a:solidFill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with different data scenarios</a:t>
            </a:r>
            <a:endParaRPr lang="en-US" sz="1100" dirty="0"/>
          </a:p>
        </p:txBody>
      </p:sp>
      <p:sp>
        <p:nvSpPr>
          <p:cNvPr id="71" name="Text 20">
            <a:extLst>
              <a:ext uri="{FF2B5EF4-FFF2-40B4-BE49-F238E27FC236}">
                <a16:creationId xmlns:a16="http://schemas.microsoft.com/office/drawing/2014/main" id="{81069B21-AFEC-DE01-48AB-71C45EA06CE7}"/>
              </a:ext>
            </a:extLst>
          </p:cNvPr>
          <p:cNvSpPr/>
          <p:nvPr/>
        </p:nvSpPr>
        <p:spPr>
          <a:xfrm>
            <a:off x="640080" y="4315968"/>
            <a:ext cx="3749040" cy="365760"/>
          </a:xfrm>
          <a:prstGeom prst="rect">
            <a:avLst/>
          </a:prstGeom>
          <a:solidFill>
            <a:srgbClr val="FCE3B1"/>
          </a:solidFill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Empty cells, large datasets, edge cases</a:t>
            </a:r>
            <a:endParaRPr lang="en-US" sz="900" dirty="0"/>
          </a:p>
        </p:txBody>
      </p:sp>
      <p:pic>
        <p:nvPicPr>
          <p:cNvPr id="72" name="Image 5">
            <a:extLst>
              <a:ext uri="{FF2B5EF4-FFF2-40B4-BE49-F238E27FC236}">
                <a16:creationId xmlns:a16="http://schemas.microsoft.com/office/drawing/2014/main" id="{EEBBCACE-0D44-B3D8-EC46-2C4F7C6126D2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983480" y="3794760"/>
            <a:ext cx="411480" cy="411480"/>
          </a:xfrm>
          <a:prstGeom prst="rect">
            <a:avLst/>
          </a:prstGeom>
        </p:spPr>
      </p:pic>
      <p:sp>
        <p:nvSpPr>
          <p:cNvPr id="73" name="Text 22">
            <a:extLst>
              <a:ext uri="{FF2B5EF4-FFF2-40B4-BE49-F238E27FC236}">
                <a16:creationId xmlns:a16="http://schemas.microsoft.com/office/drawing/2014/main" id="{540841A2-0953-2D1C-89C3-055F2DEEA3EE}"/>
              </a:ext>
            </a:extLst>
          </p:cNvPr>
          <p:cNvSpPr/>
          <p:nvPr/>
        </p:nvSpPr>
        <p:spPr>
          <a:xfrm>
            <a:off x="5532120" y="3767328"/>
            <a:ext cx="3200400" cy="256032"/>
          </a:xfrm>
          <a:prstGeom prst="rect">
            <a:avLst/>
          </a:prstGeom>
          <a:solidFill>
            <a:srgbClr val="FFD9E6"/>
          </a:solidFill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Keyboard Shortcuts</a:t>
            </a:r>
            <a:endParaRPr lang="en-US" sz="1400" dirty="0"/>
          </a:p>
        </p:txBody>
      </p:sp>
      <p:sp>
        <p:nvSpPr>
          <p:cNvPr id="74" name="Text 23">
            <a:extLst>
              <a:ext uri="{FF2B5EF4-FFF2-40B4-BE49-F238E27FC236}">
                <a16:creationId xmlns:a16="http://schemas.microsoft.com/office/drawing/2014/main" id="{A7454312-554E-8656-080C-31713DE54BC5}"/>
              </a:ext>
            </a:extLst>
          </p:cNvPr>
          <p:cNvSpPr/>
          <p:nvPr/>
        </p:nvSpPr>
        <p:spPr>
          <a:xfrm>
            <a:off x="5532120" y="4041648"/>
            <a:ext cx="3200400" cy="201168"/>
          </a:xfrm>
          <a:prstGeom prst="rect">
            <a:avLst/>
          </a:prstGeom>
          <a:solidFill>
            <a:srgbClr val="FFD9E6"/>
          </a:solidFill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Assign shortcuts for frequent macros</a:t>
            </a:r>
            <a:endParaRPr lang="en-US" sz="1100" dirty="0"/>
          </a:p>
        </p:txBody>
      </p:sp>
      <p:sp>
        <p:nvSpPr>
          <p:cNvPr id="75" name="Text 24">
            <a:extLst>
              <a:ext uri="{FF2B5EF4-FFF2-40B4-BE49-F238E27FC236}">
                <a16:creationId xmlns:a16="http://schemas.microsoft.com/office/drawing/2014/main" id="{DA3FDC6D-1E49-E231-DCA3-CAC96013377E}"/>
              </a:ext>
            </a:extLst>
          </p:cNvPr>
          <p:cNvSpPr/>
          <p:nvPr/>
        </p:nvSpPr>
        <p:spPr>
          <a:xfrm>
            <a:off x="4983480" y="4315968"/>
            <a:ext cx="3749040" cy="365760"/>
          </a:xfrm>
          <a:prstGeom prst="rect">
            <a:avLst/>
          </a:prstGeom>
          <a:solidFill>
            <a:srgbClr val="FFD9E6"/>
          </a:solidFill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Ctrl+Shift+Letter for quick access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284835425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>
          <a:extLst>
            <a:ext uri="{FF2B5EF4-FFF2-40B4-BE49-F238E27FC236}">
              <a16:creationId xmlns:a16="http://schemas.microsoft.com/office/drawing/2014/main" id="{CF1F3FA7-A888-3864-4D88-5ED77752ED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6">
            <a:extLst>
              <a:ext uri="{FF2B5EF4-FFF2-40B4-BE49-F238E27FC236}">
                <a16:creationId xmlns:a16="http://schemas.microsoft.com/office/drawing/2014/main" id="{DF1D27D0-B45B-C32E-A372-D5F6A6201AD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48080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 fontScale="90000"/>
          </a:bodyPr>
          <a:lstStyle/>
          <a:p>
            <a:r>
              <a:rPr lang="en-US" sz="4000" b="1" dirty="0">
                <a:solidFill>
                  <a:srgbClr val="1E2761"/>
                </a:solidFill>
                <a:latin typeface="Arial Black"/>
              </a:rPr>
              <a:t>Resources for Learning More</a:t>
            </a:r>
            <a:endParaRPr lang="en-US" sz="4000" dirty="0">
              <a:latin typeface="Arial Black"/>
            </a:endParaRPr>
          </a:p>
          <a:p>
            <a:pPr marL="0" lv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endParaRPr b="1" dirty="0"/>
          </a:p>
        </p:txBody>
      </p:sp>
      <p:sp>
        <p:nvSpPr>
          <p:cNvPr id="89" name="Google Shape;89;p6">
            <a:extLst>
              <a:ext uri="{FF2B5EF4-FFF2-40B4-BE49-F238E27FC236}">
                <a16:creationId xmlns:a16="http://schemas.microsoft.com/office/drawing/2014/main" id="{03CF6424-7229-9353-DB46-5D2F493E286C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SzPts val="900"/>
              <a:buNone/>
            </a:pPr>
            <a:endParaRPr sz="900"/>
          </a:p>
        </p:txBody>
      </p:sp>
      <p:sp>
        <p:nvSpPr>
          <p:cNvPr id="91" name="Google Shape;91;p6">
            <a:extLst>
              <a:ext uri="{FF2B5EF4-FFF2-40B4-BE49-F238E27FC236}">
                <a16:creationId xmlns:a16="http://schemas.microsoft.com/office/drawing/2014/main" id="{BFBD7ED2-76DD-2446-C228-47F39C47FFC2}"/>
              </a:ext>
            </a:extLst>
          </p:cNvPr>
          <p:cNvSpPr/>
          <p:nvPr/>
        </p:nvSpPr>
        <p:spPr>
          <a:xfrm>
            <a:off x="311700" y="116515"/>
            <a:ext cx="4601662" cy="219808"/>
          </a:xfrm>
          <a:prstGeom prst="roundRect">
            <a:avLst>
              <a:gd name="adj" fmla="val 16667"/>
            </a:avLst>
          </a:prstGeom>
          <a:solidFill>
            <a:srgbClr val="00B05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" name="Google Shape;92;p6">
            <a:extLst>
              <a:ext uri="{FF2B5EF4-FFF2-40B4-BE49-F238E27FC236}">
                <a16:creationId xmlns:a16="http://schemas.microsoft.com/office/drawing/2014/main" id="{F7F98669-DA61-8F36-73FD-F567E54D86D0}"/>
              </a:ext>
            </a:extLst>
          </p:cNvPr>
          <p:cNvSpPr/>
          <p:nvPr/>
        </p:nvSpPr>
        <p:spPr>
          <a:xfrm>
            <a:off x="4230638" y="4812031"/>
            <a:ext cx="4601662" cy="219808"/>
          </a:xfrm>
          <a:prstGeom prst="roundRect">
            <a:avLst>
              <a:gd name="adj" fmla="val 16667"/>
            </a:avLst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" name="Picture 1" descr="A logo with blue and green text&#10;&#10;AI-generated content may be incorrect.">
            <a:extLst>
              <a:ext uri="{FF2B5EF4-FFF2-40B4-BE49-F238E27FC236}">
                <a16:creationId xmlns:a16="http://schemas.microsoft.com/office/drawing/2014/main" id="{B544E580-FB4E-FA2B-8803-1ACD87E9BE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53880" y="15346"/>
            <a:ext cx="1266825" cy="46672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28264F49-C176-5311-E9EE-173F52F3762D}"/>
              </a:ext>
            </a:extLst>
          </p:cNvPr>
          <p:cNvSpPr txBox="1"/>
          <p:nvPr/>
        </p:nvSpPr>
        <p:spPr>
          <a:xfrm>
            <a:off x="179917" y="4804833"/>
            <a:ext cx="4572000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000" i="1">
                <a:solidFill>
                  <a:srgbClr val="595959"/>
                </a:solidFill>
                <a:latin typeface="Arial"/>
                <a:ea typeface="Arial"/>
                <a:cs typeface="Arial"/>
              </a:rPr>
              <a:t>© insanalytics</a:t>
            </a:r>
            <a:endParaRPr lang="en-US"/>
          </a:p>
          <a:p>
            <a:pPr algn="ctr"/>
            <a:endParaRPr lang="en-US"/>
          </a:p>
        </p:txBody>
      </p:sp>
      <p:sp>
        <p:nvSpPr>
          <p:cNvPr id="3" name="Text 2">
            <a:extLst>
              <a:ext uri="{FF2B5EF4-FFF2-40B4-BE49-F238E27FC236}">
                <a16:creationId xmlns:a16="http://schemas.microsoft.com/office/drawing/2014/main" id="{ED08722A-B0A9-BEDA-A7C0-910660384D81}"/>
              </a:ext>
            </a:extLst>
          </p:cNvPr>
          <p:cNvSpPr/>
          <p:nvPr/>
        </p:nvSpPr>
        <p:spPr>
          <a:xfrm>
            <a:off x="640080" y="1285451"/>
            <a:ext cx="7646882" cy="290195"/>
          </a:xfrm>
          <a:prstGeom prst="rect">
            <a:avLst/>
          </a:prstGeom>
          <a:solidFill>
            <a:srgbClr val="FCE3B1"/>
          </a:solidFill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Microsoft Documentation</a:t>
            </a:r>
            <a:endParaRPr lang="en-US" sz="1600" dirty="0"/>
          </a:p>
        </p:txBody>
      </p:sp>
      <p:sp>
        <p:nvSpPr>
          <p:cNvPr id="5" name="Text 4">
            <a:extLst>
              <a:ext uri="{FF2B5EF4-FFF2-40B4-BE49-F238E27FC236}">
                <a16:creationId xmlns:a16="http://schemas.microsoft.com/office/drawing/2014/main" id="{33FFF038-FFEA-7ADD-D2EE-78A8EB18C64A}"/>
              </a:ext>
            </a:extLst>
          </p:cNvPr>
          <p:cNvSpPr/>
          <p:nvPr/>
        </p:nvSpPr>
        <p:spPr>
          <a:xfrm>
            <a:off x="960120" y="1600200"/>
            <a:ext cx="7315200" cy="164592"/>
          </a:xfrm>
          <a:prstGeom prst="rect">
            <a:avLst/>
          </a:prstGeom>
          <a:solidFill>
            <a:srgbClr val="FCE3B1"/>
          </a:solidFill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Excel VBA Reference (docs.microsoft.com)</a:t>
            </a:r>
            <a:endParaRPr lang="en-US" sz="1200" dirty="0"/>
          </a:p>
        </p:txBody>
      </p:sp>
      <p:sp>
        <p:nvSpPr>
          <p:cNvPr id="6" name="Text 6">
            <a:extLst>
              <a:ext uri="{FF2B5EF4-FFF2-40B4-BE49-F238E27FC236}">
                <a16:creationId xmlns:a16="http://schemas.microsoft.com/office/drawing/2014/main" id="{F6998BC2-B50B-6E65-991A-46D849B667A8}"/>
              </a:ext>
            </a:extLst>
          </p:cNvPr>
          <p:cNvSpPr/>
          <p:nvPr/>
        </p:nvSpPr>
        <p:spPr>
          <a:xfrm>
            <a:off x="960120" y="1801368"/>
            <a:ext cx="7315200" cy="164592"/>
          </a:xfrm>
          <a:prstGeom prst="rect">
            <a:avLst/>
          </a:prstGeom>
          <a:solidFill>
            <a:srgbClr val="FCE3B1"/>
          </a:solidFill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Office VBA API Documentation</a:t>
            </a:r>
            <a:endParaRPr lang="en-US" sz="1200" dirty="0"/>
          </a:p>
        </p:txBody>
      </p:sp>
      <p:sp>
        <p:nvSpPr>
          <p:cNvPr id="7" name="Text 8">
            <a:extLst>
              <a:ext uri="{FF2B5EF4-FFF2-40B4-BE49-F238E27FC236}">
                <a16:creationId xmlns:a16="http://schemas.microsoft.com/office/drawing/2014/main" id="{91092AFE-9A02-AC92-D265-52D8767411DA}"/>
              </a:ext>
            </a:extLst>
          </p:cNvPr>
          <p:cNvSpPr/>
          <p:nvPr/>
        </p:nvSpPr>
        <p:spPr>
          <a:xfrm>
            <a:off x="960120" y="2002536"/>
            <a:ext cx="7315200" cy="164592"/>
          </a:xfrm>
          <a:prstGeom prst="rect">
            <a:avLst/>
          </a:prstGeom>
          <a:solidFill>
            <a:srgbClr val="FCE3B1"/>
          </a:solidFill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Excel Object Model Reference</a:t>
            </a:r>
            <a:endParaRPr lang="en-US" sz="1200" dirty="0"/>
          </a:p>
        </p:txBody>
      </p:sp>
      <p:sp>
        <p:nvSpPr>
          <p:cNvPr id="8" name="Text 10">
            <a:extLst>
              <a:ext uri="{FF2B5EF4-FFF2-40B4-BE49-F238E27FC236}">
                <a16:creationId xmlns:a16="http://schemas.microsoft.com/office/drawing/2014/main" id="{F3F72775-4771-D21F-C316-E85AD6377027}"/>
              </a:ext>
            </a:extLst>
          </p:cNvPr>
          <p:cNvSpPr/>
          <p:nvPr/>
        </p:nvSpPr>
        <p:spPr>
          <a:xfrm>
            <a:off x="640080" y="2541058"/>
            <a:ext cx="7641590" cy="274320"/>
          </a:xfrm>
          <a:prstGeom prst="rect">
            <a:avLst/>
          </a:prstGeom>
          <a:solidFill>
            <a:srgbClr val="D2FADD"/>
          </a:solidFill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Practice &amp; Examples</a:t>
            </a:r>
            <a:endParaRPr lang="en-US" sz="1600" dirty="0"/>
          </a:p>
        </p:txBody>
      </p:sp>
      <p:sp>
        <p:nvSpPr>
          <p:cNvPr id="9" name="Text 12">
            <a:extLst>
              <a:ext uri="{FF2B5EF4-FFF2-40B4-BE49-F238E27FC236}">
                <a16:creationId xmlns:a16="http://schemas.microsoft.com/office/drawing/2014/main" id="{EE77D922-6150-5F63-98A0-9F7747AB68C1}"/>
              </a:ext>
            </a:extLst>
          </p:cNvPr>
          <p:cNvSpPr/>
          <p:nvPr/>
        </p:nvSpPr>
        <p:spPr>
          <a:xfrm>
            <a:off x="960120" y="2834640"/>
            <a:ext cx="7315200" cy="164592"/>
          </a:xfrm>
          <a:prstGeom prst="rect">
            <a:avLst/>
          </a:prstGeom>
          <a:solidFill>
            <a:srgbClr val="D2FADD"/>
          </a:solidFill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Record macros and examine the code</a:t>
            </a:r>
            <a:endParaRPr lang="en-US" sz="1200" dirty="0"/>
          </a:p>
        </p:txBody>
      </p:sp>
      <p:sp>
        <p:nvSpPr>
          <p:cNvPr id="10" name="Text 14">
            <a:extLst>
              <a:ext uri="{FF2B5EF4-FFF2-40B4-BE49-F238E27FC236}">
                <a16:creationId xmlns:a16="http://schemas.microsoft.com/office/drawing/2014/main" id="{BBAACCF6-2350-3FA0-1A23-95745537C41D}"/>
              </a:ext>
            </a:extLst>
          </p:cNvPr>
          <p:cNvSpPr/>
          <p:nvPr/>
        </p:nvSpPr>
        <p:spPr>
          <a:xfrm>
            <a:off x="960120" y="3035808"/>
            <a:ext cx="7315200" cy="164592"/>
          </a:xfrm>
          <a:prstGeom prst="rect">
            <a:avLst/>
          </a:prstGeom>
          <a:solidFill>
            <a:srgbClr val="D2FADD"/>
          </a:solidFill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Modify recorded macros incrementally</a:t>
            </a:r>
            <a:endParaRPr lang="en-US" sz="1200" dirty="0"/>
          </a:p>
        </p:txBody>
      </p:sp>
      <p:sp>
        <p:nvSpPr>
          <p:cNvPr id="11" name="Text 16">
            <a:extLst>
              <a:ext uri="{FF2B5EF4-FFF2-40B4-BE49-F238E27FC236}">
                <a16:creationId xmlns:a16="http://schemas.microsoft.com/office/drawing/2014/main" id="{DFD06437-66A4-0DD6-30F5-82A53A6BF31B}"/>
              </a:ext>
            </a:extLst>
          </p:cNvPr>
          <p:cNvSpPr/>
          <p:nvPr/>
        </p:nvSpPr>
        <p:spPr>
          <a:xfrm>
            <a:off x="960120" y="3236976"/>
            <a:ext cx="7315200" cy="164592"/>
          </a:xfrm>
          <a:prstGeom prst="rect">
            <a:avLst/>
          </a:prstGeom>
          <a:solidFill>
            <a:srgbClr val="D2FADD"/>
          </a:solidFill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small projects to solve real problems</a:t>
            </a:r>
            <a:endParaRPr lang="en-US" sz="1200" dirty="0"/>
          </a:p>
        </p:txBody>
      </p:sp>
      <p:sp>
        <p:nvSpPr>
          <p:cNvPr id="12" name="Text 18">
            <a:extLst>
              <a:ext uri="{FF2B5EF4-FFF2-40B4-BE49-F238E27FC236}">
                <a16:creationId xmlns:a16="http://schemas.microsoft.com/office/drawing/2014/main" id="{F16D089E-52B4-A04D-E241-F25C90FFE459}"/>
              </a:ext>
            </a:extLst>
          </p:cNvPr>
          <p:cNvSpPr/>
          <p:nvPr/>
        </p:nvSpPr>
        <p:spPr>
          <a:xfrm>
            <a:off x="640080" y="3749040"/>
            <a:ext cx="7636299" cy="290195"/>
          </a:xfrm>
          <a:prstGeom prst="rect">
            <a:avLst/>
          </a:prstGeom>
          <a:solidFill>
            <a:srgbClr val="D9F8FF"/>
          </a:solidFill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Community Resources</a:t>
            </a:r>
            <a:endParaRPr lang="en-US" sz="1600" dirty="0"/>
          </a:p>
        </p:txBody>
      </p:sp>
      <p:sp>
        <p:nvSpPr>
          <p:cNvPr id="13" name="Text 20">
            <a:extLst>
              <a:ext uri="{FF2B5EF4-FFF2-40B4-BE49-F238E27FC236}">
                <a16:creationId xmlns:a16="http://schemas.microsoft.com/office/drawing/2014/main" id="{8B589388-3027-2CF7-C20A-E6C895B64B33}"/>
              </a:ext>
            </a:extLst>
          </p:cNvPr>
          <p:cNvSpPr/>
          <p:nvPr/>
        </p:nvSpPr>
        <p:spPr>
          <a:xfrm>
            <a:off x="960120" y="4069080"/>
            <a:ext cx="7315200" cy="164592"/>
          </a:xfrm>
          <a:prstGeom prst="rect">
            <a:avLst/>
          </a:prstGeom>
          <a:solidFill>
            <a:srgbClr val="D9F8FF"/>
          </a:solidFill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Stack Overflow (excel-vba tag)</a:t>
            </a:r>
            <a:endParaRPr lang="en-US" sz="1200" dirty="0"/>
          </a:p>
        </p:txBody>
      </p:sp>
      <p:sp>
        <p:nvSpPr>
          <p:cNvPr id="14" name="Text 22">
            <a:extLst>
              <a:ext uri="{FF2B5EF4-FFF2-40B4-BE49-F238E27FC236}">
                <a16:creationId xmlns:a16="http://schemas.microsoft.com/office/drawing/2014/main" id="{B2FD9F52-33A4-DA3C-4780-8713853014FF}"/>
              </a:ext>
            </a:extLst>
          </p:cNvPr>
          <p:cNvSpPr/>
          <p:nvPr/>
        </p:nvSpPr>
        <p:spPr>
          <a:xfrm>
            <a:off x="960120" y="4270248"/>
            <a:ext cx="7315200" cy="164592"/>
          </a:xfrm>
          <a:prstGeom prst="rect">
            <a:avLst/>
          </a:prstGeom>
          <a:solidFill>
            <a:srgbClr val="D9F8FF"/>
          </a:solidFill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MrExcel Forums</a:t>
            </a:r>
            <a:endParaRPr lang="en-US" sz="1200" dirty="0"/>
          </a:p>
        </p:txBody>
      </p:sp>
      <p:sp>
        <p:nvSpPr>
          <p:cNvPr id="15" name="Text 24">
            <a:extLst>
              <a:ext uri="{FF2B5EF4-FFF2-40B4-BE49-F238E27FC236}">
                <a16:creationId xmlns:a16="http://schemas.microsoft.com/office/drawing/2014/main" id="{AB30D894-F990-1158-3865-FC863952A187}"/>
              </a:ext>
            </a:extLst>
          </p:cNvPr>
          <p:cNvSpPr/>
          <p:nvPr/>
        </p:nvSpPr>
        <p:spPr>
          <a:xfrm>
            <a:off x="960120" y="4471416"/>
            <a:ext cx="7315200" cy="164592"/>
          </a:xfrm>
          <a:prstGeom prst="rect">
            <a:avLst/>
          </a:prstGeom>
          <a:solidFill>
            <a:srgbClr val="D9F8FF"/>
          </a:solidFill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Excel VBA subreddit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59179005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>
          <a:extLst>
            <a:ext uri="{FF2B5EF4-FFF2-40B4-BE49-F238E27FC236}">
              <a16:creationId xmlns:a16="http://schemas.microsoft.com/office/drawing/2014/main" id="{03B0D999-4F8E-AD36-5F2D-BD12058FC9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6">
            <a:extLst>
              <a:ext uri="{FF2B5EF4-FFF2-40B4-BE49-F238E27FC236}">
                <a16:creationId xmlns:a16="http://schemas.microsoft.com/office/drawing/2014/main" id="{D5DE1FA7-4712-3BDE-E10D-829527B0C790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SzPts val="900"/>
              <a:buNone/>
            </a:pPr>
            <a:endParaRPr sz="900"/>
          </a:p>
        </p:txBody>
      </p:sp>
      <p:sp>
        <p:nvSpPr>
          <p:cNvPr id="91" name="Google Shape;91;p6">
            <a:extLst>
              <a:ext uri="{FF2B5EF4-FFF2-40B4-BE49-F238E27FC236}">
                <a16:creationId xmlns:a16="http://schemas.microsoft.com/office/drawing/2014/main" id="{43E67B7F-39E1-1967-4AA7-0099ED155959}"/>
              </a:ext>
            </a:extLst>
          </p:cNvPr>
          <p:cNvSpPr/>
          <p:nvPr/>
        </p:nvSpPr>
        <p:spPr>
          <a:xfrm>
            <a:off x="311700" y="116515"/>
            <a:ext cx="4601662" cy="219808"/>
          </a:xfrm>
          <a:prstGeom prst="roundRect">
            <a:avLst>
              <a:gd name="adj" fmla="val 16667"/>
            </a:avLst>
          </a:prstGeom>
          <a:solidFill>
            <a:srgbClr val="00B05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" name="Google Shape;92;p6">
            <a:extLst>
              <a:ext uri="{FF2B5EF4-FFF2-40B4-BE49-F238E27FC236}">
                <a16:creationId xmlns:a16="http://schemas.microsoft.com/office/drawing/2014/main" id="{BEBE76F5-C8DC-906A-7FB0-11BEE9EA4BD6}"/>
              </a:ext>
            </a:extLst>
          </p:cNvPr>
          <p:cNvSpPr/>
          <p:nvPr/>
        </p:nvSpPr>
        <p:spPr>
          <a:xfrm>
            <a:off x="4230638" y="4812031"/>
            <a:ext cx="4601662" cy="219808"/>
          </a:xfrm>
          <a:prstGeom prst="roundRect">
            <a:avLst>
              <a:gd name="adj" fmla="val 16667"/>
            </a:avLst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" name="Picture 1" descr="A logo with blue and green text&#10;&#10;AI-generated content may be incorrect.">
            <a:extLst>
              <a:ext uri="{FF2B5EF4-FFF2-40B4-BE49-F238E27FC236}">
                <a16:creationId xmlns:a16="http://schemas.microsoft.com/office/drawing/2014/main" id="{1E624F50-B074-0838-CD86-B04EE5C54A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53880" y="15346"/>
            <a:ext cx="1266825" cy="46672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67B5975-0A78-0AD9-A1A7-50E88B2785AA}"/>
              </a:ext>
            </a:extLst>
          </p:cNvPr>
          <p:cNvSpPr txBox="1"/>
          <p:nvPr/>
        </p:nvSpPr>
        <p:spPr>
          <a:xfrm>
            <a:off x="179917" y="4804833"/>
            <a:ext cx="4572000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000" i="1">
                <a:solidFill>
                  <a:srgbClr val="595959"/>
                </a:solidFill>
                <a:latin typeface="Arial"/>
                <a:ea typeface="Arial"/>
                <a:cs typeface="Arial"/>
              </a:rPr>
              <a:t>© insanalytics</a:t>
            </a:r>
            <a:endParaRPr lang="en-US"/>
          </a:p>
          <a:p>
            <a:pPr algn="ctr"/>
            <a:endParaRPr lang="en-US"/>
          </a:p>
        </p:txBody>
      </p:sp>
      <p:sp>
        <p:nvSpPr>
          <p:cNvPr id="3" name="Text 0">
            <a:extLst>
              <a:ext uri="{FF2B5EF4-FFF2-40B4-BE49-F238E27FC236}">
                <a16:creationId xmlns:a16="http://schemas.microsoft.com/office/drawing/2014/main" id="{5749F33C-D539-2671-23CF-71B0BCA03A7D}"/>
              </a:ext>
            </a:extLst>
          </p:cNvPr>
          <p:cNvSpPr/>
          <p:nvPr/>
        </p:nvSpPr>
        <p:spPr>
          <a:xfrm>
            <a:off x="457200" y="1283970"/>
            <a:ext cx="8229600" cy="64008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4400" b="1" dirty="0">
                <a:solidFill>
                  <a:schemeClr val="accent5">
                    <a:lumMod val="76000"/>
                  </a:schemeClr>
                </a:solidFill>
                <a:latin typeface="Arial Black"/>
                <a:ea typeface="Arial Black" pitchFamily="34" charset="-122"/>
                <a:cs typeface="Arial Black" pitchFamily="34" charset="-120"/>
              </a:rPr>
              <a:t>You're Ready to Automate!</a:t>
            </a:r>
            <a:endParaRPr lang="en-US" sz="4400" dirty="0">
              <a:solidFill>
                <a:schemeClr val="accent5">
                  <a:lumMod val="76000"/>
                </a:schemeClr>
              </a:solidFill>
              <a:latin typeface="Arial Black"/>
              <a:ea typeface="Arial Black" pitchFamily="34" charset="-122"/>
              <a:cs typeface="Arial Black" pitchFamily="34" charset="-120"/>
            </a:endParaRPr>
          </a:p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Arial Black"/>
                <a:ea typeface="Arial Black" pitchFamily="34" charset="-122"/>
                <a:cs typeface="Arial Black" pitchFamily="34" charset="-120"/>
              </a:rPr>
              <a:t>Automate!</a:t>
            </a:r>
            <a:endParaRPr lang="en-US" sz="4400" dirty="0">
              <a:latin typeface="Arial Black"/>
              <a:cs typeface="Arial"/>
            </a:endParaRPr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2C2FED9E-B5CE-3E2F-0DE4-E38CAD29137C}"/>
              </a:ext>
            </a:extLst>
          </p:cNvPr>
          <p:cNvSpPr/>
          <p:nvPr/>
        </p:nvSpPr>
        <p:spPr>
          <a:xfrm>
            <a:off x="1554480" y="2286000"/>
            <a:ext cx="6035040" cy="27432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8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Steps:</a:t>
            </a:r>
            <a:endParaRPr lang="en-US" sz="1800" dirty="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B3B78A2B-6AAD-4D20-789B-95F66922051D}"/>
              </a:ext>
            </a:extLst>
          </p:cNvPr>
          <p:cNvSpPr/>
          <p:nvPr/>
        </p:nvSpPr>
        <p:spPr>
          <a:xfrm>
            <a:off x="1554480" y="2651760"/>
            <a:ext cx="6035040" cy="128016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ts val="1800"/>
              </a:lnSpc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Enable the Developer tab</a:t>
            </a:r>
            <a:endParaRPr lang="en-US" sz="14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Record your first macro</a:t>
            </a:r>
            <a:endParaRPr lang="en-US" sz="14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Examine and modify the VBA code</a:t>
            </a:r>
            <a:endParaRPr lang="en-US" sz="14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Add error handling and comments</a:t>
            </a:r>
            <a:endParaRPr lang="en-US" sz="14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Build more complex automations</a:t>
            </a:r>
            <a:endParaRPr lang="en-US" sz="1400" dirty="0"/>
          </a:p>
        </p:txBody>
      </p:sp>
      <p:pic>
        <p:nvPicPr>
          <p:cNvPr id="7" name="Image 0">
            <a:extLst>
              <a:ext uri="{FF2B5EF4-FFF2-40B4-BE49-F238E27FC236}">
                <a16:creationId xmlns:a16="http://schemas.microsoft.com/office/drawing/2014/main" id="{84E21922-C915-561F-C433-7A54E98F5B5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31217" y="3932555"/>
            <a:ext cx="690669" cy="6959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950680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>
          <a:extLst>
            <a:ext uri="{FF2B5EF4-FFF2-40B4-BE49-F238E27FC236}">
              <a16:creationId xmlns:a16="http://schemas.microsoft.com/office/drawing/2014/main" id="{30C21865-8876-73AB-200F-2D7F3AE7EC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6">
            <a:extLst>
              <a:ext uri="{FF2B5EF4-FFF2-40B4-BE49-F238E27FC236}">
                <a16:creationId xmlns:a16="http://schemas.microsoft.com/office/drawing/2014/main" id="{D0286D2F-437B-F81B-A9C0-33A6018DED0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286982" y="1801359"/>
            <a:ext cx="9985415" cy="1127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4400" b="1" dirty="0">
                <a:solidFill>
                  <a:schemeClr val="accent5">
                    <a:lumMod val="76000"/>
                  </a:schemeClr>
                </a:solidFill>
              </a:rPr>
              <a:t>THANK YOU !</a:t>
            </a:r>
          </a:p>
        </p:txBody>
      </p:sp>
      <p:sp>
        <p:nvSpPr>
          <p:cNvPr id="89" name="Google Shape;89;p6">
            <a:extLst>
              <a:ext uri="{FF2B5EF4-FFF2-40B4-BE49-F238E27FC236}">
                <a16:creationId xmlns:a16="http://schemas.microsoft.com/office/drawing/2014/main" id="{773E0271-3BD1-D325-41F6-7BF720FA0DA6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SzPts val="900"/>
              <a:buNone/>
            </a:pPr>
            <a:endParaRPr sz="900"/>
          </a:p>
        </p:txBody>
      </p:sp>
      <p:sp>
        <p:nvSpPr>
          <p:cNvPr id="90" name="Google Shape;90;p6">
            <a:extLst>
              <a:ext uri="{FF2B5EF4-FFF2-40B4-BE49-F238E27FC236}">
                <a16:creationId xmlns:a16="http://schemas.microsoft.com/office/drawing/2014/main" id="{EC9160C3-4CD4-E5F8-CF3B-619FD2BC9A37}"/>
              </a:ext>
            </a:extLst>
          </p:cNvPr>
          <p:cNvSpPr txBox="1"/>
          <p:nvPr/>
        </p:nvSpPr>
        <p:spPr>
          <a:xfrm>
            <a:off x="311699" y="1218211"/>
            <a:ext cx="8520600" cy="34200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</a:pPr>
            <a:endParaRPr/>
          </a:p>
        </p:txBody>
      </p:sp>
      <p:sp>
        <p:nvSpPr>
          <p:cNvPr id="91" name="Google Shape;91;p6">
            <a:extLst>
              <a:ext uri="{FF2B5EF4-FFF2-40B4-BE49-F238E27FC236}">
                <a16:creationId xmlns:a16="http://schemas.microsoft.com/office/drawing/2014/main" id="{65083FCD-ACC7-81B0-D3C0-F13B517DBA01}"/>
              </a:ext>
            </a:extLst>
          </p:cNvPr>
          <p:cNvSpPr/>
          <p:nvPr/>
        </p:nvSpPr>
        <p:spPr>
          <a:xfrm>
            <a:off x="311700" y="116515"/>
            <a:ext cx="4601662" cy="219808"/>
          </a:xfrm>
          <a:prstGeom prst="roundRect">
            <a:avLst>
              <a:gd name="adj" fmla="val 16667"/>
            </a:avLst>
          </a:prstGeom>
          <a:solidFill>
            <a:srgbClr val="00B05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" name="Google Shape;92;p6">
            <a:extLst>
              <a:ext uri="{FF2B5EF4-FFF2-40B4-BE49-F238E27FC236}">
                <a16:creationId xmlns:a16="http://schemas.microsoft.com/office/drawing/2014/main" id="{712A3B94-5F10-2CF1-344E-F2EE4C3C859C}"/>
              </a:ext>
            </a:extLst>
          </p:cNvPr>
          <p:cNvSpPr/>
          <p:nvPr/>
        </p:nvSpPr>
        <p:spPr>
          <a:xfrm>
            <a:off x="4230638" y="4812031"/>
            <a:ext cx="4601662" cy="219808"/>
          </a:xfrm>
          <a:prstGeom prst="roundRect">
            <a:avLst>
              <a:gd name="adj" fmla="val 16667"/>
            </a:avLst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" name="Picture 1" descr="A logo with blue and green text&#10;&#10;AI-generated content may be incorrect.">
            <a:extLst>
              <a:ext uri="{FF2B5EF4-FFF2-40B4-BE49-F238E27FC236}">
                <a16:creationId xmlns:a16="http://schemas.microsoft.com/office/drawing/2014/main" id="{6E01D0EC-001E-4868-3AF6-253EC04891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53880" y="15346"/>
            <a:ext cx="1266825" cy="46672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A6236B18-4F57-F665-B6D4-A6A714BA4293}"/>
              </a:ext>
            </a:extLst>
          </p:cNvPr>
          <p:cNvSpPr txBox="1"/>
          <p:nvPr/>
        </p:nvSpPr>
        <p:spPr>
          <a:xfrm>
            <a:off x="179917" y="4804833"/>
            <a:ext cx="4572000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000" i="1">
                <a:solidFill>
                  <a:srgbClr val="595959"/>
                </a:solidFill>
                <a:latin typeface="Arial"/>
                <a:ea typeface="Arial"/>
                <a:cs typeface="Arial"/>
              </a:rPr>
              <a:t>© insanalytics</a:t>
            </a:r>
            <a:endParaRPr lang="en-US"/>
          </a:p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5232418"/>
      </p:ext>
    </p:extLst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4279</Words>
  <Application>Microsoft Office PowerPoint</Application>
  <PresentationFormat>On-screen Show (16:9)</PresentationFormat>
  <Paragraphs>788</Paragraphs>
  <Slides>30</Slides>
  <Notes>28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5" baseType="lpstr">
      <vt:lpstr>Arial</vt:lpstr>
      <vt:lpstr>Arial Black</vt:lpstr>
      <vt:lpstr>Calibri</vt:lpstr>
      <vt:lpstr>Consolas</vt:lpstr>
      <vt:lpstr>Simple Light</vt:lpstr>
      <vt:lpstr>PowerPoint Presentation</vt:lpstr>
      <vt:lpstr>What Are Excel Macros? </vt:lpstr>
      <vt:lpstr>How to Enable the Developer Tab </vt:lpstr>
      <vt:lpstr>Macro Security Settings </vt:lpstr>
      <vt:lpstr>Recording Your First Macro </vt:lpstr>
      <vt:lpstr>Example: Simple Formatting Macro </vt:lpstr>
      <vt:lpstr>Understanding VBA Basics </vt:lpstr>
      <vt:lpstr>Working with Ranges </vt:lpstr>
      <vt:lpstr>Loops and Conditionals </vt:lpstr>
      <vt:lpstr>Intermediate: Data Cleanup  </vt:lpstr>
      <vt:lpstr>User Input &amp; Messages </vt:lpstr>
      <vt:lpstr>Error Handling </vt:lpstr>
      <vt:lpstr>Advanced: Automate tasks across multiple Worksheets </vt:lpstr>
      <vt:lpstr>Advanced: Custom Functions (UDFs) </vt:lpstr>
      <vt:lpstr>Lookup Functions in VBA </vt:lpstr>
      <vt:lpstr>VLOOKUP: Why It's Deprecated </vt:lpstr>
      <vt:lpstr>   INDEX-MATCH: Best Practice </vt:lpstr>
      <vt:lpstr>Running Macros with Buttons </vt:lpstr>
      <vt:lpstr>Python in Excel: Setup &amp; =PY() Function</vt:lpstr>
      <vt:lpstr>Example: Fuel Grade Preference</vt:lpstr>
      <vt:lpstr>ASSIGNMENT</vt:lpstr>
      <vt:lpstr>Assignment: Problem Statement </vt:lpstr>
      <vt:lpstr>Assignment: Sample Data </vt:lpstr>
      <vt:lpstr>Assignment: Solution Code </vt:lpstr>
      <vt:lpstr>Assignment: Expected Output </vt:lpstr>
      <vt:lpstr>Common Mistakes to Avoid </vt:lpstr>
      <vt:lpstr>Best Practices </vt:lpstr>
      <vt:lpstr>Resources for Learning More </vt:lpstr>
      <vt:lpstr>PowerPoint Presentation</vt:lpstr>
      <vt:lpstr>THANK YOU 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Simarjot Dhaliwal</cp:lastModifiedBy>
  <cp:revision>439</cp:revision>
  <dcterms:modified xsi:type="dcterms:W3CDTF">2026-02-25T14:07:39Z</dcterms:modified>
</cp:coreProperties>
</file>